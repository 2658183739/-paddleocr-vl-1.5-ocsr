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54fb12eed54693" /><Relationship Type="http://schemas.openxmlformats.org/officeDocument/2006/relationships/extended-properties" Target="/docProps/app.xml" Id="R948beab2e9aa4750" /><Relationship Type="http://schemas.openxmlformats.org/officeDocument/2006/relationships/officeDocument" Target="/ppt/presentation.xml" Id="Rb6440b6bf0594f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b2649141634b5f"/>
  </p:sldMasterIdLst>
  <p:notesMasterIdLst>
    <p:notesMasterId xmlns:r="http://schemas.openxmlformats.org/officeDocument/2006/relationships" r:id="Re412b63fb2d04852"/>
  </p:notesMasterIdLst>
  <p:sldIdLst>
    <p:sldId xmlns:r="http://schemas.openxmlformats.org/officeDocument/2006/relationships" id="256" r:id="Re80fc7d4b75e4472"/>
    <p:sldId xmlns:r="http://schemas.openxmlformats.org/officeDocument/2006/relationships" id="257" r:id="R766dce013d364a9b"/>
    <p:sldId xmlns:r="http://schemas.openxmlformats.org/officeDocument/2006/relationships" id="258" r:id="Rb41298d6e4974507"/>
    <p:sldId xmlns:r="http://schemas.openxmlformats.org/officeDocument/2006/relationships" id="259" r:id="R852154b86e49446d"/>
    <p:sldId xmlns:r="http://schemas.openxmlformats.org/officeDocument/2006/relationships" id="260" r:id="R221833bf1e5f4adc"/>
    <p:sldId xmlns:r="http://schemas.openxmlformats.org/officeDocument/2006/relationships" id="261" r:id="Rbd22572d6f834d35"/>
    <p:sldId xmlns:r="http://schemas.openxmlformats.org/officeDocument/2006/relationships" id="262" r:id="Rfac1e241a5774f2f"/>
    <p:sldId xmlns:r="http://schemas.openxmlformats.org/officeDocument/2006/relationships" id="263" r:id="R1a16b987d1854f41"/>
    <p:sldId xmlns:r="http://schemas.openxmlformats.org/officeDocument/2006/relationships" id="264" r:id="Rde373ec7048f4e3a"/>
    <p:sldId xmlns:r="http://schemas.openxmlformats.org/officeDocument/2006/relationships" id="265" r:id="Rcfcc3592136a490f"/>
    <p:sldId xmlns:r="http://schemas.openxmlformats.org/officeDocument/2006/relationships" id="266" r:id="R92cd8bafc90e46f8"/>
    <p:sldId xmlns:r="http://schemas.openxmlformats.org/officeDocument/2006/relationships" id="267" r:id="R33bfabc63b3a453d"/>
    <p:sldId xmlns:r="http://schemas.openxmlformats.org/officeDocument/2006/relationships" id="268" r:id="R3bed1b816b794f0b"/>
    <p:sldId xmlns:r="http://schemas.openxmlformats.org/officeDocument/2006/relationships" id="269" r:id="R8f339c06086f4377"/>
    <p:sldId xmlns:r="http://schemas.openxmlformats.org/officeDocument/2006/relationships" id="270" r:id="R77593ee475354a5e"/>
    <p:sldId xmlns:r="http://schemas.openxmlformats.org/officeDocument/2006/relationships" id="271" r:id="R382bd74654af4d5f"/>
    <p:sldId xmlns:r="http://schemas.openxmlformats.org/officeDocument/2006/relationships" id="272" r:id="R4c4c4e916cab43e5"/>
    <p:sldId xmlns:r="http://schemas.openxmlformats.org/officeDocument/2006/relationships" id="273" r:id="R8457bc6427324d0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b38c9f037442af" /><Relationship Type="http://schemas.openxmlformats.org/officeDocument/2006/relationships/slideMaster" Target="/ppt/slideMasters/slideMaster1.xml" Id="Rb1b2649141634b5f" /><Relationship Type="http://schemas.openxmlformats.org/officeDocument/2006/relationships/notesMaster" Target="/ppt/notesMasters/notesMaster1.xml" Id="Re412b63fb2d04852" /><Relationship Type="http://schemas.openxmlformats.org/officeDocument/2006/relationships/presProps" Target="/ppt/presProps.xml" Id="Re0071b2956144cec" /><Relationship Type="http://schemas.openxmlformats.org/officeDocument/2006/relationships/viewProps" Target="/ppt/viewProps.xml" Id="Rf537276655c440f3" /><Relationship Type="http://schemas.openxmlformats.org/officeDocument/2006/relationships/tableStyles" Target="/ppt/tableStyles.xml" Id="R774124753611408a" /><Relationship Type="http://schemas.openxmlformats.org/officeDocument/2006/relationships/slide" Target="/ppt/slides/slide1.xml" Id="Re80fc7d4b75e4472" /><Relationship Type="http://schemas.openxmlformats.org/officeDocument/2006/relationships/slide" Target="/ppt/slides/slide2.xml" Id="R766dce013d364a9b" /><Relationship Type="http://schemas.openxmlformats.org/officeDocument/2006/relationships/slide" Target="/ppt/slides/slide3.xml" Id="Rb41298d6e4974507" /><Relationship Type="http://schemas.openxmlformats.org/officeDocument/2006/relationships/slide" Target="/ppt/slides/slide4.xml" Id="R852154b86e49446d" /><Relationship Type="http://schemas.openxmlformats.org/officeDocument/2006/relationships/slide" Target="/ppt/slides/slide5.xml" Id="R221833bf1e5f4adc" /><Relationship Type="http://schemas.openxmlformats.org/officeDocument/2006/relationships/slide" Target="/ppt/slides/slide6.xml" Id="Rbd22572d6f834d35" /><Relationship Type="http://schemas.openxmlformats.org/officeDocument/2006/relationships/slide" Target="/ppt/slides/slide7.xml" Id="Rfac1e241a5774f2f" /><Relationship Type="http://schemas.openxmlformats.org/officeDocument/2006/relationships/slide" Target="/ppt/slides/slide8.xml" Id="R1a16b987d1854f41" /><Relationship Type="http://schemas.openxmlformats.org/officeDocument/2006/relationships/slide" Target="/ppt/slides/slide9.xml" Id="Rde373ec7048f4e3a" /><Relationship Type="http://schemas.openxmlformats.org/officeDocument/2006/relationships/slide" Target="/ppt/slides/slide10.xml" Id="Rcfcc3592136a490f" /><Relationship Type="http://schemas.openxmlformats.org/officeDocument/2006/relationships/slide" Target="/ppt/slides/slide11.xml" Id="R92cd8bafc90e46f8" /><Relationship Type="http://schemas.openxmlformats.org/officeDocument/2006/relationships/slide" Target="/ppt/slides/slide12.xml" Id="R33bfabc63b3a453d" /><Relationship Type="http://schemas.openxmlformats.org/officeDocument/2006/relationships/slide" Target="/ppt/slides/slide13.xml" Id="R3bed1b816b794f0b" /><Relationship Type="http://schemas.openxmlformats.org/officeDocument/2006/relationships/slide" Target="/ppt/slides/slide14.xml" Id="R8f339c06086f4377" /><Relationship Type="http://schemas.openxmlformats.org/officeDocument/2006/relationships/slide" Target="/ppt/slides/slide15.xml" Id="R77593ee475354a5e" /><Relationship Type="http://schemas.openxmlformats.org/officeDocument/2006/relationships/slide" Target="/ppt/slides/slide16.xml" Id="R382bd74654af4d5f" /><Relationship Type="http://schemas.openxmlformats.org/officeDocument/2006/relationships/slide" Target="/ppt/slides/slide17.xml" Id="R4c4c4e916cab43e5" /><Relationship Type="http://schemas.openxmlformats.org/officeDocument/2006/relationships/slide" Target="/ppt/slides/slide18.xml" Id="R8457bc6427324d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4ba3ee97b34e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dc2f51137b46fe" /><Relationship Type="http://schemas.openxmlformats.org/officeDocument/2006/relationships/notesMaster" Target="/ppt/notesMasters/notesMaster1.xml" Id="R39c56b16fc5a488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445e6ec4314898" /><Relationship Type="http://schemas.openxmlformats.org/officeDocument/2006/relationships/notesMaster" Target="/ppt/notesMasters/notesMaster1.xml" Id="R7af2385d398448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4845c8dc874c3f" /><Relationship Type="http://schemas.openxmlformats.org/officeDocument/2006/relationships/notesMaster" Target="/ppt/notesMasters/notesMaster1.xml" Id="R25b045de1a9f49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6b5a247cdd435b" /><Relationship Type="http://schemas.openxmlformats.org/officeDocument/2006/relationships/notesMaster" Target="/ppt/notesMasters/notesMaster1.xml" Id="Rc822b067df9242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c2fdf9bbe24208" /><Relationship Type="http://schemas.openxmlformats.org/officeDocument/2006/relationships/notesMaster" Target="/ppt/notesMasters/notesMaster1.xml" Id="Rc38e300dd67a47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2aa7bc67bf4594" /><Relationship Type="http://schemas.openxmlformats.org/officeDocument/2006/relationships/notesMaster" Target="/ppt/notesMasters/notesMaster1.xml" Id="R2e99bbbb109f4e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db434e587a4f07" /><Relationship Type="http://schemas.openxmlformats.org/officeDocument/2006/relationships/notesMaster" Target="/ppt/notesMasters/notesMaster1.xml" Id="Rc487da11552441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e7132ca1da64ef0" /><Relationship Type="http://schemas.openxmlformats.org/officeDocument/2006/relationships/notesMaster" Target="/ppt/notesMasters/notesMaster1.xml" Id="R9a4063c4fe7046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8a64720936492d" /><Relationship Type="http://schemas.openxmlformats.org/officeDocument/2006/relationships/notesMaster" Target="/ppt/notesMasters/notesMaster1.xml" Id="Rb182ad1e7e74435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c7268458d74388" /><Relationship Type="http://schemas.openxmlformats.org/officeDocument/2006/relationships/notesMaster" Target="/ppt/notesMasters/notesMaster1.xml" Id="R6c5d7d796a7e41e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7688d15c2d44a57" /><Relationship Type="http://schemas.openxmlformats.org/officeDocument/2006/relationships/notesMaster" Target="/ppt/notesMasters/notesMaster1.xml" Id="R0e9d88f8a29f41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85135fb12af43ce" /><Relationship Type="http://schemas.openxmlformats.org/officeDocument/2006/relationships/notesMaster" Target="/ppt/notesMasters/notesMaster1.xml" Id="R7c2c1ead6987475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bc33d3ee0554988" /><Relationship Type="http://schemas.openxmlformats.org/officeDocument/2006/relationships/notesMaster" Target="/ppt/notesMasters/notesMaster1.xml" Id="Rb4187633784446c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0eeabc366684227" /><Relationship Type="http://schemas.openxmlformats.org/officeDocument/2006/relationships/notesMaster" Target="/ppt/notesMasters/notesMaster1.xml" Id="R51d177ca459c48e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26d68ce138749b0" /><Relationship Type="http://schemas.openxmlformats.org/officeDocument/2006/relationships/notesMaster" Target="/ppt/notesMasters/notesMaster1.xml" Id="Rc936b9fa2f1243e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8328bdbb14143c7" /><Relationship Type="http://schemas.openxmlformats.org/officeDocument/2006/relationships/notesMaster" Target="/ppt/notesMasters/notesMaster1.xml" Id="R77bf3619be0d40b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87c620cabe3498c" /><Relationship Type="http://schemas.openxmlformats.org/officeDocument/2006/relationships/notesMaster" Target="/ppt/notesMasters/notesMaster1.xml" Id="Re73b1a4d693b4fd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98fe5405a1d4372" /><Relationship Type="http://schemas.openxmlformats.org/officeDocument/2006/relationships/notesMaster" Target="/ppt/notesMasters/notesMaster1.xml" Id="Rb55a1919538541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9e83ae04bb424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981b1ce186417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da58f11d9e4ca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cae9416aa747c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04f47569c34be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7d6f0efcba4f2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4314adaadb48a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c4c2ddd6fd4fc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f1dbe64f70468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f50bd13dba47c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9da994c5984c4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550C97A-D2DE-4D15-9CC7-EC86C7C10AD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F21D07D-51D7-44E0-9B92-1523C14ED7F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E370CAF-30F2-48DB-A75D-D36974EC53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5DF2D64-0E41-4ED5-B24E-BCD51C802C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A656246-5421-4F5C-B9C1-AD0F91C696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AB7034C-38F9-4BF0-8E5D-E6487186C0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26784BC-3C00-4FA9-9CDD-329CBE86C5B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E121AE-FCCD-403E-AEB8-88EF18C838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B9EE71-2125-4A05-83B2-FA3A908D40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C18148-2B49-4017-A5D1-FB1D9AEA40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1A49A1-D89C-4423-843B-B4969C1553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12AC6E-239E-4AB7-A55E-6FE1DF4CFC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DE23CB-C02D-4DC9-9956-DBE6302895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C8B11F-4937-4D78-917E-26E3950872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6CD336-AB24-46AC-B3A2-B35377B1D1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5A3ADDC-B354-4582-836A-640A7FE53B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A8E577E-E020-4FDE-A04E-2BA06EDA8E1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5830BA8-D5F1-4621-A2EE-3A56A6BE386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6C34E33-8824-4F85-A990-0D4C802067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CB8F8ED-3E9A-4C94-9F3B-7C9D5C46777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867189F-2DC7-4D77-9EDB-C8C67052BE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2A5C66-6214-46BD-9D4D-46B9DEA0CC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BBB9D0D-BB6A-4FBF-8FF7-D1D9E6D56C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92842FC-FA55-420A-A358-054181D73F0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6432C15-4E1B-4944-B3B6-517BA80F119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AC3EBCE-6A5B-4967-9A8F-45867DD8358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CC1E053-BE96-428D-93F5-0D7362930D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5C894DB-F711-49F0-A08F-4B2EDFE0EB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D4015DC-A873-4107-B1C9-FC1055D3E7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5195642-ABC3-4DC4-9182-C2962EB0EB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E6B4FE7-E7CE-4888-9774-6D84113E20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B191453D-B193-4A17-BE6A-79EE4228798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B5AAAAE-CEB1-4948-9B03-EF3EFE3A48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323439C-D9E6-41BE-995F-0384530609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34F8EC1-6B95-4040-B314-369257344E8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1D0A9D2-AE54-4674-B327-B232962A19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DFEC7D3-9A00-436A-ACF3-ED4D12010A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5066CA2-E8AA-4E98-A038-B2374D21996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757FD9B-D4DF-497A-9DA1-1B77D53400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00AB62F-A775-4E67-B8C7-A0C4169923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830763B-BAFA-4026-8A43-068E30C18C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231F565-82E2-4B2E-A9F6-0DAA9A3263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FD022D-342B-4FFC-9A2D-0F823062D1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FB8433-A9AE-4CFA-B781-67E88783B6A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264EF69-7578-4E39-A77D-6EA9ED001A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F2A7873-8AEA-4CDF-A977-5C542E40CA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D763C0A-87A4-485F-A765-84762DB200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7CD3019-FB11-4835-A4DC-5EDF3C2FDC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C432CC-D77B-44D5-A5A9-9E6D34E0B3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FCC32B-613B-4C17-B85A-7F3A5A604C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142533E-02A6-468D-9401-9C481181E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217A1D1-0FD0-4599-8696-37A5E42ACF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72EB0C2-A4D7-439D-9A5A-853E53EF11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81E075E-897F-49DD-BA12-7B396BA4D9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84361D2-FB1C-4BF0-9C95-DAE9D89C3F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9FC7E99-F940-41C0-AC09-A38712A2C6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8EB344F-BF6F-4F17-ADCA-59BB9636C9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1AD514-8415-4BB3-9CF0-CFC6FA8F29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f4e8c3183d40ef" /><Relationship Type="http://schemas.openxmlformats.org/officeDocument/2006/relationships/slideLayout" Target="/ppt/slideLayouts/slideLayout1.xml" Id="R23201e763ce643dc" /><Relationship Type="http://schemas.openxmlformats.org/officeDocument/2006/relationships/slideLayout" Target="/ppt/slideLayouts/slideLayout2.xml" Id="R7194b69b2aa04b01" /><Relationship Type="http://schemas.openxmlformats.org/officeDocument/2006/relationships/slideLayout" Target="/ppt/slideLayouts/slideLayout3.xml" Id="Raf190d4e18484bcd" /><Relationship Type="http://schemas.openxmlformats.org/officeDocument/2006/relationships/slideLayout" Target="/ppt/slideLayouts/slideLayout4.xml" Id="R51519137b61c45dc" /><Relationship Type="http://schemas.openxmlformats.org/officeDocument/2006/relationships/slideLayout" Target="/ppt/slideLayouts/slideLayout5.xml" Id="R77abfcde28e3480c" /><Relationship Type="http://schemas.openxmlformats.org/officeDocument/2006/relationships/slideLayout" Target="/ppt/slideLayouts/slideLayout6.xml" Id="R0476c26173e8452b" /><Relationship Type="http://schemas.openxmlformats.org/officeDocument/2006/relationships/slideLayout" Target="/ppt/slideLayouts/slideLayout7.xml" Id="R319f6a748d724d8f" /><Relationship Type="http://schemas.openxmlformats.org/officeDocument/2006/relationships/slideLayout" Target="/ppt/slideLayouts/slideLayout8.xml" Id="R158da575fc9349a9" /><Relationship Type="http://schemas.openxmlformats.org/officeDocument/2006/relationships/slideLayout" Target="/ppt/slideLayouts/slideLayout9.xml" Id="R4bf0be42d0e64604" /><Relationship Type="http://schemas.openxmlformats.org/officeDocument/2006/relationships/slideLayout" Target="/ppt/slideLayouts/slideLayout10.xml" Id="Re028d8fdb8c94659" /><Relationship Type="http://schemas.openxmlformats.org/officeDocument/2006/relationships/slideLayout" Target="/ppt/slideLayouts/slideLayout11.xml" Id="Rab0b6a97aeff4cd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B72E3B3-0F71-47C0-BAEE-296ACC394E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AAA7C27-6659-413A-B59E-48BE0AED46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E8EA6F-EB0B-4426-A1F4-8191A848EDD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D8EEDA9-C3E5-4C01-9490-46F59BC5100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4BAA9D-21A3-40F3-AF8F-4450CF64FD7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201e763ce643dc"/>
    <p:sldLayoutId xmlns:r="http://schemas.openxmlformats.org/officeDocument/2006/relationships" id="2147483650" r:id="R7194b69b2aa04b01"/>
    <p:sldLayoutId xmlns:r="http://schemas.openxmlformats.org/officeDocument/2006/relationships" id="2147483651" r:id="Raf190d4e18484bcd"/>
    <p:sldLayoutId xmlns:r="http://schemas.openxmlformats.org/officeDocument/2006/relationships" id="2147483652" r:id="R51519137b61c45dc"/>
    <p:sldLayoutId xmlns:r="http://schemas.openxmlformats.org/officeDocument/2006/relationships" id="2147483653" r:id="R77abfcde28e3480c"/>
    <p:sldLayoutId xmlns:r="http://schemas.openxmlformats.org/officeDocument/2006/relationships" id="2147483654" r:id="R0476c26173e8452b"/>
    <p:sldLayoutId xmlns:r="http://schemas.openxmlformats.org/officeDocument/2006/relationships" id="2147483655" r:id="R319f6a748d724d8f"/>
    <p:sldLayoutId xmlns:r="http://schemas.openxmlformats.org/officeDocument/2006/relationships" id="2147483656" r:id="R158da575fc9349a9"/>
    <p:sldLayoutId xmlns:r="http://schemas.openxmlformats.org/officeDocument/2006/relationships" id="2147483657" r:id="R4bf0be42d0e64604"/>
    <p:sldLayoutId xmlns:r="http://schemas.openxmlformats.org/officeDocument/2006/relationships" id="2147483658" r:id="Re028d8fdb8c94659"/>
    <p:sldLayoutId xmlns:r="http://schemas.openxmlformats.org/officeDocument/2006/relationships" id="2147483659" r:id="Rab0b6a97aeff4cd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8f2186108742ae" /><Relationship Type="http://schemas.openxmlformats.org/officeDocument/2006/relationships/image" Target="/ppt/media/image.png" Id="R7fccc193d09e4179" /><Relationship Type="http://schemas.openxmlformats.org/officeDocument/2006/relationships/notesSlide" Target="/ppt/notesSlides/notesSlide1.xml" Id="R04b5069037c943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d3a0be42554e1f" /><Relationship Type="http://schemas.openxmlformats.org/officeDocument/2006/relationships/image" Target="/ppt/media/image2.png" Id="R74191f8c84604f30" /><Relationship Type="http://schemas.openxmlformats.org/officeDocument/2006/relationships/image" Target="/ppt/media/image3.png" Id="Rcaacc4db1682430c" /><Relationship Type="http://schemas.openxmlformats.org/officeDocument/2006/relationships/image" Target="/ppt/media/image4.png" Id="Ra6734368dc48465c" /><Relationship Type="http://schemas.openxmlformats.org/officeDocument/2006/relationships/image" Target="/ppt/media/image5.png" Id="R45d7eb7709cf44df" /><Relationship Type="http://schemas.openxmlformats.org/officeDocument/2006/relationships/notesSlide" Target="/ppt/notesSlides/notesSlide2.xml" Id="Rb11314d2507945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ec8fdb94fc4f8b" /><Relationship Type="http://schemas.openxmlformats.org/officeDocument/2006/relationships/image" Target="/ppt/media/image6.png" Id="Rb3b7feaea98d4c4e" /><Relationship Type="http://schemas.openxmlformats.org/officeDocument/2006/relationships/notesSlide" Target="/ppt/notesSlides/notesSlide3.xml" Id="R8b9ec5d0730249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2dcb811ada41b2" /><Relationship Type="http://schemas.openxmlformats.org/officeDocument/2006/relationships/notesSlide" Target="/ppt/notesSlides/notesSlide4.xml" Id="R835091def6e843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50939b67274167" /><Relationship Type="http://schemas.openxmlformats.org/officeDocument/2006/relationships/notesSlide" Target="/ppt/notesSlides/notesSlide5.xml" Id="Re5f0d229221d48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0e696999ca4523" /><Relationship Type="http://schemas.openxmlformats.org/officeDocument/2006/relationships/notesSlide" Target="/ppt/notesSlides/notesSlide6.xml" Id="Re2a41c85b92942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a71675df33460b" /><Relationship Type="http://schemas.openxmlformats.org/officeDocument/2006/relationships/notesSlide" Target="/ppt/notesSlides/notesSlide7.xml" Id="Rf63849b0e68e45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38ed08cbc14dbf" /><Relationship Type="http://schemas.openxmlformats.org/officeDocument/2006/relationships/notesSlide" Target="/ppt/notesSlides/notesSlide8.xml" Id="Rffcaf72c42e1434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7f2b09402e4dc9" /><Relationship Type="http://schemas.openxmlformats.org/officeDocument/2006/relationships/notesSlide" Target="/ppt/notesSlides/notesSlide9.xml" Id="R325e26f0ab464a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39d735263d4bee" /><Relationship Type="http://schemas.openxmlformats.org/officeDocument/2006/relationships/notesSlide" Target="/ppt/notesSlides/notesSlide10.xml" Id="R57402800e4824b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fc6fd500e645d0" /><Relationship Type="http://schemas.openxmlformats.org/officeDocument/2006/relationships/notesSlide" Target="/ppt/notesSlides/notesSlide11.xml" Id="Rc01536dc50874d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34eba5d8844235" /><Relationship Type="http://schemas.openxmlformats.org/officeDocument/2006/relationships/notesSlide" Target="/ppt/notesSlides/notesSlide12.xml" Id="R315fd1aed72c415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5714c115c243e3" /><Relationship Type="http://schemas.openxmlformats.org/officeDocument/2006/relationships/notesSlide" Target="/ppt/notesSlides/notesSlide13.xml" Id="R5257e45ca8db4bd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eeaef91d034c7f" /><Relationship Type="http://schemas.openxmlformats.org/officeDocument/2006/relationships/notesSlide" Target="/ppt/notesSlides/notesSlide14.xml" Id="R457a8b7d3530442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ef64d6d0b148ec" /><Relationship Type="http://schemas.openxmlformats.org/officeDocument/2006/relationships/notesSlide" Target="/ppt/notesSlides/notesSlide15.xml" Id="Rc899064ce02a415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7fe9e679ee42be" /><Relationship Type="http://schemas.openxmlformats.org/officeDocument/2006/relationships/notesSlide" Target="/ppt/notesSlides/notesSlide16.xml" Id="Rd600d4148ede446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346eda1d7d41e3" /><Relationship Type="http://schemas.openxmlformats.org/officeDocument/2006/relationships/notesSlide" Target="/ppt/notesSlides/notesSlide17.xml" Id="R3c0c23ea48824a9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b4c2f86889e45f9" /><Relationship Type="http://schemas.openxmlformats.org/officeDocument/2006/relationships/notesSlide" Target="/ppt/notesSlides/notesSlide18.xml" Id="R295a5197ce224f8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4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5CDDCF0-F4C7-45E6-96A3-DE3F2379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0480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Connector 2">
            <a:extLst xmlns:a="http://schemas.openxmlformats.org/drawingml/2006/main">
              <a:ext uri="{FF2B5EF4-FFF2-40B4-BE49-F238E27FC236}">
                <a16:creationId xmlns:a16="http://schemas.microsoft.com/office/drawing/2014/main" id="{11919313-07AE-48D9-A363-991BFA15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4572000"/>
          </a:xfrm>
          <a:prstGeom xmlns:a="http://schemas.openxmlformats.org/drawingml/2006/main" prst="line">
            <a:avLst/>
          </a:prstGeom>
          <a:ln xmlns:a="http://schemas.openxmlformats.org/drawingml/2006/main" w="10160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14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cc193d09e41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45600" y="0"/>
            <a:ext cx="2946400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50F665-64A5-4CF3-9B94-C2697F1A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46100"/>
            <a:ext cx="43815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6BD1D0"/>
                </a:solidFill>
                <a:latin typeface="Microsoft YaHei"/>
                <a:ea typeface="Microsoft YaHei"/>
                <a:cs typeface="Microsoft YaHei"/>
              </a:rPr>
              <a:t>PADDLEOCR-VL OCSR V3 · SCIENTIFIC DEFENSE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FD5F457-B8BC-48F2-AA88-87CEBF8C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787400"/>
            <a:ext cx="4381500" cy="119300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3132"/>
              </a:lnSpc>
              <a:buNone/>
            </a:pPr>
            <a:r>
              <a:rPr sz="2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把化学结构图</a:t>
            </a:r>
            <a:br/>
            <a:r>
              <a:rPr sz="2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可靠地读成 canonical SMILES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38E5DC4-6E38-4D08-888F-B1882B8C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107406"/>
            <a:ext cx="4381500" cy="598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812"/>
              </a:lnSpc>
              <a:buNone/>
            </a:pPr>
            <a:r>
              <a:rPr sz="1250">
                <a:solidFill>
                  <a:srgbClr val="C9D2D8"/>
                </a:solidFill>
                <a:latin typeface="Microsoft YaHei"/>
                <a:ea typeface="Microsoft YaHei"/>
                <a:cs typeface="Microsoft YaHei"/>
              </a:rPr>
              <a:t>从七类训练数据、分组无泄漏评测，到 LoRA、消融、checkpoint、hard replay 与 beam 决策的完整证据链。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2C27245-90D7-45F9-BAA6-4415D98C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726531"/>
            <a:ext cx="1380728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82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3E297E3-4A6F-4A1A-868D-B3F21ADF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726531"/>
            <a:ext cx="1380728" cy="4800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14300" tIns="88900" rIns="114300" bIns="88900" anchor="t"/>
          <a:lstStyle xmlns:a="http://schemas.openxmlformats.org/drawingml/2006/main"/>
          <a:p xmlns:a="http://schemas.openxmlformats.org/drawingml/2006/main">
            <a:pPr algn="l">
              <a:lnSpc>
                <a:spcPts val="1320"/>
              </a:lnSpc>
              <a:buNone/>
            </a:pPr>
            <a:r>
              <a:rPr sz="1100">
                <a:solidFill>
                  <a:srgbClr val="A7ECE7"/>
                </a:solidFill>
                <a:latin typeface="Consolas"/>
                <a:ea typeface="Consolas"/>
                <a:cs typeface="Consolas"/>
              </a:rPr>
              <a:t>Nc1nc(N)nc(N)n1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A8AB96D-1F12-49B0-9058-D88661AB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85949C"/>
                </a:solidFill>
                <a:latin typeface="Microsoft YaHei"/>
                <a:ea typeface="Microsoft YaHei"/>
                <a:cs typeface="Microsoft YaHei"/>
              </a:rPr>
              <a:t>最终模型：checkpoint-1400 · 单卡 H800 · locked test 只运行一次 · 结果冻结于 2026-07-19</a:t>
            </a:r>
          </a:p>
        </p:txBody>
      </p:sp>
    </p:spTree>
    <p:extLst>
      <p:ext uri="{BB962C8B-B14F-4D97-AF65-F5344CB8AC3E}">
        <p14:creationId xmlns:p14="http://schemas.microsoft.com/office/powerpoint/2010/main" val="19746129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191f8c84604f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8300" y="1090216"/>
            <a:ext cx="2307530" cy="1587500"/>
          </a:xfrm>
          <a:prstGeom xmlns:a="http://schemas.openxmlformats.org/drawingml/2006/main" prst="rect">
            <a:avLst/>
          </a:prstGeom>
        </p:spPr>
      </p:pic>
      <p:pic>
        <p:nvPicPr>
          <p:cNvPr id="35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acc4db168243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82180" y="1090216"/>
            <a:ext cx="2307630" cy="1587500"/>
          </a:xfrm>
          <a:prstGeom xmlns:a="http://schemas.openxmlformats.org/drawingml/2006/main" prst="rect">
            <a:avLst/>
          </a:prstGeom>
        </p:spPr>
      </p:pic>
      <p:pic>
        <p:nvPicPr>
          <p:cNvPr id="36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34368dc4846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96160" y="1090216"/>
            <a:ext cx="2307530" cy="1587500"/>
          </a:xfrm>
          <a:prstGeom xmlns:a="http://schemas.openxmlformats.org/drawingml/2006/main" prst="rect">
            <a:avLst/>
          </a:prstGeom>
        </p:spPr>
      </p:pic>
      <p:pic>
        <p:nvPicPr>
          <p:cNvPr id="37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7eb7709cf44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0041" y="1090216"/>
            <a:ext cx="2307630" cy="1587500"/>
          </a:xfrm>
          <a:prstGeom xmlns:a="http://schemas.openxmlformats.org/drawingml/2006/main" prst="rect">
            <a:avLst/>
          </a:prstGeom>
        </p:spPr>
      </p:pic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A8165D8-156E-42FF-801D-7DBE57D6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4020" y="1090216"/>
            <a:ext cx="2199580" cy="158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Connector 6">
            <a:extLst xmlns:a="http://schemas.openxmlformats.org/drawingml/2006/main">
              <a:ext uri="{FF2B5EF4-FFF2-40B4-BE49-F238E27FC236}">
                <a16:creationId xmlns:a16="http://schemas.microsoft.com/office/drawing/2014/main" id="{7A1ABF48-4EAD-46D7-99E1-8AB56491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4020" y="1090216"/>
            <a:ext cx="2199580" cy="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D999E9F-734D-4895-96FC-1CAA006C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02 / 18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902587-01D2-4C5B-BF8C-45918256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一张图看懂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4F2E8F8-0AE9-43B0-B457-884659B5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整个项目只有五个关口：数据、划分、训练、决策、密封考试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3398EA-6C3D-4063-A399-913CACD1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293416"/>
            <a:ext cx="1970980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 b="1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01 · 教材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32DFDF3-3B1A-4B36-B02D-559AC961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553766"/>
            <a:ext cx="1970980" cy="244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75"/>
              </a:lnSpc>
              <a:buNone/>
            </a:pPr>
            <a:r>
              <a:rPr sz="11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构建训练集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A62A56A-19CD-4809-BBCB-25C32828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791891"/>
            <a:ext cx="197098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七类数据按标签可信度、错误覆盖和分布风险配比，不做简单平均。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17F3932-0C32-4DAB-986E-8DA408B6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6480" y="1293416"/>
            <a:ext cx="1971080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 b="1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02 · 模拟题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4029362-5AFD-4295-9CAB-5FF0D940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6480" y="1553766"/>
            <a:ext cx="1971080" cy="244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75"/>
              </a:lnSpc>
              <a:buNone/>
            </a:pPr>
            <a:r>
              <a:rPr sz="11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冻结 development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D1E2C34-166F-4870-8728-56101D39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6480" y="1791891"/>
            <a:ext cx="197108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公开锚点与弱域困难样本并存；按分子和论文组阻断泄漏。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439E590-204C-47C4-9A21-5BD6092D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0460" y="1293416"/>
            <a:ext cx="1970980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 b="1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03 · 学习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52B4348-29C7-40AF-921A-E187CF2C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0460" y="1553766"/>
            <a:ext cx="1970980" cy="244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75"/>
              </a:lnSpc>
              <a:buNone/>
            </a:pPr>
            <a:r>
              <a:rPr sz="11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LoRA continuation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E8FA963-0413-4E08-B67D-701DDC36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0460" y="1791891"/>
            <a:ext cx="197098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从已适配 OCSR 的 V2-1 继续训练，把预算用于可解释实验。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78DF129-B912-42DD-B8B3-4B2A601A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341" y="1293416"/>
            <a:ext cx="1971080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 b="1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04 · 选方案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F1F9FCB-4168-43F6-98CA-78AAEBDC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341" y="1553766"/>
            <a:ext cx="1971080" cy="244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75"/>
              </a:lnSpc>
              <a:buNone/>
            </a:pPr>
            <a:r>
              <a:rPr sz="11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闸门式消融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DDC06BB-FE7B-4311-8A87-7527C92A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341" y="1791891"/>
            <a:ext cx="197108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比较配比、checkpoint、hard replay、beam 和 reranker；退步就拒绝。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ECFE5A8-68DE-48F9-B851-AA3A7290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20" y="1293416"/>
            <a:ext cx="1970980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 b="1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05 · 密封卷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A3D7F9F-F202-4D28-867F-D4CEE400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20" y="1553766"/>
            <a:ext cx="1970980" cy="244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75"/>
              </a:lnSpc>
              <a:buNone/>
            </a:pPr>
            <a:r>
              <a:rPr sz="11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一次性 locked test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441CBCEF-9DD0-4328-941E-4BD84C08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20" y="1791891"/>
            <a:ext cx="197098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全部参数冻结后才拆卷，结果不回流调参。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CEEF0CE3-7345-48AE-9264-F2EE22BB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817416"/>
            <a:ext cx="11455400" cy="3654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0E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08C46228-58B9-466E-BD5C-0801A3FC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817416"/>
            <a:ext cx="0" cy="36542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369212D-562B-4238-BBCC-4C56774C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817416"/>
            <a:ext cx="11455400" cy="511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核心原则：</a:t>
            </a:r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训练集负责“学”，development 负责“选”，locked test 只负责“最后回答泛化能力”。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8BBD0E5B-CDEA-4D39-BD95-5C93153F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方法证据：V3/TRAINING_DATA_AND_FINETUNING_REPORT_zh.md；V3/evidence/FINAL_RESULTS.json</a:t>
            </a:r>
          </a:p>
        </p:txBody>
      </p:sp>
    </p:spTree>
    <p:extLst>
      <p:ext uri="{BB962C8B-B14F-4D97-AF65-F5344CB8AC3E}">
        <p14:creationId xmlns:p14="http://schemas.microsoft.com/office/powerpoint/2010/main" val="11859807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74C4C6-ABCA-4E40-8FC1-6D08604C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88616"/>
            <a:ext cx="4617145" cy="196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8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7feaea98d4c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2600" y="1102916"/>
            <a:ext cx="4388545" cy="1739900"/>
          </a:xfrm>
          <a:prstGeom xmlns:a="http://schemas.openxmlformats.org/drawingml/2006/main" prst="rect">
            <a:avLst/>
          </a:prstGeom>
        </p:spPr>
      </p:pic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EEE7B74-5EE1-45B5-961F-AE1F1E20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2245" y="988616"/>
            <a:ext cx="5771356" cy="196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B1E656-0F19-45AA-B214-B1749AD4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03 / 18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2C266D1-CA25-4146-AA30-0892B6EE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任务先定义清楚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DC7B5E-0DB7-4E8D-BD7C-FCBA503B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输入是一张单分子结构图，输出只能是一行可解析 SMILES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2BD3DC6-FA9C-43CC-9611-15F47A3A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845" y="1671241"/>
            <a:ext cx="762000" cy="844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4320"/>
              </a:lnSpc>
              <a:buNone/>
            </a:pPr>
            <a:r>
              <a:rPr sz="3600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DDB538-2C63-4268-BC65-9A804735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2745" y="1179116"/>
            <a:ext cx="5390356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唯一允许的主输出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A30A3DC-E7BD-4672-854F-5E8CB26B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2745" y="1433116"/>
            <a:ext cx="1227138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82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4CD56B4-0C2F-4450-95BE-6658921A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2745" y="1433116"/>
            <a:ext cx="1227138" cy="4800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14300" tIns="88900" rIns="114300" bIns="88900" anchor="t"/>
          <a:lstStyle xmlns:a="http://schemas.openxmlformats.org/drawingml/2006/main"/>
          <a:p xmlns:a="http://schemas.openxmlformats.org/drawingml/2006/main">
            <a:pPr algn="l">
              <a:lnSpc>
                <a:spcPts val="1320"/>
              </a:lnSpc>
              <a:buNone/>
            </a:pPr>
            <a:r>
              <a:rPr sz="1100">
                <a:solidFill>
                  <a:srgbClr val="A7ECE7"/>
                </a:solidFill>
                <a:latin typeface="Consolas"/>
                <a:ea typeface="Consolas"/>
                <a:cs typeface="Consolas"/>
              </a:rPr>
              <a:t>ClP1OC=C(I)O1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6276969-4306-4C7F-B821-F193BDDC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2745" y="1928416"/>
            <a:ext cx="5390356" cy="2400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BEC9CF"/>
                </a:solidFill>
                <a:latin typeface="Microsoft YaHei"/>
                <a:ea typeface="Microsoft YaHei"/>
                <a:cs typeface="Microsoft YaHei"/>
              </a:rPr>
              <a:t>拒绝反应式、多分子盐、dummy atom、R-group、chemfig 和混合目标；symbolic 另设轨道。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F577F42-DF17-48DC-BE12-AC0CF3A9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096816"/>
            <a:ext cx="27971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Connector 13">
            <a:extLst xmlns:a="http://schemas.openxmlformats.org/drawingml/2006/main">
              <a:ext uri="{FF2B5EF4-FFF2-40B4-BE49-F238E27FC236}">
                <a16:creationId xmlns:a16="http://schemas.microsoft.com/office/drawing/2014/main" id="{70B409D8-B2B9-4EE0-990F-AF09E008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096816"/>
            <a:ext cx="2797175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5DDA164-D729-432B-973E-2BFA5F9A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096816"/>
            <a:ext cx="2797175" cy="800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95250" rIns="76200" bIns="50800" anchor="t"/>
          <a:lstStyle xmlns:a="http://schemas.openxmlformats.org/drawingml/2006/main"/>
          <a:p xmlns:a="http://schemas.openxmlformats.org/drawingml/2006/main">
            <a:pPr algn="l">
              <a:lnSpc>
                <a:spcPts val="2000"/>
              </a:lnSpc>
              <a:buNone/>
            </a:pPr>
            <a:r>
              <a:rPr sz="2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Exact</a:t>
            </a:r>
            <a:br/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RDKit canonical 后完全一致，主指标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18FDF1E-66F9-4991-BAFB-B09706C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4375" y="3096816"/>
            <a:ext cx="27971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E51DF1D0-A1C3-41B8-8E44-E4576F95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4375" y="3096816"/>
            <a:ext cx="2797175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F5CFD18-B4D2-4B11-BDA9-9EDCBE9F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4375" y="3096816"/>
            <a:ext cx="2797175" cy="800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95250" rIns="76200" bIns="50800" anchor="t"/>
          <a:lstStyle xmlns:a="http://schemas.openxmlformats.org/drawingml/2006/main"/>
          <a:p xmlns:a="http://schemas.openxmlformats.org/drawingml/2006/main">
            <a:pPr algn="l">
              <a:lnSpc>
                <a:spcPts val="2000"/>
              </a:lnSpc>
              <a:buNone/>
            </a:pPr>
            <a:r>
              <a:rPr sz="2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Valid</a:t>
            </a:r>
            <a:br/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语法可解析，作为质量闸门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13E84D4-1A32-4862-B646-AD9EF3F1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0450" y="3096816"/>
            <a:ext cx="27971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073676C4-380D-4168-8CAA-29D44A25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0450" y="3096816"/>
            <a:ext cx="2797175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A96F0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CF139F3-CF45-45DA-A396-77EBB52B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0450" y="3096816"/>
            <a:ext cx="2797175" cy="800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95250" rIns="76200" bIns="50800" anchor="t"/>
          <a:lstStyle xmlns:a="http://schemas.openxmlformats.org/drawingml/2006/main"/>
          <a:p xmlns:a="http://schemas.openxmlformats.org/drawingml/2006/main">
            <a:pPr algn="l">
              <a:lnSpc>
                <a:spcPts val="2000"/>
              </a:lnSpc>
              <a:buNone/>
            </a:pPr>
            <a:r>
              <a:rPr sz="2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Tanimoto</a:t>
            </a:r>
            <a:br/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结构接近度，只解释错误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9340759-8BD3-4001-9637-A3F3D1BD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6525" y="3096816"/>
            <a:ext cx="27971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C9ABC736-3A2E-4FCB-9BC0-0AD93C13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6525" y="3096816"/>
            <a:ext cx="2797175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1CF3C8C-6226-4CE4-9406-2CF9CDB7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6525" y="3096816"/>
            <a:ext cx="2797175" cy="800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95250" rIns="76200" bIns="50800" anchor="t"/>
          <a:lstStyle xmlns:a="http://schemas.openxmlformats.org/drawingml/2006/main"/>
          <a:p xmlns:a="http://schemas.openxmlformats.org/drawingml/2006/main">
            <a:pPr algn="l">
              <a:lnSpc>
                <a:spcPts val="2000"/>
              </a:lnSpc>
              <a:buNone/>
            </a:pPr>
            <a:r>
              <a:rPr sz="2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Scaffold</a:t>
            </a:r>
            <a:br/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未见骨架泛化诊断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0B4A021-0B02-4524-95BA-10A2DB88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评测脚本：V3/scripts/evaluate_ocsr_predictions_detailed.py；symbolic 独立使用文字规范化 exact</a:t>
            </a:r>
          </a:p>
        </p:txBody>
      </p:sp>
    </p:spTree>
    <p:extLst>
      <p:ext uri="{BB962C8B-B14F-4D97-AF65-F5344CB8AC3E}">
        <p14:creationId xmlns:p14="http://schemas.microsoft.com/office/powerpoint/2010/main" val="11436651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5D47AA2-2B47-49DF-9C96-779CEC93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522016"/>
            <a:ext cx="114554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E2BB412-97AC-4341-A0EE-6FFF1839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04 / 18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F81B7DB-E8D0-41AA-AB30-B1DD10AD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训练集不是大杂烩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08890-37F8-42AF-BDBD-45FD416A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22,762 条加权记录由七个语义组组成，printed 锚点占 43.55%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DE68D82-206B-4894-9BAE-1C281398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50516"/>
            <a:ext cx="2538512" cy="46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F8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40F84C9-0A51-4E01-86E8-4104D399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50516"/>
            <a:ext cx="2538512" cy="469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840"/>
              </a:lnSpc>
              <a:buNone/>
            </a:pPr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USPTO</a:t>
            </a:r>
            <a:br/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22.16%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1E9D118-EAE4-4C3C-B1B1-B24F8AF4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6812" y="950516"/>
            <a:ext cx="2450306" cy="46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9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65C140-E219-4938-95C6-81FFBCD2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6812" y="950516"/>
            <a:ext cx="2450306" cy="469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840"/>
              </a:lnSpc>
              <a:buNone/>
            </a:pPr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UOB</a:t>
            </a:r>
            <a:br/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21.39%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370FD83-FD66-4688-ABDF-5AE78028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7118" y="950516"/>
            <a:ext cx="2178745" cy="46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55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0F9EF58-6E00-4FB9-8C66-DE8BBA2E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7118" y="950516"/>
            <a:ext cx="2178745" cy="469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840"/>
              </a:lnSpc>
              <a:buNone/>
            </a:pPr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real-world</a:t>
            </a:r>
            <a:br/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19.02%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5FC2D1C-B96D-44EC-AECC-B7A4E8A1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5862" y="950516"/>
            <a:ext cx="2012652" cy="46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629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D7AA076-BAFA-4C0C-8983-F6950D17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5862" y="950516"/>
            <a:ext cx="2012652" cy="469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840"/>
              </a:lnSpc>
              <a:buNone/>
            </a:pPr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MolGrapher</a:t>
            </a:r>
            <a:br/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17.57%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20F8345-53D9-4EC7-A823-3D66C204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515" y="950516"/>
            <a:ext cx="2274987" cy="46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5F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D3E39E6-5384-4EF2-8427-A9450BD2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515" y="950516"/>
            <a:ext cx="2274987" cy="469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840"/>
              </a:lnSpc>
              <a:buNone/>
            </a:pPr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USPTO-30K ×3</a:t>
            </a:r>
            <a:br/>
            <a:r>
              <a:rPr sz="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19.86%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7CC8FC0-70BD-488F-B6BA-51389E16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dataset_build_report.json、mixture_counts.csv；记录数含 repeat/cap，不等于独立图像或独立分子</a:t>
            </a:r>
          </a:p>
        </p:txBody>
      </p:sp>
      <p:graphicFrame>
        <p:nvGraphicFramePr>
          <p:cNvPr id="45" name=""/>
          <p:cNvGraphicFramePr/>
          <p:nvPr/>
        </p:nvGraphicFramePr>
        <p:xfrm>
          <a:off xmlns:a="http://schemas.openxmlformats.org/drawingml/2006/main" x="368332" y="1522000"/>
          <a:ext xmlns:a="http://schemas.openxmlformats.org/drawingml/2006/main" cx="11455432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52625"/>
                <a:gridCol w="1190625"/>
                <a:gridCol w="1143000"/>
                <a:gridCol w="7169182"/>
              </a:tblGrid>
              <a:tr h="3238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语义组</a:t>
                      </a:r>
                    </a:p>
                  </a:txBody>
                  <a:tcPr marL="85725" marR="85725" marT="47625" marB="47625" anchor="ctr">
                    <a:solidFill>
                      <a:srgbClr val="DFE9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记录</a:t>
                      </a:r>
                    </a:p>
                  </a:txBody>
                  <a:tcPr marL="85725" marR="85725" marT="47625" marB="47625" anchor="ctr">
                    <a:solidFill>
                      <a:srgbClr val="DFE9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占比</a:t>
                      </a:r>
                    </a:p>
                  </a:txBody>
                  <a:tcPr marL="85725" marR="85725" marT="47625" marB="47625" anchor="ctr">
                    <a:solidFill>
                      <a:srgbClr val="DFE9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承担的学习任务</a:t>
                      </a:r>
                    </a:p>
                  </a:txBody>
                  <a:tcPr marL="85725" marR="85725" marT="47625" marB="47625" anchor="ctr">
                    <a:solidFill>
                      <a:srgbClr val="DFE9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USPTO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5,043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22.16%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专利 printed 主分布与基本键/原子识别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UOB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4,869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21.39%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 OCSR benchmark 锚点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real-world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4,329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19.02%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拍照、扫描、页面、手写、教育与受控退化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MolGrapher synthetic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4,000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17.57%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复杂结构、长尾视觉形态与渲染扰动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USPTO-30K ×3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1,501 / 1,507 / 1,513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各约 6.6%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clean / abbreviated / large 分别 cap，防止干净数据吞噬弱域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09210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A1F0F82-1CC2-4CC9-B275-EA2B716D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88616"/>
            <a:ext cx="3733800" cy="215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Connector 2">
            <a:extLst xmlns:a="http://schemas.openxmlformats.org/drawingml/2006/main">
              <a:ext uri="{FF2B5EF4-FFF2-40B4-BE49-F238E27FC236}">
                <a16:creationId xmlns:a16="http://schemas.microsoft.com/office/drawing/2014/main" id="{3A6F85B8-89C6-4354-BCC5-F65EB58E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88616"/>
            <a:ext cx="3733800" cy="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D5BF8B8-FC39-4A34-8601-48EE081C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988616"/>
            <a:ext cx="3733800" cy="215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14B137B4-C2AA-48FE-B343-357C6307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988616"/>
            <a:ext cx="3733800" cy="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841BA27-BEB9-4C0E-A973-70142A10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988616"/>
            <a:ext cx="3733800" cy="215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Connector 6">
            <a:extLst xmlns:a="http://schemas.openxmlformats.org/drawingml/2006/main">
              <a:ext uri="{FF2B5EF4-FFF2-40B4-BE49-F238E27FC236}">
                <a16:creationId xmlns:a16="http://schemas.microsoft.com/office/drawing/2014/main" id="{D6416A68-EDF2-4B52-A079-D8944343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988616"/>
            <a:ext cx="3733800" cy="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06B51D-C6E1-4615-8B51-FBE6222B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05 / 18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8678373-ABCA-42B1-BB6F-8DEE5F5F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为什么不是 1:1:1:1:1:1:1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6C8C43B-E111-48F0-A1A2-87A97E93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科学配比的目标不是“平均”，而是同时控制遗忘、弱域暴露和数据吞噬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0D04E47-8A7C-48F1-8F3C-F2AC4ED1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153716"/>
            <a:ext cx="1122759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43.55%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B4A72D4-451B-4E29-AE0B-9F1B0A7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509316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保护基础能力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4DA35F3-EA2D-45CE-B585-72F48D70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1416"/>
            <a:ext cx="3302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UOB + USPTO 是 printed 锚点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953D906-3584-4A38-8D6B-08E55388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4616"/>
            <a:ext cx="3302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避免弱域过采样后忘掉基本 OCSR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E12F689-7EE4-4623-A3FF-7635D70A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07816"/>
            <a:ext cx="3302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repeat 1，保留原始分布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C2DE0A2-5C7D-4EF0-8DEA-FD63845E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153716"/>
            <a:ext cx="1122759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19.02%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6CF7A3D-6B52-4C3B-A329-8E0F5569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09316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把稀缺弱域放大到可学习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A46245B-2B33-4E16-BA8B-6F64CCD7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01416"/>
            <a:ext cx="3302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真实场景错误率高、数量少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9EC037F-9087-4FB2-994E-CB82E3F0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004616"/>
            <a:ext cx="3302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历史策略 repeat 5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E654185-C0B4-4274-B92F-86A63BB9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207816"/>
            <a:ext cx="3302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强调拍照、扫描、手写与页面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2D06D25-0DD8-4DF1-BD50-CCD0FBBF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2300" y="1153716"/>
            <a:ext cx="1071265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≤1,513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7CBD0DD-BACE-402D-9AE7-34402696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2300" y="1509316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限制干净数据支配训练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F81894B-6177-431C-AEA0-EE7BF5ED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00" y="1801416"/>
            <a:ext cx="3302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三个 USPTO-30K 子集分别 cap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0E8942A-3B9A-4ED4-AC31-961F3AD0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00" y="2004616"/>
            <a:ext cx="3302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MolGrapher repeat 2，但不算真实评测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714000F-96A4-46C6-B456-143740EC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00" y="2207816"/>
            <a:ext cx="3302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防止模型被规整专利图拉回去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00F09BF-25D1-4989-930B-EE6166B5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274616"/>
            <a:ext cx="11455400" cy="3654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BC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C368216B-A1AE-455A-BC6B-9C1FD226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274616"/>
            <a:ext cx="0" cy="36542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A96F0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F5B9974-4D50-480D-AF01-EBE52491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274616"/>
            <a:ext cx="11455400" cy="511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统计边界：</a:t>
            </a:r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比例由 V2-1 错误分层、标签可信度和 2×2 探索共同约束；只有两个 seed，不能声称全局最优。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C5E9D464-3BD2-4C43-AA5C-F173550C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V3/DATASET_CARD_zh.md；V3/evidence/probe_analysis.json</a:t>
            </a:r>
          </a:p>
        </p:txBody>
      </p:sp>
    </p:spTree>
    <p:extLst>
      <p:ext uri="{BB962C8B-B14F-4D97-AF65-F5344CB8AC3E}">
        <p14:creationId xmlns:p14="http://schemas.microsoft.com/office/powerpoint/2010/main" val="11938968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CC5FA5D-6CA6-466B-A5DD-C0114410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166416"/>
            <a:ext cx="5619750" cy="33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Connector 2">
            <a:extLst xmlns:a="http://schemas.openxmlformats.org/drawingml/2006/main">
              <a:ext uri="{FF2B5EF4-FFF2-40B4-BE49-F238E27FC236}">
                <a16:creationId xmlns:a16="http://schemas.microsoft.com/office/drawing/2014/main" id="{AEE4B2D9-4F07-4BFD-ADC9-8CC0DC09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166416"/>
            <a:ext cx="0" cy="33655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E9F39BC-E211-4848-9B1A-B6DEA22B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553766"/>
            <a:ext cx="5619750" cy="33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3D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96A94A83-3567-4FD1-AB2C-1652BB48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553766"/>
            <a:ext cx="0" cy="33655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A49E28B-0B93-4250-814A-9E4EF28A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941116"/>
            <a:ext cx="5619750" cy="33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3D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Connector 6">
            <a:extLst xmlns:a="http://schemas.openxmlformats.org/drawingml/2006/main">
              <a:ext uri="{FF2B5EF4-FFF2-40B4-BE49-F238E27FC236}">
                <a16:creationId xmlns:a16="http://schemas.microsoft.com/office/drawing/2014/main" id="{BAA8439F-7436-49A7-B1A1-1A7EFCA7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941116"/>
            <a:ext cx="0" cy="33655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53ACEC7-B10E-4166-8F59-A0091129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328466"/>
            <a:ext cx="5619750" cy="33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E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6D8FDC35-82E7-4F77-B54A-A56D9FEF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328466"/>
            <a:ext cx="0" cy="33655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972839E-9EAF-4330-8EE7-391F96C3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1166416"/>
            <a:ext cx="5619750" cy="33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B41DAB7B-A015-46A9-B863-11B97809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1166416"/>
            <a:ext cx="0" cy="33655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2AF56B7-4B43-4ABF-9F0E-6DAFB891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1553766"/>
            <a:ext cx="5619750" cy="33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3D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274CBCF3-EC79-4F15-8758-E478276D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1553766"/>
            <a:ext cx="0" cy="33655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9CB6BBA-095B-464E-B580-B423F9D8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1941116"/>
            <a:ext cx="5619750" cy="33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22F9C54E-6D94-464F-9E30-03005C71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1941116"/>
            <a:ext cx="0" cy="33655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C91E164-0EED-4F6D-A3AF-9A1EC508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2328466"/>
            <a:ext cx="5619750" cy="33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E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0C243CA5-8155-4952-8F7E-EF5167B7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2328466"/>
            <a:ext cx="0" cy="33655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01DA248-DC6E-4166-8F50-8F194513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06 / 18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A77F853-5EE7-4F92-8B00-37E3817F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数据质量来自拒绝规则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AF7E4F8-D3D7-4A0B-8D8F-A382091C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先过滤标签，再按分子与论文组反向排除，最后才生成训练清单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FB8A07A-4A8B-48DF-989F-1BF99486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12416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基础训练清单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2A1FEB9-096C-444B-A93D-EF0B14A6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50" y="1268016"/>
            <a:ext cx="465138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V2-1 输入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5FCDA52-72A9-4462-B0DE-EE3ED6E2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0293" y="1236266"/>
            <a:ext cx="513457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44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23,047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18BD9B2-B5B8-4E18-8AD7-0CE7BE29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50" y="1655366"/>
            <a:ext cx="1247180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多片段 / symbolic / 非收敛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06B9F15-D73A-4A28-ACF9-EC9E640A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5784" y="1623616"/>
            <a:ext cx="397966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44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−273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204B840-C01D-4BEB-9915-2A4541FA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50" y="2042716"/>
            <a:ext cx="1429643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与 development / locked 重叠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6832E58-4D04-439E-8E27-7C8C724E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9744" y="2010966"/>
            <a:ext cx="304006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44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−12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5AE72ABE-5577-46DE-AC6B-938E632A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50" y="2430066"/>
            <a:ext cx="772914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V3 strict control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F26B7E4D-CFEC-44FD-A3C0-BBAAA9993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0293" y="2398316"/>
            <a:ext cx="513457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44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22,762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D2BBAC61-12DB-4E60-8BA3-387CCCAA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3950" y="912416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MolRecBench-Wild 论文组划分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3D08932A-A84A-4560-969B-B90B84E1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268016"/>
            <a:ext cx="765373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原始 annotation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5BF6B8-C14D-4646-BC5D-B4334BCE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9903" y="1236266"/>
            <a:ext cx="419497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44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5,008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11BA8CD-DD67-4FD8-B52B-3C8AABFD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55366"/>
            <a:ext cx="1165324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symbolic/非法 canonical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445EB68-CE34-4B3E-AEDE-0B8FADED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9903" y="1623616"/>
            <a:ext cx="419497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44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3,508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9C6D9FC9-C8C9-4146-8022-AD1CFCF1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42716"/>
            <a:ext cx="1088926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strict pool · 519 篇论文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9D53520D-4F20-4FCA-978D-468E22EE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9903" y="2010966"/>
            <a:ext cx="419497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44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1,428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267E0E18-F1CE-487A-8618-126B9A10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30066"/>
            <a:ext cx="1458416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locked · 62 篇论文，每篇 ≤5 图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0ECDD07F-297E-4464-B294-9838CD6C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7420" y="2398316"/>
            <a:ext cx="28198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44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301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7244C1B7-2C02-4173-B14F-E45C766A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842816"/>
            <a:ext cx="3733800" cy="540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0E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Connector 39">
            <a:extLst xmlns:a="http://schemas.openxmlformats.org/drawingml/2006/main">
              <a:ext uri="{FF2B5EF4-FFF2-40B4-BE49-F238E27FC236}">
                <a16:creationId xmlns:a16="http://schemas.microsoft.com/office/drawing/2014/main" id="{DAC71D76-95A4-49EE-8BD5-2E7894D7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842816"/>
            <a:ext cx="0" cy="540345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D431AB7F-643F-446F-AD7A-9C0B907F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842816"/>
            <a:ext cx="3733800" cy="5403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分子零重叠</a:t>
            </a:r>
            <a:br/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canonical molecule / structure_id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8336A832-B60F-4087-81B8-C10CA9D1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42816"/>
            <a:ext cx="3733800" cy="540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E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Connector 42">
            <a:extLst xmlns:a="http://schemas.openxmlformats.org/drawingml/2006/main">
              <a:ext uri="{FF2B5EF4-FFF2-40B4-BE49-F238E27FC236}">
                <a16:creationId xmlns:a16="http://schemas.microsoft.com/office/drawing/2014/main" id="{134EA169-6871-48CA-BE2E-5123526A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42816"/>
            <a:ext cx="0" cy="540345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2AF15A50-631A-4316-9798-51C2430E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42816"/>
            <a:ext cx="3733800" cy="5403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论文组零重叠</a:t>
            </a:r>
            <a:br/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paper_group 先切论文，再抽行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BB42F802-08E2-4829-B621-C7697AB3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2842816"/>
            <a:ext cx="3733800" cy="540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3D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6" name="Connector 45">
            <a:extLst xmlns:a="http://schemas.openxmlformats.org/drawingml/2006/main">
              <a:ext uri="{FF2B5EF4-FFF2-40B4-BE49-F238E27FC236}">
                <a16:creationId xmlns:a16="http://schemas.microsoft.com/office/drawing/2014/main" id="{CC62B773-9EFF-4A0F-BD76-DAF2B4C2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2842816"/>
            <a:ext cx="0" cy="540345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4677B3A9-EF46-4351-AD55-FD6D6AB5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2842816"/>
            <a:ext cx="3733800" cy="5403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locked 不回流</a:t>
            </a:r>
            <a:br/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模型、prompt、decoder 均冻结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7E030E35-ABF8-4530-900F-16C7413D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构建器：V3/scripts/build_v3_datasets.py；证据：dataset_build_report.json、wild_paper_group_split.jsonl</a:t>
            </a:r>
          </a:p>
        </p:txBody>
      </p:sp>
    </p:spTree>
    <p:extLst>
      <p:ext uri="{BB962C8B-B14F-4D97-AF65-F5344CB8AC3E}">
        <p14:creationId xmlns:p14="http://schemas.microsoft.com/office/powerpoint/2010/main" val="12719919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5129CE8-43A0-4043-BF6C-C2B99F81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75916"/>
            <a:ext cx="4191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Connector 2">
            <a:extLst xmlns:a="http://schemas.openxmlformats.org/drawingml/2006/main">
              <a:ext uri="{FF2B5EF4-FFF2-40B4-BE49-F238E27FC236}">
                <a16:creationId xmlns:a16="http://schemas.microsoft.com/office/drawing/2014/main" id="{11A37314-C327-48DF-9E5B-07F75B92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75916"/>
            <a:ext cx="4191000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376FB6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D786A4-F7B5-4D79-8120-5C363D7A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0" y="975916"/>
            <a:ext cx="3492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FF3FBF6F-67EB-448F-A903-62C3E5C8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0" y="975916"/>
            <a:ext cx="3492500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D8B966A-4F46-468B-8CDF-367D8A77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975916"/>
            <a:ext cx="3492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Connector 6">
            <a:extLst xmlns:a="http://schemas.openxmlformats.org/drawingml/2006/main">
              <a:ext uri="{FF2B5EF4-FFF2-40B4-BE49-F238E27FC236}">
                <a16:creationId xmlns:a16="http://schemas.microsoft.com/office/drawing/2014/main" id="{C17E9D23-3355-4BED-A4A0-96F28AE2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975916"/>
            <a:ext cx="3492500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84B9ACB-F007-40BA-8E9D-0808E79E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07 / 18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236BAB-760E-48A9-B1C5-0ABD0620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三类考卷不能混报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DAE804-AA91-4911-AA75-26D0E221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development 用来选方案，locked 用来回答泛化，symbolic 回答另一种任务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F313A59-EFC5-49B9-9C4B-E60F184E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204516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Development · 1,507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166BF1B-C6C1-47BA-BB69-4FC99C6E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572816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像反复使用的模拟题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4490CBE-083F-45ED-9FF7-4F233A89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90316"/>
            <a:ext cx="37592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core 753 + region 754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E2D22D-AE12-4A78-8B68-06C2F729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3516"/>
            <a:ext cx="37592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V2-1 历史已用于调参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A65F368-7EED-4352-A20C-8865A472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96716"/>
            <a:ext cx="37592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选数据、checkpoint、decoder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6292C06-BF30-4886-938C-21C10ACC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9916"/>
            <a:ext cx="37592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不能称 unseen test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5F6E5A8-F706-4EB1-BB7C-5F8A9334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1204516"/>
            <a:ext cx="318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Locked canonical · 301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581F3BE-AC41-4BD8-A0CF-75AB22C8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1572816"/>
            <a:ext cx="318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像只拆一次的密封卷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19FF59C-E7B0-4F54-9FFC-00317936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8400" y="1890316"/>
            <a:ext cx="30607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301 个唯一分子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0A20EC8-E469-4617-A41B-EDF73051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8400" y="2093516"/>
            <a:ext cx="30607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62 篇整论文留出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BB85B61-2971-45C6-A442-EF64620F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8400" y="2296716"/>
            <a:ext cx="30607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134 个 scaffold-novel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6F77E9B-F550-4EEC-9F53-72D0819D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8400" y="2499916"/>
            <a:ext cx="30607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结果不回流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6141233-EF4E-4C0D-B6FE-4037A027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1204516"/>
            <a:ext cx="318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Symbolic · 460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0D71CBA-A04A-4981-9B8E-4FB08153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1572816"/>
            <a:ext cx="318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是另一门考试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B7A9133B-F278-42B4-A36B-C8F0BC47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90316"/>
            <a:ext cx="30607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R-group / symbolic 文本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5F60A4F9-ECC8-4B3B-A40A-B3897885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93516"/>
            <a:ext cx="30607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不用 RDKit canonical exact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2220923A-27B5-4E0A-9282-4255C2D0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96716"/>
            <a:ext cx="30607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独立 greedy track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80FE1F7A-ACC3-414F-AF71-6080BD16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99916"/>
            <a:ext cx="30607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不混入主分数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B5FFAA72-11FD-4758-9910-5C0AE842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V3/runbooks/EVALUATION_PROTOCOL_zh.md；V3/evidence/FINAL_RESULTS_zh.md</a:t>
            </a:r>
          </a:p>
        </p:txBody>
      </p:sp>
    </p:spTree>
    <p:extLst>
      <p:ext uri="{BB962C8B-B14F-4D97-AF65-F5344CB8AC3E}">
        <p14:creationId xmlns:p14="http://schemas.microsoft.com/office/powerpoint/2010/main" val="19707414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7BCF555-2F19-4DDF-ABDD-A801D0F7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1198166"/>
            <a:ext cx="34956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5B6B174-AAAB-44AB-9074-7D7A6359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1198166"/>
            <a:ext cx="3373239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9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BC96816-F598-41CF-8844-303EDA14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1433116"/>
            <a:ext cx="34956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174349D-3357-44B2-8081-F8080C8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1433116"/>
            <a:ext cx="3425726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6FB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7C8717D-A876-498E-9997-48E4C349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1668066"/>
            <a:ext cx="34956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B845D9E-635F-4A3A-8A5F-4369D7E5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1668066"/>
            <a:ext cx="34956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55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189723A-0CF1-471C-B183-87A82FD3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1903016"/>
            <a:ext cx="34956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7EED076-83FD-409C-A500-E22BA1C6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1903016"/>
            <a:ext cx="2621756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5F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F53D5DC-B101-4183-AA71-79B19493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08 / 18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393AE5A-5F0F-4ABC-A87D-2D7C4D8F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评测集要能诊断，而非模仿训练比例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B58E221-2BEA-4E25-A8FB-456492FA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公开锚点给可比性，困难样本给诊断力，稀缺真实样本尽量全保留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91E7C34-FAE8-428F-9DD8-D19C63CB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25116"/>
            <a:ext cx="5057775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core strict · 753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D63FEA8-7FAF-41E0-824A-223814B2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207691"/>
            <a:ext cx="952500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UOB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59E624F-17AE-44AD-98DC-AFE8803C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8875" y="1207691"/>
            <a:ext cx="457200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193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72678BC-1C77-41A1-8FCE-B66795EA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442641"/>
            <a:ext cx="952500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USPTO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4064869-D214-4021-A779-F5DD81732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8875" y="1442641"/>
            <a:ext cx="457200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196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693837-8FC6-4526-8D73-9E85B7FD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677591"/>
            <a:ext cx="952500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real-world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C6FD38A-7448-4F34-92DB-4EFADD20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8875" y="1677591"/>
            <a:ext cx="457200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214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4158D1F-5C5C-4330-BDC3-8602CB5D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912541"/>
            <a:ext cx="952500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DECIMER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12292D0-634D-4EAA-AD89-15D0E34F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8875" y="1912541"/>
            <a:ext cx="457200" cy="1866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150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2A4495B-5C98-42DF-A1A9-CD409E15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137966"/>
            <a:ext cx="5057775" cy="1679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45"/>
              </a:lnSpc>
              <a:buNone/>
            </a:pPr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目标配额先冻结；QC 后不把拒绝样本放回去凑数。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847665FD-1767-46DF-8F9C-5832873C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1975" y="2523331"/>
            <a:ext cx="6181725" cy="540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0E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Connector 24">
            <a:extLst xmlns:a="http://schemas.openxmlformats.org/drawingml/2006/main">
              <a:ext uri="{FF2B5EF4-FFF2-40B4-BE49-F238E27FC236}">
                <a16:creationId xmlns:a16="http://schemas.microsoft.com/office/drawing/2014/main" id="{468CAA84-8B49-4D9C-B6A6-45D6DA7F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1975" y="2523331"/>
            <a:ext cx="0" cy="540345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3BE2D029-05E0-4562-8A27-0E00C6F2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1975" y="2523331"/>
            <a:ext cx="6181725" cy="5403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为什么不是自然比例？</a:t>
            </a:r>
            <a:br/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评测集是测量仪器。锚点需要足够 N 才能比较，弱域需要足够 N 才能发现回归。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E0DD7E3-2A7B-4A59-B474-8537B29A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V3/evidence/v2_1_eval_qc_summary.json、DATASET_CARD_zh.md</a:t>
            </a:r>
          </a:p>
        </p:txBody>
      </p:sp>
      <p:graphicFrame>
        <p:nvGraphicFramePr>
          <p:cNvPr id="54" name=""/>
          <p:cNvGraphicFramePr/>
          <p:nvPr/>
        </p:nvGraphicFramePr>
        <p:xfrm>
          <a:off xmlns:a="http://schemas.openxmlformats.org/drawingml/2006/main" x="5641943" y="925163"/>
          <a:ext xmlns:a="http://schemas.openxmlformats.org/drawingml/2006/main" cx="6181725" cy="14573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952500"/>
                <a:gridCol w="3800475"/>
              </a:tblGrid>
              <a:tr h="238125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面板</a:t>
                      </a:r>
                    </a:p>
                  </a:txBody>
                  <a:tcPr marL="66675" marR="66675" marT="28575" marB="28575" anchor="ctr">
                    <a:solidFill>
                      <a:srgbClr val="DFE9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通过数</a:t>
                      </a:r>
                    </a:p>
                  </a:txBody>
                  <a:tcPr marL="66675" marR="66675" marT="28575" marB="28575" anchor="ctr">
                    <a:solidFill>
                      <a:srgbClr val="DFE9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独立单位与目的</a:t>
                      </a:r>
                    </a:p>
                  </a:txBody>
                  <a:tcPr marL="66675" marR="66675" marT="28575" marB="28575" anchor="ctr">
                    <a:solidFill>
                      <a:srgbClr val="DFE9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753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分子；printed + 手绘 + 真实场景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region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754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分子；教育/页面区域回归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wild strict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301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 paper_group；论文外推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scaffold novel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134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分子；未见骨架诊断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symbolic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460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文本实例；独立任务</a:t>
                      </a:r>
                    </a:p>
                  </a:txBody>
                  <a:tcPr marL="66675" marR="66675" marT="28575" marB="28575" anchor="ctr">
                    <a:solidFill>
                      <a:srgbClr val="EEF3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99571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A28A255-E31B-41AA-87AE-0CF966E4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217216"/>
            <a:ext cx="3445867" cy="158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Connector 2">
            <a:extLst xmlns:a="http://schemas.openxmlformats.org/drawingml/2006/main">
              <a:ext uri="{FF2B5EF4-FFF2-40B4-BE49-F238E27FC236}">
                <a16:creationId xmlns:a16="http://schemas.microsoft.com/office/drawing/2014/main" id="{2428FBE4-2363-403A-8BDA-4D457381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217216"/>
            <a:ext cx="3445867" cy="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376FB6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0BA8E9-EF4D-4496-BF64-C2867D8F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967" y="1217216"/>
            <a:ext cx="3445966" cy="158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C6AFEB05-B98B-4625-9E80-44A6E206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967" y="1217216"/>
            <a:ext cx="3445966" cy="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B1945A9-7B16-40CD-B950-E0D70A67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734" y="1217216"/>
            <a:ext cx="3445966" cy="158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Connector 6">
            <a:extLst xmlns:a="http://schemas.openxmlformats.org/drawingml/2006/main">
              <a:ext uri="{FF2B5EF4-FFF2-40B4-BE49-F238E27FC236}">
                <a16:creationId xmlns:a16="http://schemas.microsoft.com/office/drawing/2014/main" id="{D33DEE87-EA5D-4398-A4A6-AC78AAC7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734" y="1217216"/>
            <a:ext cx="3445966" cy="0"/>
          </a:xfrm>
          <a:prstGeom xmlns:a="http://schemas.openxmlformats.org/drawingml/2006/main" prst="line">
            <a:avLst/>
          </a:prstGeom>
          <a:ln xmlns:a="http://schemas.openxmlformats.org/drawingml/2006/main" w="4445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5FEA8B0-F359-4F2E-AA34-89BBA833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09 / 18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5040F0F-18CE-4310-9ACD-40BF72FA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把预算花在可回答的问题上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2468431-C5CB-4E57-A4BE-98D870CC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从 V2-1 OCSR 适配模型继续 LoRA，而不是重新教基础模型说 SMILES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8B64133-3A23-4CB7-8D98-E7576409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452166"/>
            <a:ext cx="3141067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PaddleOCR-VL-1.5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32FFEA7-A895-4088-911E-C9E1074A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706166"/>
            <a:ext cx="3141067" cy="342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通用文档 VLM；同预算 warm-start probe 在两个 OCSR</a:t>
            </a:r>
            <a:br/>
            <a:r>
              <a:rPr sz="9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development 面板 exact 均为 0。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C219F69-0834-4163-B7F3-B38CBC01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7667" y="1791891"/>
            <a:ext cx="431800" cy="613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3120"/>
              </a:lnSpc>
              <a:buNone/>
            </a:pPr>
            <a:r>
              <a:rPr sz="2600">
                <a:solidFill>
                  <a:srgbClr val="74818A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CAE6D02-AC17-4FAA-B1A7-BEF78761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5367" y="1452166"/>
            <a:ext cx="3141166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V2-1 OCSR export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6B10048-8FBD-4286-B69A-77126352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5367" y="1706166"/>
            <a:ext cx="3141166" cy="4457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已学会单行 canonical SMILES；固定预算 continuation 宏平均 exact 0.3417。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04DF222-DEDC-425B-B5EE-6E53911D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434" y="1791891"/>
            <a:ext cx="431800" cy="613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3120"/>
              </a:lnSpc>
              <a:buNone/>
            </a:pPr>
            <a:r>
              <a:rPr sz="2600">
                <a:solidFill>
                  <a:srgbClr val="74818A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905FC00-53F0-473E-A385-3A508D48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0134" y="1452166"/>
            <a:ext cx="3141166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V3 LoRA continuation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62495FB-210B-4D37-9F40-61515F9B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0134" y="1706166"/>
            <a:ext cx="3141166" cy="342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低学习率、单卡 H800；同一基座比较数据因素、checkpoint</a:t>
            </a:r>
            <a:br/>
            <a:r>
              <a:rPr sz="9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与后训练。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FBDCB5D-A795-4F66-9C69-45721713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957116"/>
            <a:ext cx="37338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94017CD9-70B4-488E-BFBB-7444B866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957116"/>
            <a:ext cx="37338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C0EA941-4E49-4D52-83F2-A7FD96D2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957116"/>
            <a:ext cx="373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95250" rIns="76200" bIns="50800" anchor="t"/>
          <a:lstStyle xmlns:a="http://schemas.openxmlformats.org/drawingml/2006/main"/>
          <a:p xmlns:a="http://schemas.openxmlformats.org/drawingml/2006/main">
            <a:pPr algn="l">
              <a:lnSpc>
                <a:spcPts val="2000"/>
              </a:lnSpc>
              <a:buNone/>
            </a:pPr>
            <a:r>
              <a:rPr sz="2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LoRA</a:t>
            </a:r>
            <a:br/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减少显存和训练成本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45E75051-E909-49B9-A739-D9C07A36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957116"/>
            <a:ext cx="37338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E706920A-E80E-4DF1-A887-7A453F14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957116"/>
            <a:ext cx="37338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BB84F25-95E3-49A8-A7F1-CD847C3C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957116"/>
            <a:ext cx="373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95250" rIns="76200" bIns="50800" anchor="t"/>
          <a:lstStyle xmlns:a="http://schemas.openxmlformats.org/drawingml/2006/main"/>
          <a:p xmlns:a="http://schemas.openxmlformats.org/drawingml/2006/main">
            <a:pPr algn="l">
              <a:lnSpc>
                <a:spcPts val="2000"/>
              </a:lnSpc>
              <a:buNone/>
            </a:pPr>
            <a:r>
              <a:rPr sz="2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1 目标</a:t>
            </a:r>
            <a:br/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canonical SMILES，不混 chemfig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7875108-D432-4788-A42F-C721D54E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2957116"/>
            <a:ext cx="37338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Connector 25">
            <a:extLst xmlns:a="http://schemas.openxmlformats.org/drawingml/2006/main">
              <a:ext uri="{FF2B5EF4-FFF2-40B4-BE49-F238E27FC236}">
                <a16:creationId xmlns:a16="http://schemas.microsoft.com/office/drawing/2014/main" id="{F0593111-0692-4796-B5CC-7B905638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2957116"/>
            <a:ext cx="37338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2D8A337C-D762-4A80-AE03-242E5236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2957116"/>
            <a:ext cx="373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95250" rIns="76200" bIns="50800" anchor="t"/>
          <a:lstStyle xmlns:a="http://schemas.openxmlformats.org/drawingml/2006/main"/>
          <a:p xmlns:a="http://schemas.openxmlformats.org/drawingml/2006/main">
            <a:pPr algn="l">
              <a:lnSpc>
                <a:spcPts val="2000"/>
              </a:lnSpc>
              <a:buNone/>
            </a:pPr>
            <a:r>
              <a:rPr sz="2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同基座</a:t>
            </a:r>
            <a:br/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让消融只改变一个机制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AD4AB31F-6BCB-447F-9680-AAFF6AFE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V3/configs/*.yaml；环境：Paddle 3.3.1 cu126、Transformers 4.55.4、RDKit 2025.9.6</a:t>
            </a:r>
          </a:p>
        </p:txBody>
      </p:sp>
    </p:spTree>
    <p:extLst>
      <p:ext uri="{BB962C8B-B14F-4D97-AF65-F5344CB8AC3E}">
        <p14:creationId xmlns:p14="http://schemas.microsoft.com/office/powerpoint/2010/main" val="382927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3F2298-1017-4B51-BD1A-0F81A0A97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25116"/>
            <a:ext cx="2362200" cy="11486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0EF"/>
          </a:solidFill>
          <a:ln xmlns:a="http://schemas.openxmlformats.org/drawingml/2006/main" w="12700">
            <a:solidFill>
              <a:srgbClr val="008D9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3FA6A56-5287-433E-8E04-BF5E9B0E9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2100" y="925116"/>
            <a:ext cx="2362200" cy="11486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2BD33FE-5744-4CFA-9E1E-7F7F970A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175371"/>
            <a:ext cx="2362200" cy="11486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C8E619A-EDD2-4C03-96FF-6C9C2BD8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2100" y="2175371"/>
            <a:ext cx="2362200" cy="11486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9DE7802-9946-47E6-B736-3104AA8C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10 / 18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F2607ED-CD69-43C1-B95A-027AA660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2×2 因子设计 · 每格两个 SEED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969AC83-08EB-4A8C-A842-C7366F6B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wild 和离线增强都没有稳定正收益，因此 final 选择最简单的 00 control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F678D6-300D-4B50-9687-88C53345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318816"/>
            <a:ext cx="1122759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88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34.11%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A41D0EC-DF07-4ADF-B8DF-AA7C1E4C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064816"/>
            <a:ext cx="208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00 · control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2B9E16C-2253-41A8-9071-1C346CDE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725216"/>
            <a:ext cx="2082800" cy="1679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45"/>
              </a:lnSpc>
              <a:buNone/>
            </a:pPr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wild off · augmentation off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640E590-38F8-4019-BDF7-C4F67C02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318816"/>
            <a:ext cx="1122759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88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33.28%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8DA2D89-A1BB-40DD-A8BA-327D4336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064816"/>
            <a:ext cx="208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10 · wild only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7807A3D-6778-475E-94F1-3088E0B4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25216"/>
            <a:ext cx="2082800" cy="1679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45"/>
              </a:lnSpc>
              <a:buNone/>
            </a:pPr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wild on · augmentation off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60519E0-9673-449A-A222-C8E4EF5F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69071"/>
            <a:ext cx="1122759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88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33.44%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43DDDA6-B65A-4AC7-904E-A6F4923E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315071"/>
            <a:ext cx="208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01 · aug only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630EC7F-7801-4453-B602-B6D21E1F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975471"/>
            <a:ext cx="2082800" cy="1679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45"/>
              </a:lnSpc>
              <a:buNone/>
            </a:pPr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wild off · augmentation 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5FD5D8E-B5A2-409B-8111-7AC61825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569071"/>
            <a:ext cx="1122759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88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33.91%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D1A1FFC-4B0A-4175-B793-6906136C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315071"/>
            <a:ext cx="208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11 · wild + aug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2300062-F9AE-4E4D-ADBB-E9635070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75471"/>
            <a:ext cx="2082800" cy="1679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45"/>
              </a:lnSpc>
              <a:buNone/>
            </a:pPr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wild on · augmentation on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EA18606-4829-44D7-904F-E5AFEE81B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700" y="1079500"/>
            <a:ext cx="2286000" cy="5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92F2943-65AE-4BB6-90F5-BAFC9795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700" y="1079500"/>
            <a:ext cx="22860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88900" rIns="101600" bIns="88900" anchor="t"/>
          <a:lstStyle xmlns:a="http://schemas.openxmlformats.org/drawingml/2006/main"/>
          <a:p xmlns:a="http://schemas.openxmlformats.org/drawingml/2006/main">
            <a:pPr algn="l">
              <a:lnSpc>
                <a:spcPts val="144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wild 主效应</a:t>
            </a:r>
            <a:br/>
            <a:r>
              <a:rPr sz="1200" b="1">
                <a:solidFill>
                  <a:srgbClr val="E35F49"/>
                </a:solidFill>
                <a:latin typeface="Microsoft YaHei"/>
                <a:ea typeface="Microsoft YaHei"/>
                <a:cs typeface="Microsoft YaHei"/>
              </a:rPr>
              <a:t>−0.182pp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EAD2BD76-7A06-40BF-B1B1-1F3226CF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700" y="1682750"/>
            <a:ext cx="2286000" cy="5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894EAD2-74D8-48DD-B6ED-D247688C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700" y="1682750"/>
            <a:ext cx="22860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88900" rIns="101600" bIns="88900" anchor="t"/>
          <a:lstStyle xmlns:a="http://schemas.openxmlformats.org/drawingml/2006/main"/>
          <a:p xmlns:a="http://schemas.openxmlformats.org/drawingml/2006/main">
            <a:pPr algn="l">
              <a:lnSpc>
                <a:spcPts val="144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augmentation 主效应</a:t>
            </a:r>
            <a:br/>
            <a:r>
              <a:rPr sz="1200" b="1">
                <a:solidFill>
                  <a:srgbClr val="E35F49"/>
                </a:solidFill>
                <a:latin typeface="Microsoft YaHei"/>
                <a:ea typeface="Microsoft YaHei"/>
                <a:cs typeface="Microsoft YaHei"/>
              </a:rPr>
              <a:t>−0.017pp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FB46382-5193-4E43-81E3-0C24953E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700" y="2286000"/>
            <a:ext cx="2286000" cy="5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DD2F48B5-5FBB-4054-812A-87566706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700" y="2286000"/>
            <a:ext cx="22860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88900" rIns="101600" bIns="88900" anchor="t"/>
          <a:lstStyle xmlns:a="http://schemas.openxmlformats.org/drawingml/2006/main"/>
          <a:p xmlns:a="http://schemas.openxmlformats.org/drawingml/2006/main">
            <a:pPr algn="l">
              <a:lnSpc>
                <a:spcPts val="144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交互效应</a:t>
            </a:r>
            <a:br/>
            <a:r>
              <a:rPr sz="1200" b="1">
                <a:solidFill>
                  <a:srgbClr val="247553"/>
                </a:solidFill>
                <a:latin typeface="Microsoft YaHei"/>
                <a:ea typeface="Microsoft YaHei"/>
                <a:cs typeface="Microsoft YaHei"/>
              </a:rPr>
              <a:t>+1.294pp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24EB8A10-5CEE-4711-BA65-C8A428EC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700" y="2889250"/>
            <a:ext cx="2286000" cy="7152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BC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Connector 27">
            <a:extLst xmlns:a="http://schemas.openxmlformats.org/drawingml/2006/main">
              <a:ext uri="{FF2B5EF4-FFF2-40B4-BE49-F238E27FC236}">
                <a16:creationId xmlns:a16="http://schemas.microsoft.com/office/drawing/2014/main" id="{89A0F52F-FD72-46ED-8206-F8D0D115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700" y="2889250"/>
            <a:ext cx="0" cy="715268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A96F0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37B68C4B-6C0A-4FF9-A8E8-1E7B1DF6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7700" y="2889250"/>
            <a:ext cx="2286000" cy="7152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不要过度解读</a:t>
            </a:r>
            <a:br/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两个 seed、顺序未完全平衡；报告效应与 paired CI，不报 ANOVA p 值。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DCAD2D5C-2C77-4E6B-AF0D-681C7BC4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V3/evidence/probe_analysis.json、probe_paired_summary.md</a:t>
            </a:r>
          </a:p>
        </p:txBody>
      </p:sp>
    </p:spTree>
    <p:extLst>
      <p:ext uri="{BB962C8B-B14F-4D97-AF65-F5344CB8AC3E}">
        <p14:creationId xmlns:p14="http://schemas.microsoft.com/office/powerpoint/2010/main" val="5678765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nector 1">
            <a:extLst xmlns:a="http://schemas.openxmlformats.org/drawingml/2006/main">
              <a:ext uri="{FF2B5EF4-FFF2-40B4-BE49-F238E27FC236}">
                <a16:creationId xmlns:a16="http://schemas.microsoft.com/office/drawing/2014/main" id="{43D74779-963F-4A19-B9AD-BF7CBAF4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293666"/>
            <a:ext cx="11455400" cy="0"/>
          </a:xfrm>
          <a:prstGeom xmlns:a="http://schemas.openxmlformats.org/drawingml/2006/main" prst="line">
            <a:avLst/>
          </a:prstGeom>
          <a:ln xmlns:a="http://schemas.openxmlformats.org/drawingml/2006/main" w="6350">
            <a:solidFill>
              <a:srgbClr val="88959D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" name="Connector 2">
            <a:extLst xmlns:a="http://schemas.openxmlformats.org/drawingml/2006/main">
              <a:ext uri="{FF2B5EF4-FFF2-40B4-BE49-F238E27FC236}">
                <a16:creationId xmlns:a16="http://schemas.microsoft.com/office/drawing/2014/main" id="{A7839627-9A29-46FE-8138-82C32A0A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007666"/>
            <a:ext cx="0" cy="2286000"/>
          </a:xfrm>
          <a:prstGeom xmlns:a="http://schemas.openxmlformats.org/drawingml/2006/main" prst="line">
            <a:avLst/>
          </a:prstGeom>
          <a:ln xmlns:a="http://schemas.openxmlformats.org/drawingml/2006/main" w="6350">
            <a:solidFill>
              <a:srgbClr val="88959D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A98A155-B597-476F-93F8-9DA153C9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0" y="1515666"/>
            <a:ext cx="1425079" cy="120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9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4B0061E-39A5-4950-B5D9-67BE9DA4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729" y="1718866"/>
            <a:ext cx="1425178" cy="100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9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3BC9AB4-DE82-453A-AC38-F2EFA657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3707" y="1934766"/>
            <a:ext cx="1425079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9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8AE5763-CBB8-40AD-9E0A-C337EAC8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586" y="1585516"/>
            <a:ext cx="1425178" cy="113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9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7F01C62-6BBA-4BB6-B99F-DB1D5C97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9564" y="1750616"/>
            <a:ext cx="1425079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9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2A04EAA-0B4C-43EC-9301-65B1596C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2443" y="1344216"/>
            <a:ext cx="1425178" cy="137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9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04FDFE0-F6EF-4735-889A-0DAC3434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421" y="1191816"/>
            <a:ext cx="1425079" cy="153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55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C45FC4-132D-4BB0-B1CF-8162EB7E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11 / 18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899CB2D-FDF4-4014-8DCB-7B95D149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不是“最后一步自动最好”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581BA07-CABF-4D22-9F05-AD710FE3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完整评测 7 个 checkpoint 后，1400 step 达到最高 macro exact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E1F2A17-8F48-4991-9F63-984C72A89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0" y="2779316"/>
            <a:ext cx="1425079" cy="3384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34.70%</a:t>
            </a:r>
            <a:r>
              <a:rPr sz="65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step 200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6A6DE41-5A4E-4C48-96B1-E30F1CBE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729" y="2779316"/>
            <a:ext cx="1425178" cy="3384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33.91%</a:t>
            </a:r>
            <a:r>
              <a:rPr sz="65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400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A9022C5-6306-4765-B390-7F88E4A3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3707" y="2779316"/>
            <a:ext cx="1425079" cy="3384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33.05%</a:t>
            </a:r>
            <a:r>
              <a:rPr sz="65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600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6B0C88D-00C4-4B97-B5A4-FF1A8E14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586" y="2779316"/>
            <a:ext cx="1425178" cy="3384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34.44%</a:t>
            </a:r>
            <a:r>
              <a:rPr sz="65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800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7797E8A-4F70-420D-B715-FB689497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9564" y="2779316"/>
            <a:ext cx="1425079" cy="3384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33.78%</a:t>
            </a:r>
            <a:r>
              <a:rPr sz="65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1000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8EC0FF3-3034-46E6-ADD6-A6041F3A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2443" y="2779316"/>
            <a:ext cx="1425178" cy="3384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35.37%</a:t>
            </a:r>
            <a:r>
              <a:rPr sz="65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1200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A485383-D186-468C-8127-94DFD866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421" y="2779316"/>
            <a:ext cx="1425079" cy="3384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96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35.97%</a:t>
            </a:r>
            <a:r>
              <a:rPr sz="65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1400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0E76FB8-A549-4C28-83EA-57AEDDD4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446066"/>
            <a:ext cx="11455400" cy="3654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E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Connector 21">
            <a:extLst xmlns:a="http://schemas.openxmlformats.org/drawingml/2006/main">
              <a:ext uri="{FF2B5EF4-FFF2-40B4-BE49-F238E27FC236}">
                <a16:creationId xmlns:a16="http://schemas.microsoft.com/office/drawing/2014/main" id="{4FE28428-0F46-4A4B-AA6C-35E1D06A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446066"/>
            <a:ext cx="0" cy="36542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D669DB-B420-4479-8BC1-2999BBC3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446066"/>
            <a:ext cx="11455400" cy="511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胜出条件：</a:t>
            </a:r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macro exact 优先，同时要求两个 development 面板的 valid rate 不触发回归闸门；最终选择 checkpoint-1400。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5A04391-830C-4C72-B59D-B6D9D309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final_checkpoint_eval_summary.csv；final_checkpoint_selection.json</a:t>
            </a:r>
          </a:p>
        </p:txBody>
      </p:sp>
    </p:spTree>
    <p:extLst>
      <p:ext uri="{BB962C8B-B14F-4D97-AF65-F5344CB8AC3E}">
        <p14:creationId xmlns:p14="http://schemas.microsoft.com/office/powerpoint/2010/main" val="214731128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BD420F3-5D53-44AC-B7DD-8D0C4DEA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102916"/>
            <a:ext cx="5226050" cy="212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Connector 2">
            <a:extLst xmlns:a="http://schemas.openxmlformats.org/drawingml/2006/main">
              <a:ext uri="{FF2B5EF4-FFF2-40B4-BE49-F238E27FC236}">
                <a16:creationId xmlns:a16="http://schemas.microsoft.com/office/drawing/2014/main" id="{4C495918-C9D3-4579-A4E7-2CDB96EF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102916"/>
            <a:ext cx="5226050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688D0A3-F883-45E0-9778-066D4969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650" y="1102916"/>
            <a:ext cx="5226050" cy="212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1AC4C23B-933D-4DCD-8125-D2093B7C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650" y="1102916"/>
            <a:ext cx="5226050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1E98CC-4929-4A7F-9F1C-F6E50BC9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12 / 18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62BE174-9E27-4825-9027-33C7D56C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后训练不是必然加分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7800AB1-4A59-42D6-A769-99E39727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困难样本再训练看似合理，但对照回退 0.73pp，所以坚决拒绝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762A425-6ED9-4C36-8C0B-BB3EB307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1585516"/>
            <a:ext cx="1122759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88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35.97%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6466527-93C0-41CA-B484-F6EB1B1D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1331516"/>
            <a:ext cx="48704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Final checkpoint-1400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77C89F7-12E6-4726-B833-5D0F09F6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1991916"/>
            <a:ext cx="4870450" cy="2400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22,762 条 control · 1400 steps · min valid 74.63%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930FC7F-1E01-424F-9FD2-CAEA9C58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2277666"/>
            <a:ext cx="4870450" cy="3654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E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DDD47A2C-CDAA-455C-B946-FD92F86F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2277666"/>
            <a:ext cx="0" cy="36542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93F88A3-5ACD-4028-B690-D30A63D6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2277666"/>
            <a:ext cx="4870450" cy="511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保留</a:t>
            </a:r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：更简单、分数更高、validity 更稳。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0ACBD09-8014-4A6F-BF0B-583ED2D5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6750" y="2023666"/>
            <a:ext cx="69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ts val="2040"/>
              </a:lnSpc>
              <a:buNone/>
            </a:pPr>
            <a:r>
              <a:rPr sz="1700" b="1">
                <a:solidFill>
                  <a:srgbClr val="71808A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2AF2D15-7492-4195-9834-249A1ABB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450" y="1585516"/>
            <a:ext cx="1122759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88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35.24%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5BF50B0-8956-48D1-A1BE-011110BE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450" y="1331516"/>
            <a:ext cx="48704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Hard replay continuation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88E094A-E695-4970-99D2-D3E4D453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450" y="1991916"/>
            <a:ext cx="4870450" cy="2400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7,000 条困难样本 · 300 steps · LR 8e-6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585FC78-13B3-402C-BD69-38F04F41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450" y="2277666"/>
            <a:ext cx="4870450" cy="3654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3D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375A7251-250D-490F-8E50-4465A11F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450" y="2277666"/>
            <a:ext cx="0" cy="36542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6AC4095-90E5-4BC9-A28D-53CD08D9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450" y="2277666"/>
            <a:ext cx="4870450" cy="511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拒绝</a:t>
            </a:r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：macro −0.73pp，并伴随 validity 回退。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19197797-1BFB-46EF-9DCB-C930352B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369866"/>
            <a:ext cx="11455400" cy="3654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BC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D8E69157-A0A4-47E2-B5A7-47BBC6DD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369866"/>
            <a:ext cx="0" cy="36542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A96F0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6243AAF-5506-4A16-A421-7D8CDE4D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369866"/>
            <a:ext cx="11455400" cy="511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方法学价值：</a:t>
            </a:r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失败实验也进入报告。它证明“更针对困难样本”不等于“在冻结 development 上更好”。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0324CB4A-CC24-4C05-B28E-231669C5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V3/evidence/final_vs_hard_replay.json；采用门槛：至少 +0.5pp 且无超阈值回归</a:t>
            </a:r>
          </a:p>
        </p:txBody>
      </p:sp>
    </p:spTree>
    <p:extLst>
      <p:ext uri="{BB962C8B-B14F-4D97-AF65-F5344CB8AC3E}">
        <p14:creationId xmlns:p14="http://schemas.microsoft.com/office/powerpoint/2010/main" val="4415924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94A19E3-9603-439E-A23E-88EFCD25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014016"/>
            <a:ext cx="3733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Connector 2">
            <a:extLst xmlns:a="http://schemas.openxmlformats.org/drawingml/2006/main">
              <a:ext uri="{FF2B5EF4-FFF2-40B4-BE49-F238E27FC236}">
                <a16:creationId xmlns:a16="http://schemas.microsoft.com/office/drawing/2014/main" id="{597787FC-AC5A-4396-8D94-2C0BD0E4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014016"/>
            <a:ext cx="3733800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376FB6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74FB063-4225-4BF1-A6B5-AA8A109B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014016"/>
            <a:ext cx="3733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E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DAE8E329-DC36-44CB-A1DD-B10A2F10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014016"/>
            <a:ext cx="3733800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EC4B884-1907-4F50-B08A-789666BB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1014016"/>
            <a:ext cx="3733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Connector 6">
            <a:extLst xmlns:a="http://schemas.openxmlformats.org/drawingml/2006/main">
              <a:ext uri="{FF2B5EF4-FFF2-40B4-BE49-F238E27FC236}">
                <a16:creationId xmlns:a16="http://schemas.microsoft.com/office/drawing/2014/main" id="{2C776AB9-1D43-47AE-8C0B-D2E923FA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1014016"/>
            <a:ext cx="3733800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E659C4A-163D-456C-99A0-6E34E9C5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13 / 18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32663A2-B557-4CF3-AC47-1046B37B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先提高候选召回，再验证选择器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28D315A-DB41-4BE8-9077-57AB4B19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beam 真正提高了命中；chem-light 选择器反而丢掉正确候选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46B1FE8-21BB-442A-B9B9-609295E4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483916"/>
            <a:ext cx="1122759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88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35.97%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0F890B0-294C-4DDC-AB33-C2E1B1AF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29916"/>
            <a:ext cx="345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Greedy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AADE2DB-646F-4CE7-93BF-5BC6860E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890316"/>
            <a:ext cx="3454400" cy="2400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每步只取当前最优 token。快，但没有候选池。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44C65A5-A576-48A5-B21C-328377A9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176066"/>
            <a:ext cx="3454400" cy="1679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45"/>
              </a:lnSpc>
              <a:buNone/>
            </a:pPr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97B1029-A7B7-4C26-8771-5DAE237A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1483916"/>
            <a:ext cx="1122759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88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42.07%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AD9650D-C47D-40AC-AC1D-7C320498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1229916"/>
            <a:ext cx="345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Beam4 / return4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D38F53E-3842-4C6B-BE4B-6124962E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1890316"/>
            <a:ext cx="3454400" cy="2400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+6.10pp</a:t>
            </a:r>
            <a:r>
              <a:rPr sz="9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。两个面板的 cluster bootstrap 95% CI 均高于 0。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AC0E45E-9344-4965-A7B9-81466C4D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176066"/>
            <a:ext cx="3454400" cy="1679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45"/>
              </a:lnSpc>
              <a:buNone/>
            </a:pPr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最终采用 · 单 worker H800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89E336-CA78-4D1C-B512-FDDFE465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83916"/>
            <a:ext cx="1122759" cy="56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880"/>
              </a:lnSpc>
              <a:buNone/>
            </a:pPr>
            <a:r>
              <a:rPr sz="24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39.55%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091900C-7DB2-4C95-B630-FDE883F4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229916"/>
            <a:ext cx="345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Chem-light rerank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E7B981A-0ED9-4D3B-B6BD-2B6BFCCA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90316"/>
            <a:ext cx="3454400" cy="4457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−2.52pp</a:t>
            </a:r>
            <a:r>
              <a:rPr sz="9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 相对原始 beam。启发式选择器过度偏向“看起来合理”。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A401099-984C-4ACD-944C-56B23BF6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47516"/>
            <a:ext cx="3454400" cy="1679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945"/>
              </a:lnSpc>
              <a:buNone/>
            </a:pPr>
            <a:r>
              <a:rPr sz="7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744ED863-B9B8-4B0D-A57D-FAFEE3CD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414316"/>
            <a:ext cx="5638800" cy="540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0E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Connector 23">
            <a:extLst xmlns:a="http://schemas.openxmlformats.org/drawingml/2006/main">
              <a:ext uri="{FF2B5EF4-FFF2-40B4-BE49-F238E27FC236}">
                <a16:creationId xmlns:a16="http://schemas.microsoft.com/office/drawing/2014/main" id="{25CA6989-0EF7-4B51-B591-192A289F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414316"/>
            <a:ext cx="0" cy="540345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6A724C8-48A7-4145-8807-615E4D5E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414316"/>
            <a:ext cx="5638800" cy="5403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core exact Δ 95% CI</a:t>
            </a:r>
            <a:br/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+4.17pp ～ +8.01pp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3D566C1-7135-4D47-B355-1B915E8B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3414316"/>
            <a:ext cx="5638800" cy="540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E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B43FA2D7-7963-42EE-A701-663B9756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3414316"/>
            <a:ext cx="0" cy="540345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6E2A69B-1633-42DE-A3B1-646CBDA5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3414316"/>
            <a:ext cx="5638800" cy="5403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region exact Δ 95% CI</a:t>
            </a:r>
            <a:br/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+4.10pp ～ +8.06pp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A7F27ECA-AB76-41F6-B4D5-41FA57FB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generation_policy_beam_selection.json、generation_policy_selection.json；按 structure_id 聚类 bootstrap</a:t>
            </a:r>
          </a:p>
        </p:txBody>
      </p:sp>
    </p:spTree>
    <p:extLst>
      <p:ext uri="{BB962C8B-B14F-4D97-AF65-F5344CB8AC3E}">
        <p14:creationId xmlns:p14="http://schemas.microsoft.com/office/powerpoint/2010/main" val="8122374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F992693-AC7E-44E6-AB3D-FFFF2FA4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75916"/>
            <a:ext cx="6751241" cy="306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22BAA70-574F-43D8-858B-6134C73A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14 / 18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1890689-02EA-4A35-B452-76447390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全部选择完成后才拆密封卷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0FF6B52-574B-4408-A852-AF5F4D6C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真实论文图仍然很难：主 exact 22.92%，但可解析率达到 84.72%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DC2028D-8CDD-4DD4-8D6A-01B16E42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452166"/>
            <a:ext cx="2011660" cy="10134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5160"/>
              </a:lnSpc>
              <a:buNone/>
            </a:pPr>
            <a:r>
              <a:rPr sz="4300" b="1">
                <a:solidFill>
                  <a:srgbClr val="67D0C8"/>
                </a:solidFill>
                <a:latin typeface="Microsoft YaHei"/>
                <a:ea typeface="Microsoft YaHei"/>
                <a:cs typeface="Microsoft YaHei"/>
              </a:rPr>
              <a:t>22.92%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8E23BE2-B648-4407-A82D-08AC9062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166416"/>
            <a:ext cx="6370241" cy="2400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BEC9CF"/>
                </a:solidFill>
                <a:latin typeface="Microsoft YaHei"/>
                <a:ea typeface="Microsoft YaHei"/>
                <a:cs typeface="Microsoft YaHei"/>
              </a:rPr>
              <a:t>wild strict · 301 图 / 301 分子 / 62 篇论文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A5C1F82-0098-4873-9662-41860637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176066"/>
            <a:ext cx="6370241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canonical exact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4172286-F085-4078-B362-0C312E49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430066"/>
            <a:ext cx="6370241" cy="2400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BEC9CF"/>
                </a:solidFill>
                <a:latin typeface="Microsoft YaHei"/>
                <a:ea typeface="Microsoft YaHei"/>
                <a:cs typeface="Microsoft YaHei"/>
              </a:rPr>
              <a:t>这不是 development 的 42.07%。更低的 locked 分数体现真实论文图、边界污染、特殊键与缩写的域偏移。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C2EBD18-55C1-4291-AFDC-1ECD2DB7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741" y="975916"/>
            <a:ext cx="4500959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BD0F479F-CB03-4E27-8AA6-1EA673AF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741" y="975916"/>
            <a:ext cx="4500959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94FD542-A050-4C5C-9270-6987941E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741" y="975916"/>
            <a:ext cx="4500959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95250" rIns="76200" bIns="50800" anchor="t"/>
          <a:lstStyle xmlns:a="http://schemas.openxmlformats.org/drawingml/2006/main"/>
          <a:p xmlns:a="http://schemas.openxmlformats.org/drawingml/2006/main">
            <a:pPr algn="l">
              <a:lnSpc>
                <a:spcPts val="2000"/>
              </a:lnSpc>
              <a:buNone/>
            </a:pPr>
            <a:r>
              <a:rPr sz="2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84.72%</a:t>
            </a:r>
            <a:br/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wild strict valid SMILES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BB356D5-4016-45A6-B634-3B4FEDE2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741" y="2030016"/>
            <a:ext cx="4500959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Connector 13">
            <a:extLst xmlns:a="http://schemas.openxmlformats.org/drawingml/2006/main">
              <a:ext uri="{FF2B5EF4-FFF2-40B4-BE49-F238E27FC236}">
                <a16:creationId xmlns:a16="http://schemas.microsoft.com/office/drawing/2014/main" id="{5E7184DC-44A7-42C6-BF0D-5D3ECF9C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741" y="2030016"/>
            <a:ext cx="4500959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F503E45-7CEB-4E8F-9599-C026361A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741" y="2030016"/>
            <a:ext cx="4500959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95250" rIns="76200" bIns="50800" anchor="t"/>
          <a:lstStyle xmlns:a="http://schemas.openxmlformats.org/drawingml/2006/main"/>
          <a:p xmlns:a="http://schemas.openxmlformats.org/drawingml/2006/main">
            <a:pPr algn="l">
              <a:lnSpc>
                <a:spcPts val="2000"/>
              </a:lnSpc>
              <a:buNone/>
            </a:pPr>
            <a:r>
              <a:rPr sz="2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13.43%</a:t>
            </a:r>
            <a:br/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134 个 scaffold-novel exact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AB2180E-C9A3-4088-8548-C6FF458A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741" y="3084116"/>
            <a:ext cx="4500959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B3B9BDAE-2C09-4CDF-BC4A-20449D96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741" y="3084116"/>
            <a:ext cx="4500959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A96F0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B0A4F79-DF59-4137-B629-BC7B7071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741" y="3084116"/>
            <a:ext cx="4500959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95250" rIns="76200" bIns="50800" anchor="t"/>
          <a:lstStyle xmlns:a="http://schemas.openxmlformats.org/drawingml/2006/main"/>
          <a:p xmlns:a="http://schemas.openxmlformats.org/drawingml/2006/main">
            <a:pPr algn="l">
              <a:lnSpc>
                <a:spcPts val="2000"/>
              </a:lnSpc>
              <a:buNone/>
            </a:pPr>
            <a:r>
              <a:rPr sz="20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75.37%</a:t>
            </a:r>
            <a:br/>
            <a:r>
              <a:rPr sz="800">
                <a:solidFill>
                  <a:srgbClr val="52606B"/>
                </a:solidFill>
                <a:latin typeface="Microsoft YaHei"/>
                <a:ea typeface="Microsoft YaHei"/>
                <a:cs typeface="Microsoft YaHei"/>
              </a:rPr>
              <a:t>scaffold-novel valid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A17003F-89ED-419F-BD20-26CED7A4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4150916"/>
            <a:ext cx="11455400" cy="3654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3D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710D4BCC-5B5A-4E49-9717-F8EE40CC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4150916"/>
            <a:ext cx="0" cy="36542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E35F49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6754EC1-9583-45C4-8098-C6A17656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4150916"/>
            <a:ext cx="11455400" cy="511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symbolic 轨道：</a:t>
            </a:r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460 条 whitespace-normalized exact 0%，nonempty 100%。模型会输出文字，但没有学会 R-group/symbolic；不混入 canonical 主分数。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DC5F548-6717-4458-A12E-9FB3A98B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V3/eval_runs_locked/20260719_000225；V3/evidence/FINAL_RESULTS.json</a:t>
            </a:r>
          </a:p>
        </p:txBody>
      </p:sp>
    </p:spTree>
    <p:extLst>
      <p:ext uri="{BB962C8B-B14F-4D97-AF65-F5344CB8AC3E}">
        <p14:creationId xmlns:p14="http://schemas.microsoft.com/office/powerpoint/2010/main" val="69013837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680631F-00C5-4F12-B4DE-D05CFD10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12416"/>
            <a:ext cx="11455400" cy="172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941659E-89E1-4F5A-B9A5-92E8CEA1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15 / 18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294D1D3-1012-45B4-B010-F3A5D479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一个数字不能回答所有问题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4E02A8-8DCF-4D50-87D1-6C9154A5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Exact、Valid、相似度和 scaffold 分别回答“对不对、能不能用、错多远、会不会外推”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CF61BEB-4BC5-4031-847D-51BB21DB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753916"/>
            <a:ext cx="5638800" cy="540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0E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CE9B479C-E3E6-433E-A71B-E35025B0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753916"/>
            <a:ext cx="0" cy="540345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008D9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8C9066F-4BFC-4CC8-877C-6EC1EED6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753916"/>
            <a:ext cx="5638800" cy="5403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图像 N ≠ 独立 N</a:t>
            </a:r>
            <a:br/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同一结构多视角按 structure_id 聚类；论文图按 paper_group 聚类。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305D6A4-8FB6-45DD-A32E-19FFAAB2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753916"/>
            <a:ext cx="5638800" cy="540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BC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Connector 21">
            <a:extLst xmlns:a="http://schemas.openxmlformats.org/drawingml/2006/main">
              <a:ext uri="{FF2B5EF4-FFF2-40B4-BE49-F238E27FC236}">
                <a16:creationId xmlns:a16="http://schemas.microsoft.com/office/drawing/2014/main" id="{436E4966-AE95-46A8-BEB2-AF675E2F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753916"/>
            <a:ext cx="0" cy="540345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A96F0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7FEE9D5-50A5-4816-8C56-C51B3F01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753916"/>
            <a:ext cx="5638800" cy="5403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development ≠ unseen</a:t>
            </a:r>
            <a:br/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42.07% 是选 decoder 的模拟题；22.92% 才是 locked 论文图结果。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379BBC2-F4F3-4441-8FDC-A2DFE443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V3/runbooks/EVALUATION_PROTOCOL_zh.md、ABLATION_PROTOCOL_zh.md</a:t>
            </a:r>
          </a:p>
        </p:txBody>
      </p:sp>
      <p:graphicFrame>
        <p:nvGraphicFramePr>
          <p:cNvPr id="37" name=""/>
          <p:cNvGraphicFramePr/>
          <p:nvPr/>
        </p:nvGraphicFramePr>
        <p:xfrm>
          <a:off xmlns:a="http://schemas.openxmlformats.org/drawingml/2006/main" x="368332" y="912400"/>
          <a:ext xmlns:a="http://schemas.openxmlformats.org/drawingml/2006/main" cx="11455432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2095500"/>
                <a:gridCol w="2476500"/>
                <a:gridCol w="5359432"/>
              </a:tblGrid>
              <a:tr h="3048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85725" marR="85725" marT="47625" marB="47625" anchor="ctr">
                    <a:solidFill>
                      <a:srgbClr val="DFE9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回答的问题</a:t>
                      </a:r>
                    </a:p>
                  </a:txBody>
                  <a:tcPr marL="85725" marR="85725" marT="47625" marB="47625" anchor="ctr">
                    <a:solidFill>
                      <a:srgbClr val="DFE9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不能替代什么</a:t>
                      </a:r>
                    </a:p>
                  </a:txBody>
                  <a:tcPr marL="85725" marR="85725" marT="47625" marB="47625" anchor="ctr">
                    <a:solidFill>
                      <a:srgbClr val="DFE9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 用法</a:t>
                      </a:r>
                    </a:p>
                  </a:txBody>
                  <a:tcPr marL="85725" marR="85725" marT="47625" marB="47625" anchor="ctr">
                    <a:solidFill>
                      <a:srgbClr val="DFE9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Canonical exact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结构是否完全正确？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不能由 valid / Tanimoto 替代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主指标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Valid SMILES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RDKit 能否解析？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语法合法不等于结构正确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采用闸门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Token F1 / Tanimoto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错误离真值多远？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不能当完全命中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错误诊断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Scaffold-novel exact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未见骨架能否泛化？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不能代表全部真实域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locked 诊断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Paired cluster CI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净变化是否稳定？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不能替代训练 seed 不确定性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beam 对照</a:t>
                      </a:r>
                    </a:p>
                  </a:txBody>
                  <a:tcPr marL="85725" marR="85725" marT="47625" marB="47625" anchor="ctr">
                    <a:solidFill>
                      <a:srgbClr val="EEF3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00396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50EFF9A-C7DF-4742-A023-D80C9330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50516"/>
            <a:ext cx="5638800" cy="260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834E32D-659C-4B4B-BFF5-F42456B2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950516"/>
            <a:ext cx="5638800" cy="260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B9BC568-5E5F-4CB1-B72F-D2242B19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16 / 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8CE649-0993-43A8-8673-C9E19B16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可信发布不仅是上传权重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8A2CF9D-C485-46E3-93EE-602F2E82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代码和派生权重用 Apache-2.0；训练原图按上游许可隔离，不统一“洗成开源”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7950B10-C745-4D5A-B255-ADDB5CEB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115616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许可证与数据边界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A67419C-EB12-4103-AAB0-5B39CBF8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7716"/>
            <a:ext cx="5207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基础模型：</a:t>
            </a: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PaddleOCR-VL-1.5，Apache-2.0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296446B-B903-43E0-A9B3-FEB61E83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0916"/>
            <a:ext cx="5207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项目代码/派生权重：</a:t>
            </a: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Apache-2.0 + NOTICE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2A16F3B-BCA6-4B86-BFE6-709F39A0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14116"/>
            <a:ext cx="5207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UOB/USPTO 分发仓：</a:t>
            </a: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OCSR_Review，MIT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53246CD-5250-4F77-86CD-19B4955F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7316"/>
            <a:ext cx="5207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MolRecBench-Wild：</a:t>
            </a: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2E0C9CE-AB92-43C8-BCD1-0D399990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0516"/>
            <a:ext cx="5207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MolGrapher/USPTO-30K：</a:t>
            </a: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数据卡未声明独立许可证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86E94E-633A-4304-929F-CA5355DB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23716"/>
            <a:ext cx="5207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策略：</a:t>
            </a: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不在公共仓重新分发训练原图/JSONL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F0BCC53-7EB3-41A2-8291-4416BAE3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1115616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人工审核与证据边界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1A44FF2-E0A0-43F6-9242-81AFF8CA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1407716"/>
            <a:ext cx="5207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项目所有者确认 legacy、wild strict、symbolic 已完成离线审核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FA9EFDC-89EE-4A84-9471-9EF6B496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1610916"/>
            <a:ext cx="5207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冻结四个 labels SHA256；清单变化则声明失效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25AEF7E-CE24-4EC6-B421-15226A57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1814116"/>
            <a:ext cx="5207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未报告审核后剔除或标签修订，指标无需重算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516BB66-5303-4D89-B65A-E3FC3A34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2017316"/>
            <a:ext cx="5207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公开 owner attestation；不虚构姓名、签名或逐样本决定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7C25F81-C434-4FC9-80D4-9EA0210C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2220516"/>
            <a:ext cx="52070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private photo 仍为 0，不把算法退化写成实拍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D94CE84-1900-4216-ADE6-9C6F9C1C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DATA_LICENSES_AND_ATTRIBUTION_zh.md；qc/manual_review_attestation.json</a:t>
            </a:r>
          </a:p>
        </p:txBody>
      </p:sp>
    </p:spTree>
    <p:extLst>
      <p:ext uri="{BB962C8B-B14F-4D97-AF65-F5344CB8AC3E}">
        <p14:creationId xmlns:p14="http://schemas.microsoft.com/office/powerpoint/2010/main" val="63814700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B17C063-68D4-47A3-A64C-A6E64276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912416"/>
            <a:ext cx="56388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FB118A3-EE7E-4AB9-A57C-36DEF7C3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17 / 18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4B2929F-227B-4688-A655-73803A5C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266700"/>
            <a:ext cx="11455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结果必须能追到文件和 HASH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EBBAD39-6741-43DB-A8DC-FC1C8C13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508000"/>
            <a:ext cx="11455400" cy="3883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85"/>
              </a:lnSpc>
              <a:buNone/>
            </a:pPr>
            <a:r>
              <a:rPr sz="190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模型、数据、环境、选择规则和失败实验都进入同一条可复现证据链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4A8706A-670D-42EC-B78D-80E8F1A5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12416"/>
            <a:ext cx="56388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A28121D-9A14-4029-8743-178C7041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912416"/>
            <a:ext cx="5638800" cy="2171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52400" tIns="152400" rIns="152400" bIns="152400" anchor="t"/>
          <a:lstStyle xmlns:a="http://schemas.openxmlformats.org/drawingml/2006/main"/>
          <a:p xmlns:a="http://schemas.openxmlformats.org/drawingml/2006/main">
            <a:pPr algn="l">
              <a:lnSpc>
                <a:spcPts val="1162"/>
              </a:lnSpc>
              <a:buNone/>
            </a:pPr>
            <a:r>
              <a:rPr sz="750">
                <a:solidFill>
                  <a:srgbClr val="D6EEE9"/>
                </a:solidFill>
                <a:latin typeface="Consolas"/>
                <a:ea typeface="Consolas"/>
                <a:cs typeface="Consolas"/>
              </a:rPr>
              <a:t>H800 PCIe 80GB · single GPU</a:t>
            </a:r>
            <a:br/>
            <a:r>
              <a:rPr sz="750">
                <a:solidFill>
                  <a:srgbClr val="D6EEE9"/>
                </a:solidFill>
                <a:latin typeface="Consolas"/>
                <a:ea typeface="Consolas"/>
                <a:cs typeface="Consolas"/>
              </a:rPr>
              <a:t>PaddlePaddle GPU 3.3.1 cu126</a:t>
            </a:r>
            <a:br/>
            <a:r>
              <a:rPr sz="750">
                <a:solidFill>
                  <a:srgbClr val="D6EEE9"/>
                </a:solidFill>
                <a:latin typeface="Consolas"/>
                <a:ea typeface="Consolas"/>
                <a:cs typeface="Consolas"/>
              </a:rPr>
              <a:t>PaddleFormers e51f911c...</a:t>
            </a:r>
            <a:br/>
            <a:r>
              <a:rPr sz="750">
                <a:solidFill>
                  <a:srgbClr val="D6EEE9"/>
                </a:solidFill>
                <a:latin typeface="Consolas"/>
                <a:ea typeface="Consolas"/>
                <a:cs typeface="Consolas"/>
              </a:rPr>
              <a:t>Transformers 4.55.4</a:t>
            </a:r>
            <a:br/>
            <a:r>
              <a:rPr sz="750">
                <a:solidFill>
                  <a:srgbClr val="D6EEE9"/>
                </a:solidFill>
                <a:latin typeface="Consolas"/>
                <a:ea typeface="Consolas"/>
                <a:cs typeface="Consolas"/>
              </a:rPr>
              <a:t>RDKit 2025.9.6</a:t>
            </a:r>
            <a:br/>
            <a:br/>
            <a:r>
              <a:rPr sz="750">
                <a:solidFill>
                  <a:srgbClr val="D6EEE9"/>
                </a:solidFill>
                <a:latin typeface="Consolas"/>
                <a:ea typeface="Consolas"/>
                <a:cs typeface="Consolas"/>
              </a:rPr>
              <a:t>final: checkpoint-1400</a:t>
            </a:r>
            <a:br/>
            <a:r>
              <a:rPr sz="750">
                <a:solidFill>
                  <a:srgbClr val="D6EEE9"/>
                </a:solidFill>
                <a:latin typeface="Consolas"/>
                <a:ea typeface="Consolas"/>
                <a:cs typeface="Consolas"/>
              </a:rPr>
              <a:t>model SHA256:</a:t>
            </a:r>
            <a:br/>
            <a:r>
              <a:rPr sz="750">
                <a:solidFill>
                  <a:srgbClr val="D6EEE9"/>
                </a:solidFill>
                <a:latin typeface="Consolas"/>
                <a:ea typeface="Consolas"/>
                <a:cs typeface="Consolas"/>
              </a:rPr>
              <a:t>2a7ac278677ff56379e...</a:t>
            </a:r>
            <a:br/>
            <a:br/>
            <a:r>
              <a:rPr sz="750">
                <a:solidFill>
                  <a:srgbClr val="D6EEE9"/>
                </a:solidFill>
                <a:latin typeface="Consolas"/>
                <a:ea typeface="Consolas"/>
                <a:cs typeface="Consolas"/>
              </a:rPr>
              <a:t>local tests: 29 / 29 passed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79387DCB-FE62-47C7-8454-24263FE7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211116"/>
            <a:ext cx="11455400" cy="3654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E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DA264A48-4A53-4CB5-9163-11FE6DAB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211116"/>
            <a:ext cx="0" cy="365423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475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E24D391-019F-4744-80F3-83D6A362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211116"/>
            <a:ext cx="11455400" cy="511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20650" tIns="95250" rIns="120650" bIns="95250" anchor="t"/>
          <a:lstStyle xmlns:a="http://schemas.openxmlformats.org/drawingml/2006/main"/>
          <a:p xmlns:a="http://schemas.openxmlformats.org/drawingml/2006/main">
            <a:pPr algn="l">
              <a:lnSpc>
                <a:spcPts val="1378"/>
              </a:lnSpc>
              <a:buNone/>
            </a:pPr>
            <a:r>
              <a:rPr sz="950" b="1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复现目标：</a:t>
            </a:r>
            <a:r>
              <a:rPr sz="950">
                <a:solidFill>
                  <a:srgbClr val="101418"/>
                </a:solidFill>
                <a:latin typeface="Microsoft YaHei"/>
                <a:ea typeface="Microsoft YaHei"/>
                <a:cs typeface="Microsoft YaHei"/>
              </a:rPr>
              <a:t>别人不需要相信 PPT，只需沿 JSON/CSV/config/log/hash 重新得到同一个结论。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25FCDF9-CB27-4214-8A4A-50B94C74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66737C"/>
                </a:solidFill>
                <a:latin typeface="Microsoft YaHei"/>
                <a:ea typeface="Microsoft YaHei"/>
                <a:cs typeface="Microsoft YaHei"/>
              </a:rPr>
              <a:t>V3/evidence/LOCAL_DELIVERY_AUDIT.json；V3/evidence/runtime/</a:t>
            </a:r>
          </a:p>
        </p:txBody>
      </p:sp>
      <p:graphicFrame>
        <p:nvGraphicFramePr>
          <p:cNvPr id="37" name=""/>
          <p:cNvGraphicFramePr/>
          <p:nvPr/>
        </p:nvGraphicFramePr>
        <p:xfrm>
          <a:off xmlns:a="http://schemas.openxmlformats.org/drawingml/2006/main" x="6184868" y="912400"/>
          <a:ext xmlns:a="http://schemas.openxmlformats.org/drawingml/2006/main" cx="5638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38300"/>
                <a:gridCol w="4000500"/>
              </a:tblGrid>
              <a:tr h="310243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事实总表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evidence/FINAL_RESULTS.json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</a:tr>
              <a:tr h="310243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数据构建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dataset_build_report.json + mixture_counts.csv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</a:tr>
              <a:tr h="310243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 checkpoint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final_checkpoint_selection.json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</a:tr>
              <a:tr h="310243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后训练取舍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final_vs_hard_replay.json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</a:tr>
              <a:tr h="310243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decoder 取舍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generation_policy_*selection.json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</a:tr>
              <a:tr h="310243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locked 冻结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locked_test_manifest.sha256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</a:tr>
              <a:tr h="310243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0141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发布完整性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52606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SHA256SUMS + Apache-2.0 + NOTICE</a:t>
                      </a:r>
                    </a:p>
                  </a:txBody>
                  <a:tcPr marL="95250" marR="95250" marT="47625" marB="47625" anchor="ctr">
                    <a:solidFill>
                      <a:srgbClr val="EEF3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471563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014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466F0EC-73BE-49F4-9AD9-107E3018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803400"/>
            <a:ext cx="2413000" cy="205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BD1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457382B-AB5B-487E-8BCD-EB04F94C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4555" y="285750"/>
            <a:ext cx="299145" cy="168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840"/>
              </a:lnSpc>
              <a:buNone/>
            </a:pPr>
            <a:r>
              <a:rPr sz="700">
                <a:solidFill>
                  <a:srgbClr val="859099"/>
                </a:solidFill>
                <a:latin typeface="Microsoft YaHei"/>
                <a:ea typeface="Microsoft YaHei"/>
                <a:cs typeface="Microsoft YaHei"/>
              </a:rPr>
              <a:t>18 / 18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2824AA8-C30C-4A50-9BEA-B0C7D0CC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591568"/>
            <a:ext cx="8788400" cy="21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200"/>
              </a:lnSpc>
              <a:buNone/>
            </a:pPr>
            <a:r>
              <a:rPr sz="800" b="1">
                <a:solidFill>
                  <a:srgbClr val="6BD1D0"/>
                </a:solidFill>
                <a:latin typeface="Microsoft YaHei"/>
                <a:ea typeface="Microsoft YaHei"/>
                <a:cs typeface="Microsoft YaHei"/>
              </a:rPr>
              <a:t>最终结论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C6074F8-FC9A-4AD5-A2AC-8606D7C9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1832868"/>
            <a:ext cx="8788400" cy="127545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3348"/>
              </a:lnSpc>
              <a:buNone/>
            </a:pPr>
            <a:r>
              <a:rPr sz="3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真正可信的优化，</a:t>
            </a:r>
            <a:br/>
            <a:r>
              <a:rPr sz="3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不是“做得更多”，</a:t>
            </a:r>
            <a:br/>
            <a:r>
              <a:rPr sz="3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而是</a:t>
            </a:r>
            <a:r>
              <a:rPr sz="3100" b="1">
                <a:solidFill>
                  <a:srgbClr val="008D91"/>
                </a:solidFill>
                <a:latin typeface="Microsoft YaHei"/>
                <a:ea typeface="Microsoft YaHei"/>
                <a:cs typeface="Microsoft YaHei"/>
              </a:rPr>
              <a:t>每一步都能被拒绝</a:t>
            </a:r>
            <a:r>
              <a:rPr sz="3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ECC36B6-A5E9-4B42-8000-7D1A1B6D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3235325"/>
            <a:ext cx="5969000" cy="598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812"/>
              </a:lnSpc>
              <a:buNone/>
            </a:pPr>
            <a:r>
              <a:rPr sz="1250">
                <a:solidFill>
                  <a:srgbClr val="C9D2D8"/>
                </a:solidFill>
                <a:latin typeface="Microsoft YaHei"/>
                <a:ea typeface="Microsoft YaHei"/>
                <a:cs typeface="Microsoft YaHei"/>
              </a:rPr>
              <a:t>00 control 胜出、checkpoint-1400 胜出、hard replay 被拒、beam 被采用、chem-light 被拒；最后才用 locked test 回答泛化。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06CDB6A-54D6-4501-A72B-0981BE06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7550" y="1955800"/>
            <a:ext cx="2019300" cy="488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2100" b="1">
                <a:solidFill>
                  <a:srgbClr val="6BD1D0"/>
                </a:solidFill>
                <a:latin typeface="Microsoft YaHei"/>
                <a:ea typeface="Microsoft YaHei"/>
                <a:cs typeface="Microsoft YaHei"/>
              </a:rPr>
              <a:t>42.07%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7AAEC65-4A7A-4DDF-AE5C-AB303722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7550" y="2508250"/>
            <a:ext cx="2019300" cy="488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2100" b="1">
                <a:solidFill>
                  <a:srgbClr val="6BD1D0"/>
                </a:solidFill>
                <a:latin typeface="Microsoft YaHei"/>
                <a:ea typeface="Microsoft YaHei"/>
                <a:cs typeface="Microsoft YaHei"/>
              </a:rPr>
              <a:t>22.92%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78ABE8-DAF4-465F-8244-A61434E7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7550" y="3060700"/>
            <a:ext cx="2019300" cy="488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2100" b="1">
                <a:solidFill>
                  <a:srgbClr val="6BD1D0"/>
                </a:solidFill>
                <a:latin typeface="Microsoft YaHei"/>
                <a:ea typeface="Microsoft YaHei"/>
                <a:cs typeface="Microsoft YaHei"/>
              </a:rPr>
              <a:t>84.72%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4620345-C9AA-47B3-BE98-B32DF000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7550" y="2266950"/>
            <a:ext cx="2019300" cy="2400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development beam macro exact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8C5A3CD-62B0-49DE-AFD8-1E7E2154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7550" y="2819400"/>
            <a:ext cx="2019300" cy="2400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locked wild strict exact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DF7C191-AAD3-4A82-9EB7-DB4EEFAA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7550" y="3371850"/>
            <a:ext cx="2019300" cy="2400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locked valid SMILES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06ABB17-02B4-40C0-A8DC-91BF3260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00" y="6578600"/>
            <a:ext cx="1145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ts val="750"/>
              </a:lnSpc>
              <a:buNone/>
            </a:pPr>
            <a:r>
              <a:rPr sz="600">
                <a:solidFill>
                  <a:srgbClr val="85949C"/>
                </a:solidFill>
                <a:latin typeface="Microsoft YaHei"/>
                <a:ea typeface="Microsoft YaHei"/>
                <a:cs typeface="Microsoft YaHei"/>
              </a:rPr>
              <a:t>GitHub: github.com/2658183739/-PaddleOCR-VL-1.5-OCSR · HF: huggingface.co/L2658183739/PaddleOCR-VL-1.5-OCSR</a:t>
            </a:r>
          </a:p>
        </p:txBody>
      </p:sp>
    </p:spTree>
    <p:extLst>
      <p:ext uri="{BB962C8B-B14F-4D97-AF65-F5344CB8AC3E}">
        <p14:creationId xmlns:p14="http://schemas.microsoft.com/office/powerpoint/2010/main" val="44456811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2026-07-19T03:40:10.9410000Z</dcterms:created>
  <dcterms:modified xsi:type="dcterms:W3CDTF">2026-07-19T03:40:10.9410000Z</dcterms:modified>
</coreProperties>
</file>