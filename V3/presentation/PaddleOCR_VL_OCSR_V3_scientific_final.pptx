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a08f8de97e4ef2" /><Relationship Type="http://schemas.openxmlformats.org/officeDocument/2006/relationships/extended-properties" Target="/docProps/app.xml" Id="R925079b4c3a34497" /><Relationship Type="http://schemas.openxmlformats.org/officeDocument/2006/relationships/officeDocument" Target="/ppt/presentation.xml" Id="Rb9e6d6338702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0203bbef44c66"/>
  </p:sldMasterIdLst>
  <p:notesMasterIdLst>
    <p:notesMasterId xmlns:r="http://schemas.openxmlformats.org/officeDocument/2006/relationships" r:id="Rbde10ab85f704235"/>
  </p:notesMasterIdLst>
  <p:sldIdLst>
    <p:sldId xmlns:r="http://schemas.openxmlformats.org/officeDocument/2006/relationships" id="256" r:id="Ree3f4994a46b411b"/>
    <p:sldId xmlns:r="http://schemas.openxmlformats.org/officeDocument/2006/relationships" id="257" r:id="R7192a74b1abc4051"/>
    <p:sldId xmlns:r="http://schemas.openxmlformats.org/officeDocument/2006/relationships" id="258" r:id="R9775f40d6c7c4b7a"/>
    <p:sldId xmlns:r="http://schemas.openxmlformats.org/officeDocument/2006/relationships" id="259" r:id="R8d12071f813c4d63"/>
    <p:sldId xmlns:r="http://schemas.openxmlformats.org/officeDocument/2006/relationships" id="260" r:id="Rd19d433247a84646"/>
    <p:sldId xmlns:r="http://schemas.openxmlformats.org/officeDocument/2006/relationships" id="261" r:id="Ra74cf3ebcbce4df2"/>
    <p:sldId xmlns:r="http://schemas.openxmlformats.org/officeDocument/2006/relationships" id="262" r:id="R1bca766a9b9047e8"/>
    <p:sldId xmlns:r="http://schemas.openxmlformats.org/officeDocument/2006/relationships" id="263" r:id="Rba51cd893b944d7a"/>
    <p:sldId xmlns:r="http://schemas.openxmlformats.org/officeDocument/2006/relationships" id="264" r:id="R702cce9149374d2b"/>
    <p:sldId xmlns:r="http://schemas.openxmlformats.org/officeDocument/2006/relationships" id="265" r:id="Rde1b8b6c8ff846e3"/>
    <p:sldId xmlns:r="http://schemas.openxmlformats.org/officeDocument/2006/relationships" id="266" r:id="R7a3bba7ed9884a85"/>
    <p:sldId xmlns:r="http://schemas.openxmlformats.org/officeDocument/2006/relationships" id="267" r:id="R186458bbcf6d4864"/>
    <p:sldId xmlns:r="http://schemas.openxmlformats.org/officeDocument/2006/relationships" id="268" r:id="R420d3e75acbf4292"/>
    <p:sldId xmlns:r="http://schemas.openxmlformats.org/officeDocument/2006/relationships" id="269" r:id="R63c9a19729fd41a3"/>
    <p:sldId xmlns:r="http://schemas.openxmlformats.org/officeDocument/2006/relationships" id="270" r:id="Rc51805035af64cc2"/>
    <p:sldId xmlns:r="http://schemas.openxmlformats.org/officeDocument/2006/relationships" id="271" r:id="Rad652ce656a245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9531b5f39b4b96" /><Relationship Type="http://schemas.openxmlformats.org/officeDocument/2006/relationships/slideMaster" Target="/ppt/slideMasters/slideMaster1.xml" Id="R03c0203bbef44c66" /><Relationship Type="http://schemas.openxmlformats.org/officeDocument/2006/relationships/notesMaster" Target="/ppt/notesMasters/notesMaster1.xml" Id="Rbde10ab85f704235" /><Relationship Type="http://schemas.openxmlformats.org/officeDocument/2006/relationships/presProps" Target="/ppt/presProps.xml" Id="R7d254ced312e44df" /><Relationship Type="http://schemas.openxmlformats.org/officeDocument/2006/relationships/tableStyles" Target="/ppt/tableStyles.xml" Id="R17c8770bf85d4510" /><Relationship Type="http://schemas.openxmlformats.org/officeDocument/2006/relationships/slide" Target="/ppt/slides/slide1.xml" Id="Ree3f4994a46b411b" /><Relationship Type="http://schemas.openxmlformats.org/officeDocument/2006/relationships/slide" Target="/ppt/slides/slide2.xml" Id="R7192a74b1abc4051" /><Relationship Type="http://schemas.openxmlformats.org/officeDocument/2006/relationships/slide" Target="/ppt/slides/slide3.xml" Id="R9775f40d6c7c4b7a" /><Relationship Type="http://schemas.openxmlformats.org/officeDocument/2006/relationships/slide" Target="/ppt/slides/slide4.xml" Id="R8d12071f813c4d63" /><Relationship Type="http://schemas.openxmlformats.org/officeDocument/2006/relationships/slide" Target="/ppt/slides/slide5.xml" Id="Rd19d433247a84646" /><Relationship Type="http://schemas.openxmlformats.org/officeDocument/2006/relationships/slide" Target="/ppt/slides/slide6.xml" Id="Ra74cf3ebcbce4df2" /><Relationship Type="http://schemas.openxmlformats.org/officeDocument/2006/relationships/slide" Target="/ppt/slides/slide7.xml" Id="R1bca766a9b9047e8" /><Relationship Type="http://schemas.openxmlformats.org/officeDocument/2006/relationships/slide" Target="/ppt/slides/slide8.xml" Id="Rba51cd893b944d7a" /><Relationship Type="http://schemas.openxmlformats.org/officeDocument/2006/relationships/slide" Target="/ppt/slides/slide9.xml" Id="R702cce9149374d2b" /><Relationship Type="http://schemas.openxmlformats.org/officeDocument/2006/relationships/slide" Target="/ppt/slides/slide10.xml" Id="Rde1b8b6c8ff846e3" /><Relationship Type="http://schemas.openxmlformats.org/officeDocument/2006/relationships/slide" Target="/ppt/slides/slide11.xml" Id="R7a3bba7ed9884a85" /><Relationship Type="http://schemas.openxmlformats.org/officeDocument/2006/relationships/slide" Target="/ppt/slides/slide12.xml" Id="R186458bbcf6d4864" /><Relationship Type="http://schemas.openxmlformats.org/officeDocument/2006/relationships/slide" Target="/ppt/slides/slide13.xml" Id="R420d3e75acbf4292" /><Relationship Type="http://schemas.openxmlformats.org/officeDocument/2006/relationships/slide" Target="/ppt/slides/slide14.xml" Id="R63c9a19729fd41a3" /><Relationship Type="http://schemas.openxmlformats.org/officeDocument/2006/relationships/slide" Target="/ppt/slides/slide15.xml" Id="Rc51805035af64cc2" /><Relationship Type="http://schemas.openxmlformats.org/officeDocument/2006/relationships/slide" Target="/ppt/slides/slide16.xml" Id="Rad652ce656a245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ab33bf555a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bdefd8bfe457c" /><Relationship Type="http://schemas.openxmlformats.org/officeDocument/2006/relationships/notesMaster" Target="/ppt/notesMasters/notesMaster1.xml" Id="R2338e178ca6a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0f29c359a4e77" /><Relationship Type="http://schemas.openxmlformats.org/officeDocument/2006/relationships/notesMaster" Target="/ppt/notesMasters/notesMaster1.xml" Id="R5e7b04816f05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829ed36044b0e" /><Relationship Type="http://schemas.openxmlformats.org/officeDocument/2006/relationships/notesMaster" Target="/ppt/notesMasters/notesMaster1.xml" Id="R3f125fbdebf8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1484066e22465a" /><Relationship Type="http://schemas.openxmlformats.org/officeDocument/2006/relationships/notesMaster" Target="/ppt/notesMasters/notesMaster1.xml" Id="R9796f340e6b7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ae1bc9c23747e1" /><Relationship Type="http://schemas.openxmlformats.org/officeDocument/2006/relationships/notesMaster" Target="/ppt/notesMasters/notesMaster1.xml" Id="R589d7bc60a6a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cbf236c0d54f8e" /><Relationship Type="http://schemas.openxmlformats.org/officeDocument/2006/relationships/notesMaster" Target="/ppt/notesMasters/notesMaster1.xml" Id="R2a79c5a64245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f5ead369e4f15" /><Relationship Type="http://schemas.openxmlformats.org/officeDocument/2006/relationships/notesMaster" Target="/ppt/notesMasters/notesMaster1.xml" Id="R00fa08dfa23746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1a140871a46ae" /><Relationship Type="http://schemas.openxmlformats.org/officeDocument/2006/relationships/notesMaster" Target="/ppt/notesMasters/notesMaster1.xml" Id="R72e75a49e4c946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7f080711da44ba" /><Relationship Type="http://schemas.openxmlformats.org/officeDocument/2006/relationships/notesMaster" Target="/ppt/notesMasters/notesMaster1.xml" Id="Rf507b067761248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6b817d36104d3d" /><Relationship Type="http://schemas.openxmlformats.org/officeDocument/2006/relationships/notesMaster" Target="/ppt/notesMasters/notesMaster1.xml" Id="R115ab355fb7c42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b2120bb47e4011" /><Relationship Type="http://schemas.openxmlformats.org/officeDocument/2006/relationships/notesMaster" Target="/ppt/notesMasters/notesMaster1.xml" Id="R3b7c8323188042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0f705c28e245e2" /><Relationship Type="http://schemas.openxmlformats.org/officeDocument/2006/relationships/notesMaster" Target="/ppt/notesMasters/notesMaster1.xml" Id="R0916e582da2a44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1f6128e155432c" /><Relationship Type="http://schemas.openxmlformats.org/officeDocument/2006/relationships/notesMaster" Target="/ppt/notesMasters/notesMaster1.xml" Id="R0dba3d4dfb5f45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b69d2e133148c7" /><Relationship Type="http://schemas.openxmlformats.org/officeDocument/2006/relationships/notesMaster" Target="/ppt/notesMasters/notesMaster1.xml" Id="R822424a858b646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7ca30b5ba8485c" /><Relationship Type="http://schemas.openxmlformats.org/officeDocument/2006/relationships/notesMaster" Target="/ppt/notesMasters/notesMaster1.xml" Id="R6f89c4659d6544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890541db6049a8" /><Relationship Type="http://schemas.openxmlformats.org/officeDocument/2006/relationships/notesMaster" Target="/ppt/notesMasters/notesMaster1.xml" Id="R15246968a616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0e42b56d043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5b064ef74459e" /><Relationship Type="http://schemas.openxmlformats.org/officeDocument/2006/relationships/slideLayout" Target="/ppt/slideLayouts/slideLayout1.xml" Id="R04a2ae49121f43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2ae49121f43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f86e91454024" /><Relationship Type="http://schemas.openxmlformats.org/officeDocument/2006/relationships/image" Target="/ppt/media/image.jpeg" Id="R2a73e955dcf9400f" /><Relationship Type="http://schemas.openxmlformats.org/officeDocument/2006/relationships/image" Target="/ppt/media/image.png" Id="R58048c4f3b1b4f7e" /><Relationship Type="http://schemas.openxmlformats.org/officeDocument/2006/relationships/notesSlide" Target="/ppt/notesSlides/notesSlide1.xml" Id="R3e538c8ea597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373bc1ace4fb9" /><Relationship Type="http://schemas.openxmlformats.org/officeDocument/2006/relationships/image" Target="/ppt/media/image2.png" Id="R5fc88ebd73f0483e" /><Relationship Type="http://schemas.openxmlformats.org/officeDocument/2006/relationships/notesSlide" Target="/ppt/notesSlides/notesSlide2.xml" Id="R9b79ae355c52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f545cceb44803" /><Relationship Type="http://schemas.openxmlformats.org/officeDocument/2006/relationships/notesSlide" Target="/ppt/notesSlides/notesSlide3.xml" Id="R28fb25385a0c4c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598dbbe64eb1" /><Relationship Type="http://schemas.openxmlformats.org/officeDocument/2006/relationships/chart" Target="/ppt/slides/charts/chart1.xml" Id="R4d8de3ef5e5b4bde" /><Relationship Type="http://schemas.openxmlformats.org/officeDocument/2006/relationships/notesSlide" Target="/ppt/notesSlides/notesSlide4.xml" Id="R834c30713a1547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1666448a24c87" /><Relationship Type="http://schemas.openxmlformats.org/officeDocument/2006/relationships/notesSlide" Target="/ppt/notesSlides/notesSlide5.xml" Id="R5c40ee65028149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bb90bc72d4368" /><Relationship Type="http://schemas.openxmlformats.org/officeDocument/2006/relationships/notesSlide" Target="/ppt/notesSlides/notesSlide6.xml" Id="Rc7812eb3f353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2c7c8d60f49de" /><Relationship Type="http://schemas.openxmlformats.org/officeDocument/2006/relationships/notesSlide" Target="/ppt/notesSlides/notesSlide7.xml" Id="Rdaaf62e6204f41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0e0ce02674017" /><Relationship Type="http://schemas.openxmlformats.org/officeDocument/2006/relationships/notesSlide" Target="/ppt/notesSlides/notesSlide8.xml" Id="R654ccda65c4e42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08f716124769" /><Relationship Type="http://schemas.openxmlformats.org/officeDocument/2006/relationships/chart" Target="/ppt/slides/charts/chart2.xml" Id="R7217f7cc384d4480" /><Relationship Type="http://schemas.openxmlformats.org/officeDocument/2006/relationships/notesSlide" Target="/ppt/notesSlides/notesSlide9.xml" Id="Rcaeb37b773e042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5c09152454937" /><Relationship Type="http://schemas.openxmlformats.org/officeDocument/2006/relationships/chart" Target="/ppt/slides/charts/chart3.xml" Id="R8ef05aabb48c419f" /><Relationship Type="http://schemas.openxmlformats.org/officeDocument/2006/relationships/notesSlide" Target="/ppt/notesSlides/notesSlide10.xml" Id="R61a28ee3b02c4e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3a20b2e54b1f" /><Relationship Type="http://schemas.openxmlformats.org/officeDocument/2006/relationships/chart" Target="/ppt/slides/charts/chart4.xml" Id="R74a45d3d44d84596" /><Relationship Type="http://schemas.openxmlformats.org/officeDocument/2006/relationships/notesSlide" Target="/ppt/notesSlides/notesSlide11.xml" Id="R2719fc75bc6f49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7068fa28417d" /><Relationship Type="http://schemas.openxmlformats.org/officeDocument/2006/relationships/chart" Target="/ppt/slides/charts/chart5.xml" Id="Ra8dea1e7eeb94ba1" /><Relationship Type="http://schemas.openxmlformats.org/officeDocument/2006/relationships/notesSlide" Target="/ppt/notesSlides/notesSlide12.xml" Id="Rbb62b3d0e4e343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c321c14f4d4c" /><Relationship Type="http://schemas.openxmlformats.org/officeDocument/2006/relationships/chart" Target="/ppt/slides/charts/chart6.xml" Id="Rcd15c89e557b4283" /><Relationship Type="http://schemas.openxmlformats.org/officeDocument/2006/relationships/notesSlide" Target="/ppt/notesSlides/notesSlide13.xml" Id="R808d4af35a8f40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eb9f3f6f49d3" /><Relationship Type="http://schemas.openxmlformats.org/officeDocument/2006/relationships/notesSlide" Target="/ppt/notesSlides/notesSlide14.xml" Id="R8bd68b5cd5b5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211ec7ef34b45" /><Relationship Type="http://schemas.openxmlformats.org/officeDocument/2006/relationships/notesSlide" Target="/ppt/notesSlides/notesSlide15.xml" Id="R56b4be06109b46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cb24a5f094281" /><Relationship Type="http://schemas.openxmlformats.org/officeDocument/2006/relationships/image" Target="/ppt/media/image3.png" Id="R6eb87f7c45844b7e" /><Relationship Type="http://schemas.openxmlformats.org/officeDocument/2006/relationships/notesSlide" Target="/ppt/notesSlides/notesSlide16.xml" Id="R06faed1fe1b8494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USPTO</c:v>
          </c:tx>
          <c:spPr>
            <a:solidFill xmlns:a="http://schemas.openxmlformats.org/drawingml/2006/main">
              <a:srgbClr val="0C7D78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5043</c:v>
              </c:pt>
            </c:numLit>
          </c:val>
        </c:ser>
        <c:ser>
          <c:idx val="1"/>
          <c:order val="1"/>
          <c:tx>
            <c:v>UOB</c:v>
          </c:tx>
          <c:spPr>
            <a:solidFill xmlns:a="http://schemas.openxmlformats.org/drawingml/2006/main">
              <a:srgbClr val="18B8B0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4869</c:v>
              </c:pt>
            </c:numLit>
          </c:val>
        </c:ser>
        <c:ser>
          <c:idx val="2"/>
          <c:order val="2"/>
          <c:tx>
            <c:v>real-world</c:v>
          </c:tx>
          <c:spPr>
            <a:solidFill xmlns:a="http://schemas.openxmlformats.org/drawingml/2006/main">
              <a:srgbClr val="FF6B4A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4329</c:v>
              </c:pt>
            </c:numLit>
          </c:val>
        </c:ser>
        <c:ser>
          <c:idx val="3"/>
          <c:order val="3"/>
          <c:tx>
            <c:v>MolGrapher</c:v>
          </c:tx>
          <c:spPr>
            <a:solidFill xmlns:a="http://schemas.openxmlformats.org/drawingml/2006/main">
              <a:srgbClr val="4C86C6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4000</c:v>
              </c:pt>
            </c:numLit>
          </c:val>
        </c:ser>
        <c:ser>
          <c:idx val="4"/>
          <c:order val="4"/>
          <c:tx>
            <c:v>30K clean</c:v>
          </c:tx>
          <c:spPr>
            <a:solidFill xmlns:a="http://schemas.openxmlformats.org/drawingml/2006/main">
              <a:srgbClr val="E7B34B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1501</c:v>
              </c:pt>
            </c:numLit>
          </c:val>
        </c:ser>
        <c:ser>
          <c:idx val="5"/>
          <c:order val="5"/>
          <c:tx>
            <c:v>30K abbr</c:v>
          </c:tx>
          <c:spPr>
            <a:solidFill xmlns:a="http://schemas.openxmlformats.org/drawingml/2006/main">
              <a:srgbClr val="B8CD64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1507</c:v>
              </c:pt>
            </c:numLit>
          </c:val>
        </c:ser>
        <c:ser>
          <c:idx val="6"/>
          <c:order val="6"/>
          <c:tx>
            <c:v>30K large</c:v>
          </c:tx>
          <c:spPr>
            <a:solidFill xmlns:a="http://schemas.openxmlformats.org/drawingml/2006/main">
              <a:srgbClr val="8B7CB8"/>
            </a:solidFill>
          </c:spPr>
          <c:cat>
            <c:strLit>
              <c:ptCount val="1"/>
              <c:pt idx="0">
                <c:v>V3 control</c:v>
              </c:pt>
            </c:strLit>
          </c:cat>
          <c:val>
            <c:numLit>
              <c:formatCode>General</c:formatCode>
              <c:ptCount val="1"/>
              <c:pt idx="0">
                <c:v>1513</c:v>
              </c:pt>
            </c:numLit>
          </c:val>
        </c:ser>
        <c:gapWidth val="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two-seed mean macro exact</c:v>
          </c:tx>
          <c:spPr>
            <a:solidFill xmlns:a="http://schemas.openxmlformats.org/drawingml/2006/main">
              <a:srgbClr val="18B8B0"/>
            </a:solidFill>
          </c:spPr>
          <c:dPt>
            <c:idx val="0"/>
            <c:spPr>
              <a:solidFill xmlns:a="http://schemas.openxmlformats.org/drawingml/2006/main">
                <a:srgbClr val="0C7D78"/>
              </a:solidFill>
            </c:spPr>
          </c:dPt>
          <c:dPt>
            <c:idx val="1"/>
            <c:spPr>
              <a:solidFill xmlns:a="http://schemas.openxmlformats.org/drawingml/2006/main">
                <a:srgbClr val="FF6B4A"/>
              </a:solidFill>
            </c:spPr>
          </c:dPt>
          <c:dPt>
            <c:idx val="2"/>
            <c:spPr>
              <a:solidFill xmlns:a="http://schemas.openxmlformats.org/drawingml/2006/main">
                <a:srgbClr val="E7B34B"/>
              </a:solidFill>
            </c:spPr>
          </c:dPt>
          <c:dPt>
            <c:idx val="3"/>
            <c:spPr>
              <a:solidFill xmlns:a="http://schemas.openxmlformats.org/drawingml/2006/main">
                <a:srgbClr val="4C86C6"/>
              </a:solidFill>
            </c:spPr>
          </c:dPt>
          <c:cat>
            <c:strLit>
              <c:ptCount val="4"/>
              <c:pt idx="0">
                <c:v>00 control</c:v>
              </c:pt>
              <c:pt idx="1">
                <c:v>10 wild</c:v>
              </c:pt>
              <c:pt idx="2">
                <c:v>01 aug</c:v>
              </c:pt>
              <c:pt idx="3">
                <c:v>11 both</c:v>
              </c:pt>
            </c:strLit>
          </c:cat>
          <c:val>
            <c:numLit>
              <c:formatCode>0.0</c:formatCode>
              <c:ptCount val="4"/>
              <c:pt idx="0">
                <c:v>34.11</c:v>
              </c:pt>
              <c:pt idx="1">
                <c:v>33.28</c:v>
              </c:pt>
              <c:pt idx="2">
                <c:v>33.44</c:v>
              </c:pt>
              <c:pt idx="3">
                <c:v>33.91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4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4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4.4"/>
          <c:min val="3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4D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6C"/>
                </a:solidFill>
              </a:defRPr>
            </a:pPr>
          </a:p>
        </c:txPr>
        <c:crossAx val="48650112"/>
        <c:crossBetween val="between"/>
        <c:majorUnit val="0.5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development macro exact</c:v>
          </c:tx>
          <c:spPr>
            <a:ln xmlns:a="http://schemas.openxmlformats.org/drawingml/2006/main" w="38100">
              <a:solidFill>
                <a:srgbClr val="18B8B0"/>
              </a:solidFill>
              <a:prstDash val="solid"/>
            </a:ln>
          </c:spPr>
          <c:marker>
            <c:symbol val="circle"/>
            <c:size val="8"/>
          </c:marker>
          <c:dPt>
            <c:idx val="6"/>
            <c:spPr>
              <a:solidFill xmlns:a="http://schemas.openxmlformats.org/drawingml/2006/main">
                <a:srgbClr val="FF6B4A"/>
              </a:solidFill>
              <a:ln xmlns:a="http://schemas.openxmlformats.org/drawingml/2006/main" w="19050">
                <a:solidFill>
                  <a:srgbClr val="FF6B4A"/>
                </a:solidFill>
                <a:prstDash val="solid"/>
              </a:ln>
            </c:spPr>
          </c:dPt>
          <c:cat>
            <c:numLit>
              <c:formatCode>General</c:formatCode>
              <c:ptCount val="7"/>
              <c:pt idx="0">
                <c:v>200</c:v>
              </c:pt>
              <c:pt idx="1">
                <c:v>400</c:v>
              </c:pt>
              <c:pt idx="2">
                <c:v>600</c:v>
              </c:pt>
              <c:pt idx="3">
                <c:v>800</c:v>
              </c:pt>
              <c:pt idx="4">
                <c:v>1000</c:v>
              </c:pt>
              <c:pt idx="5">
                <c:v>1200</c:v>
              </c:pt>
              <c:pt idx="6">
                <c:v>1400</c:v>
              </c:pt>
            </c:numLit>
          </c:cat>
          <c:val>
            <c:numLit>
              <c:formatCode>0.0</c:formatCode>
              <c:ptCount val="7"/>
              <c:pt idx="0">
                <c:v>34.7044</c:v>
              </c:pt>
              <c:pt idx="1">
                <c:v>33.9082</c:v>
              </c:pt>
              <c:pt idx="2">
                <c:v>33.0455</c:v>
              </c:pt>
              <c:pt idx="3">
                <c:v>34.4391</c:v>
              </c:pt>
              <c:pt idx="4">
                <c:v>33.7756</c:v>
              </c:pt>
              <c:pt idx="5">
                <c:v>35.3681</c:v>
              </c:pt>
              <c:pt idx="6">
                <c:v>35.9652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9CB0B7"/>
                    </a:solidFill>
                  </a:rPr>
                  <a:t>training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9CB0B7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A3B4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CB0B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6.5"/>
          <c:min val="32"/>
        </c:scaling>
        <c:delete val="0"/>
        <c:axPos val="l"/>
        <c:majorGridlines>
          <c:spPr>
            <a:ln xmlns:a="http://schemas.openxmlformats.org/drawingml/2006/main" w="9525">
              <a:solidFill>
                <a:srgbClr val="2A3B4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CB0B7"/>
                </a:solidFill>
              </a:defRPr>
            </a:pPr>
          </a:p>
        </c:txPr>
        <c:crossAx val="48650112"/>
        <c:crossBetween val="between"/>
        <c:majorUnit val="1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development macro exact</c:v>
          </c:tx>
          <c:spPr>
            <a:solidFill xmlns:a="http://schemas.openxmlformats.org/drawingml/2006/main">
              <a:srgbClr val="18B8B0"/>
            </a:solidFill>
          </c:spPr>
          <c:dPt>
            <c:idx val="0"/>
            <c:spPr>
              <a:solidFill xmlns:a="http://schemas.openxmlformats.org/drawingml/2006/main">
                <a:srgbClr val="0C7D78"/>
              </a:solidFill>
            </c:spPr>
          </c:dPt>
          <c:dPt>
            <c:idx val="1"/>
            <c:spPr>
              <a:solidFill xmlns:a="http://schemas.openxmlformats.org/drawingml/2006/main">
                <a:srgbClr val="FF6B4A"/>
              </a:solidFill>
            </c:spPr>
          </c:dPt>
          <c:cat>
            <c:strLit>
              <c:ptCount val="2"/>
              <c:pt idx="0">
                <c:v>final ckpt-1400</c:v>
              </c:pt>
              <c:pt idx="1">
                <c:v>hard replay +300</c:v>
              </c:pt>
            </c:strLit>
          </c:cat>
          <c:val>
            <c:numLit>
              <c:formatCode>General</c:formatCode>
              <c:ptCount val="2"/>
              <c:pt idx="0">
                <c:v>35.97</c:v>
              </c:pt>
              <c:pt idx="1">
                <c:v>35.24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0E17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4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4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E171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development macro exact</c:v>
          </c:tx>
          <c:spPr>
            <a:solidFill xmlns:a="http://schemas.openxmlformats.org/drawingml/2006/main">
              <a:srgbClr val="18B8B0"/>
            </a:solidFill>
          </c:spPr>
          <c:dPt>
            <c:idx val="0"/>
            <c:spPr>
              <a:solidFill xmlns:a="http://schemas.openxmlformats.org/drawingml/2006/main">
                <a:srgbClr val="4C86C6"/>
              </a:solidFill>
            </c:spPr>
          </c:dPt>
          <c:dPt>
            <c:idx val="1"/>
            <c:spPr>
              <a:solidFill xmlns:a="http://schemas.openxmlformats.org/drawingml/2006/main">
                <a:srgbClr val="18B8B0"/>
              </a:solidFill>
            </c:spPr>
          </c:dPt>
          <c:dPt>
            <c:idx val="2"/>
            <c:spPr>
              <a:solidFill xmlns:a="http://schemas.openxmlformats.org/drawingml/2006/main">
                <a:srgbClr val="FF6B4A"/>
              </a:solidFill>
            </c:spPr>
          </c:dPt>
          <c:cat>
            <c:strLit>
              <c:ptCount val="3"/>
              <c:pt idx="0">
                <c:v>greedy</c:v>
              </c:pt>
              <c:pt idx="1">
                <c:v>beam4 / return4</c:v>
              </c:pt>
              <c:pt idx="2">
                <c:v>chem-light rerank</c:v>
              </c:pt>
            </c:strLit>
          </c:cat>
          <c:val>
            <c:numLit>
              <c:formatCode>0.0</c:formatCode>
              <c:ptCount val="3"/>
              <c:pt idx="0">
                <c:v>35.97</c:v>
              </c:pt>
              <c:pt idx="1">
                <c:v>42.07</c:v>
              </c:pt>
              <c:pt idx="2">
                <c:v>39.55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A3B4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6EBE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3"/>
          <c:min val="34"/>
        </c:scaling>
        <c:delete val="0"/>
        <c:axPos val="l"/>
        <c:majorGridlines>
          <c:spPr>
            <a:ln xmlns:a="http://schemas.openxmlformats.org/drawingml/2006/main" w="9525">
              <a:solidFill>
                <a:srgbClr val="2A3B4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CB0B7"/>
                </a:solidFill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rate</c:v>
          </c:tx>
          <c:spPr>
            <a:solidFill xmlns:a="http://schemas.openxmlformats.org/drawingml/2006/main">
              <a:srgbClr val="18B8B0"/>
            </a:solidFill>
          </c:spPr>
          <c:dPt>
            <c:idx val="0"/>
            <c:spPr>
              <a:solidFill xmlns:a="http://schemas.openxmlformats.org/drawingml/2006/main">
                <a:srgbClr val="FF6B4A"/>
              </a:solidFill>
            </c:spPr>
          </c:dPt>
          <c:dPt>
            <c:idx val="1"/>
            <c:spPr>
              <a:solidFill xmlns:a="http://schemas.openxmlformats.org/drawingml/2006/main">
                <a:srgbClr val="0C7D78"/>
              </a:solidFill>
            </c:spPr>
          </c:dPt>
          <c:dPt>
            <c:idx val="2"/>
            <c:spPr>
              <a:solidFill xmlns:a="http://schemas.openxmlformats.org/drawingml/2006/main">
                <a:srgbClr val="E7B34B"/>
              </a:solidFill>
            </c:spPr>
          </c:dPt>
          <c:dPt>
            <c:idx val="3"/>
            <c:spPr>
              <a:solidFill xmlns:a="http://schemas.openxmlformats.org/drawingml/2006/main">
                <a:srgbClr val="B8CD64"/>
              </a:solidFill>
            </c:spPr>
          </c:dPt>
          <c:cat>
            <c:strLit>
              <c:ptCount val="4"/>
              <c:pt idx="0">
                <c:v>wild exact</c:v>
              </c:pt>
              <c:pt idx="1">
                <c:v>wild valid</c:v>
              </c:pt>
              <c:pt idx="2">
                <c:v>scaffold exact</c:v>
              </c:pt>
              <c:pt idx="3">
                <c:v>scaffold valid</c:v>
              </c:pt>
            </c:strLit>
          </c:cat>
          <c:val>
            <c:numLit>
              <c:formatCode>General</c:formatCode>
              <c:ptCount val="4"/>
              <c:pt idx="0">
                <c:v>22.92</c:v>
              </c:pt>
              <c:pt idx="1">
                <c:v>84.72</c:v>
              </c:pt>
              <c:pt idx="2">
                <c:v>13.43</c:v>
              </c:pt>
              <c:pt idx="3">
                <c:v>75.37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0E17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4D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4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E171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3e955dcf9400f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7DC8C-6C58-4E93-977F-A804AA9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F9C65-0634-46FA-AEAB-5E96FD56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78225-D8EE-438F-BB9E-5C11B31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PADDLEOCR-VL · OCSR 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12BF3-3E83-4608-BD7E-74A5304E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57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让优化可信，</a:t>
            </a:r>
          </a:p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而不只是更高分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1BFF5-C47F-4242-AAD5-14FE688D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从 22,762 条训练混合、分组评测到后训练拒绝门槛，</a:t>
            </a:r>
          </a:p>
          <a:p xmlns:a="http://schemas.openxmlformats.org/drawingml/2006/main">
            <a:pPr algn="l">
              <a:defRPr sz="18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每一步都能解释、复现，也能说“不”。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1B787-F0AB-4957-9BA9-508E911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B8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396DD-80DF-419B-92C7-EB032F6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42.07%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6207-5B50-435C-BC6B-BF35628B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development · beam macro exact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21EAF-35B9-4AB8-A9D8-89D973FD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22.92%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1FE61-ACAA-453D-A1F6-AAA3371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00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locked wild ·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3F29A-058D-414F-B20F-2A36ECD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8CD6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B8CD64"/>
                </a:solidFill>
                <a:latin typeface="Bahnschrift"/>
                <a:ea typeface="Bahnschrift"/>
                <a:cs typeface="Bahnschrift"/>
              </a:rPr>
              <a:t>84.72%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BB091-3226-4730-B5F4-F3437B2A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00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locked wild · valid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48c4f3b1b4f7e"/>
          <a:stretch xmlns:a="http://schemas.openxmlformats.org/drawingml/2006/main"/>
        </p:blipFill>
        <p:spPr>
          <a:xfrm xmlns:a="http://schemas.openxmlformats.org/drawingml/2006/main">
            <a:off x="9525000" y="10477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4F6DD-90E4-4822-9A7C-3EA7E30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科学答辩版 · 2026.07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EC90D-CB8B-4915-A664-78D7F0E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86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Photo: Unsplash · Structure: PubChem CID 2519</a:t>
            </a:r>
          </a:p>
        </p:txBody>
      </p:sp>
    </p:spTree>
    <p:extLst>
      <p:ext uri="{BB962C8B-B14F-4D97-AF65-F5344CB8AC3E}">
        <p14:creationId xmlns:p14="http://schemas.microsoft.com/office/powerpoint/2010/main" val="2102296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B3FF8-3271-47D1-AA37-7E0C572C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01 · TASK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E9C3-BE2D-459A-B700-8BB549B5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任务只有一个：图像进去，唯一结构出来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12291-1B06-4AAA-8F6A-4FD5EC63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02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F67FF-3F8B-4EEC-96B2-7972D36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E4E65-1D66-46A6-BAC1-11513D7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790700"/>
            <a:ext cx="39052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88ebd73f0483e"/>
          <a:stretch xmlns:a="http://schemas.openxmlformats.org/drawingml/2006/main"/>
        </p:blipFill>
        <p:spPr>
          <a:xfrm xmlns:a="http://schemas.openxmlformats.org/drawingml/2006/main">
            <a:off x="1343025" y="20955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C6F2E-0057-42F7-888F-908185A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单分子结构图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3AB74-5494-45F3-BA38-CC7462E3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3219450"/>
            <a:ext cx="1200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0A8B4-7082-4246-8E50-FAD116B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AAA1C-196D-46D1-BB31-FAB31DC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1790700"/>
            <a:ext cx="47625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284D0-9EF7-465D-A8F0-B4DC58C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canonical SMILES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A2781-5406-4985-89F4-10DD519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CC(=O)OC1=CC=CC=C1C(=O)O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8DAB5-4B4A-4606-8C49-D241294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B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8BF87-E468-4395-98DC-2BF9FB1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05275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Exact：结构完全一致</a:t>
            </a:r>
          </a:p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Valid：RDKit 可以解析</a:t>
            </a:r>
          </a:p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Tanimoto：错误离真值多远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7D287-59A6-4EC0-A11F-F5A5F5F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Structure: PubChem CID 2244 · Task metric: RDKit canonical exact</a:t>
            </a:r>
          </a:p>
        </p:txBody>
      </p:sp>
    </p:spTree>
    <p:extLst>
      <p:ext uri="{BB962C8B-B14F-4D97-AF65-F5344CB8AC3E}">
        <p14:creationId xmlns:p14="http://schemas.microsoft.com/office/powerpoint/2010/main" val="69595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EF099-9E69-49B4-AB0F-38732030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02 · SYSTEM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52D8C-C2A4-48C1-B01F-36144151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真正的主线不是训练，而是一条可审计的决策链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0B71-BB45-49BD-AF98-2CAD1922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03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B247-2DF2-4A24-9E77-B4E1E52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238500"/>
            <a:ext cx="1428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3B070-6CEC-484C-8FF9-60082029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238500"/>
            <a:ext cx="1428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15C3C-E7F9-4998-9993-C6F3C9E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238500"/>
            <a:ext cx="1428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B7366-910C-4AEB-AC58-9ABB1E7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1428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BDA65-2CBF-45BA-B7A3-54BF70D4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238500"/>
            <a:ext cx="1428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A454A-E966-4C3C-A6D2-19508B95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F8B49-F6CE-4788-808E-AD2AE559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86386-B654-49EC-8863-05CD4B5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train / dev / 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C73F5-FE7E-44D7-9DD8-AF54F29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B71BA-82C6-4FB9-9479-B4649159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构建混合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22060-8036-41D9-98EA-FA91BF7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比例、cap、清洗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B72BA-3959-4D78-B7BB-42E28E87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F2985-8F45-48A8-8348-CEC9298D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8EFDC-14BF-4CAD-8F2E-033F130C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2×2×2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1E238-EF7C-407A-8B62-2DCC12F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555C7-E9E3-416D-A360-E63D9E42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训练取舍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F37E4-B795-45DC-BC78-6A27C089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checkpoint / replay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0A6A1-5AF4-441C-B139-889DAD5A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3BD6A-DC7D-421D-8660-10431A5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解码取舍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516FF-C31C-483B-96B8-E803C50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greedy / beam / rerank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CC932-C772-4BDA-B5BF-4F2912FA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381250"/>
            <a:ext cx="1562100" cy="17145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A498A-619A-4E4E-8463-CC1766F4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90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一次性报告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F6E83-B3AE-471A-ABC3-792BD2D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718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locked / hash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FBA5D-331F-4AD8-823F-CAFC160E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每一阶段先定义“能看什么、不能看什么”，再决定下一步。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E4C8E-E0E1-4D24-A274-D37BE4E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因此失败路线可以被拒绝，locked 结果也不会反向污染选模。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3037BF-2D27-4E9F-AC9B-02F12D93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V3/TRAINING_DATA_AND_FINETUNING_REPORT_zh.md · end-to-end workflow</a:t>
            </a:r>
          </a:p>
        </p:txBody>
      </p:sp>
    </p:spTree>
    <p:extLst>
      <p:ext uri="{BB962C8B-B14F-4D97-AF65-F5344CB8AC3E}">
        <p14:creationId xmlns:p14="http://schemas.microsoft.com/office/powerpoint/2010/main" val="577696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4DA651-9E62-418F-85CA-136A477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03 · TRAINING MIXTURE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480BB-8110-407F-A744-E3AD53E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22,762 条记录不是越多越好，而是三类能力的平衡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00A80-342A-4083-A5AB-342AE173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04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904F1-AF34-406A-B935-EED9747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C7D78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0C7D78"/>
                </a:solidFill>
                <a:latin typeface="Bahnschrift"/>
                <a:ea typeface="Bahnschrift"/>
                <a:cs typeface="Bahnschrift"/>
              </a:rPr>
              <a:t>43.55%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93BF-E780-40C6-B6AE-C0964BC7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printed 锚点 · USPTO + UOB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7089-5A66-4ABE-A5F9-BFC9D1B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90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19.02%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6145-E98F-4FA0-BA2B-8C73702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33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real-world 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BEE0E-DEB8-4E32-BBAD-0267A40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9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rPr>
              <a:t>≤1,513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7FDB8-91C5-497E-AFBA-E5E90E5B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每个 USPTO-30K 子集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17A1A-6649-4DB0-8E69-A997470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01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3750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22,762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E94F7-2668-4573-BF28-6881823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final control records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590550" y="2724150"/>
          <a:ext xmlns:a="http://schemas.openxmlformats.org/drawingml/2006/main" cx="11010900" cy="123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8de3ef5e5b4bd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68F3C-5A59-4C81-93F9-AC434AF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3815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AAC04-93EF-4737-A706-E10BACC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USPTO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D054B-129F-48FE-A84A-4F7416B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81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5,043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C265C-E896-4A28-A705-AF4A48D2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clean printed anchor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01F8F-05FB-488A-A4DD-72A317D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43815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08E41-3F83-4BD4-9E91-68367A20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81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UOB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FAEA6-ED9A-4252-BE58-1AC2582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81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4,869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11B56-6D7C-458A-BA3A-51ABFB32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9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clean printed anchor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B6C28-E0A3-46F7-868A-49A8E982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3815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91B6B-8E91-4852-926B-3F022FE8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real-world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98DFF-93C8-4698-9810-507B1D12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4,329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46271-BD94-4D62-94BA-E4158A61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photo / scan / page / handwriting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2E004-F713-4E4B-B316-87F1F92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43815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D629D-9483-4E11-AC37-635AB1A2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81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MolGrapher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74064-BB8C-4E18-B7DF-6033D9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81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4,000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B3943-E05E-4F55-8FCE-BC85F04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19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synthetic complexity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3D7D9-8A89-436B-984F-45A4942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1054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05EE2-C51D-43A5-865A-DF0F037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30K clean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8D46B-9FC0-410C-B5AE-28C27DFA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05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1,501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91E6B-EE4F-4A0B-9781-2CB7E5B6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43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capped long-tail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9D7E2-CE3D-472A-88FB-E3F84FF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51054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10B8F3-3A44-4547-9F11-F609DD7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054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30K abbr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42CE8-CC43-4726-ABF7-6C6BEBC6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1,507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D2A2DF-2995-4FCD-824B-655802D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43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capped long-tail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014664-68D7-4628-9B0F-CA8FA36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1054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360BE6-DDE4-4BD4-9A64-380DE63E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30K large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79ABFF-B02D-4253-8734-FD9277C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1,513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3A952-B2DB-4094-A233-5B40B40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43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capped long-tail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251534-27C8-41EC-A7EF-4A3B84ED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V3/evidence/mixture_counts.csv · counts include repeat/cap weights, not independent-image N</a:t>
            </a:r>
          </a:p>
        </p:txBody>
      </p:sp>
    </p:spTree>
    <p:extLst>
      <p:ext uri="{BB962C8B-B14F-4D97-AF65-F5344CB8AC3E}">
        <p14:creationId xmlns:p14="http://schemas.microsoft.com/office/powerpoint/2010/main" val="835336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18264-4D11-4DB0-9225-A7E78C8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03 · RATIO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61AEB-E87A-47B1-9BCA-62A26A8B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科学配比的目标是控制偏差，不是追求漂亮整数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D12A5-38B8-4ACF-A651-C9343C7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05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D1282-5E1C-451F-A425-28FE427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B8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16B6E-9EE0-489B-9221-FDB4192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锚点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65DB2-8908-42B5-83B7-950A2332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43.55%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BB1F5-6272-4F7A-9159-01645E6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USPTO + UOB 保住</a:t>
            </a:r>
          </a:p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基础 OCSR 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7E514-CC95-403A-AF5C-E4BC13D4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避免增强把主分布冲掉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093D-FC33-4BD9-8D79-44FBC7E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90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0B9AB-02FB-43DB-98A5-66F3A20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71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暴露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E85C-99B8-4BD9-A2CD-B919B9E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622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19.02%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37A8D-8EBC-4697-8DDD-D37DE3D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00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真实页面、拍照、</a:t>
            </a:r>
          </a:p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扫描与手写场景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F6D1A-D25C-433E-8290-7A4A9010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33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让稀缺错误进入训练视野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99D84-5CA4-42E5-B742-9D81294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90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B3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1C4DC-0B4E-43F8-AAB3-BBA86E36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71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B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7B34B"/>
                </a:solidFill>
                <a:latin typeface="Microsoft YaHei"/>
                <a:ea typeface="Microsoft YaHei"/>
                <a:cs typeface="Microsoft YaHei"/>
              </a:rPr>
              <a:t>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BD534-2B88-4975-85C5-9F9864B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≈1,500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18B20-ADDC-4C5F-9AC2-1EEBCAC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三个 30K 子集</a:t>
            </a:r>
          </a:p>
          <a:p xmlns:a="http://schemas.openxmlformats.org/drawingml/2006/main">
            <a:pPr algn="l">
              <a:def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分别 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7160D-AD32-440B-9286-07284241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33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防止干净专利图吞噬弱域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970BD-5B62-480B-87CA-D587E52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4673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4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249E1-6EE8-4DA8-BB49-7F18B26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57FF2-010B-4C31-9B9E-29E0B13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这个比例由错误分层、标签可信度和有限消融预算共同决定；它是本轮工程选择，不是全局最优证明。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DDB49-3044-46B1-A77B-65879C4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V3/TRAINING_DATA_AND_FINETUNING_REPORT_zh.md §1.2</a:t>
            </a:r>
          </a:p>
        </p:txBody>
      </p:sp>
    </p:spTree>
    <p:extLst>
      <p:ext uri="{BB962C8B-B14F-4D97-AF65-F5344CB8AC3E}">
        <p14:creationId xmlns:p14="http://schemas.microsoft.com/office/powerpoint/2010/main" val="939852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7D8A0-C414-4723-945F-B79395F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04 ·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D5893-DB62-46BE-892F-E5DFCD7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评测集不能混成一个分数：每个面板回答不同问题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A46A3-9302-4013-81BF-F95FC3A8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06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8F589-B700-4523-94A2-2FCC94A7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90725"/>
            <a:ext cx="0" cy="3400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AD4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A0D2E-7065-46A6-BB62-323F548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1A93F-B7C9-4A17-82F9-529C67D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95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C7D78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0C7D78"/>
                </a:solidFill>
                <a:latin typeface="Bahnschrift"/>
                <a:ea typeface="Bahnschrift"/>
                <a:cs typeface="Bahnschrift"/>
              </a:rPr>
              <a:t>753 + 754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C26EE-2BD3-4B81-9096-DD23E6B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2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EDFA6-BFD9-44E2-99BD-608D2BF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选 checkpoint、decoder 与回归检查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3E4FA-93C3-4803-886D-A5EE660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716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可反复读取；不能称 unseen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9CCD4-A2C2-4A9B-867E-8DEFD19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346AF-841C-49F2-A9F6-C7A19B0F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860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301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1C2BC-B0B9-47DA-8639-0007209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wild strict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4B397-4CE5-46A1-B57C-F1A114B7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62 个 paper_group 的论文外推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628EB-952C-4F1A-88C6-9C8D1107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622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策略冻结后只运行一次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F46E2-AAC7-4928-B312-E3F8849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4257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B2314-700F-4F5C-A297-4D2B588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rPr>
              <a:t>134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4CDF6-8F4A-4B01-A85C-17612656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05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scaffold novel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10226-9C4F-4B33-800B-BAA5D0CD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训练未见骨架的泛化诊断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22BC3-47D0-4CD2-97C7-BBBAD73B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52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从同一次 wild 评测派生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65E7D-D73C-4E07-A4A7-97DEAA72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544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81106-A479-4799-A0A7-33FCA94F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67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4C86C6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4C86C6"/>
                </a:solidFill>
                <a:latin typeface="Bahnschrift"/>
                <a:ea typeface="Bahnschrift"/>
                <a:cs typeface="Bahnschrift"/>
              </a:rPr>
              <a:t>460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31965-8DC9-4758-9F5C-9F71E90D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95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symbolic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6AB3C-8E83-4740-BA03-A2E29FA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6292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R-group / 缩写文字转写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D61F6-7B62-4CF6-B78E-95AE6E89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435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独立任务，不并入 canonical exact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AE903-7420-4EDA-A092-064E607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V3/DATASET_CARD_zh.md · V3/TRAINING_DATA_AND_FINETUNING_REPORT_zh.md §2</a:t>
            </a:r>
          </a:p>
        </p:txBody>
      </p:sp>
    </p:spTree>
    <p:extLst>
      <p:ext uri="{BB962C8B-B14F-4D97-AF65-F5344CB8AC3E}">
        <p14:creationId xmlns:p14="http://schemas.microsoft.com/office/powerpoint/2010/main" val="840053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26B56-2127-4F97-970E-F84F49C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04 · LEAKAGE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5ACC9-E707-4EAC-8CFD-47F0B844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先冻结独立单位，再谈置信区间和泛化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AE91E-423B-416D-8FF9-76F3041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07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67CF4-3497-48A9-9632-6B659C6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000375"/>
            <a:ext cx="1047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C7982-57FC-4633-8327-449D4773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000375"/>
            <a:ext cx="1047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CF919-299F-4DF3-AB1C-B77C1D6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2952750" cy="257175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11B20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E6D93-2896-48BB-A7BC-B4BBCF0B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C3233-2B20-40FF-9D2E-241162C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canonical molecule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B88D8-B339-4A4D-8E1F-F314F2A0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训练 / development</a:t>
            </a:r>
          </a:p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分子去重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F6D2A-A4F3-4285-969A-761D2E31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防止同结构换渲染泄漏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5D668-7B4A-43C1-8E65-3D15DC5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2076450"/>
            <a:ext cx="2952750" cy="257175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11B20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D837B-9C80-4BFD-9A3A-0A256E7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38AB-8421-448B-A75F-FF3867F7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paper_group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49648-46B2-4C45-B5FE-1ACB4D7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1375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整篇论文只落在</a:t>
            </a:r>
          </a:p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同一侧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CF4CC-34B8-4EF7-B4EA-C65ED6C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防止论文内随机切行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4BCBF-A051-4D5A-AF53-255624D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076450"/>
            <a:ext cx="2952750" cy="257175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88A30-197B-4318-9EAF-6CCC8A8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5EE9-9366-434C-91C3-771C1DD4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locked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7BC5C-416A-4CB1-8D0F-CE209971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模型、prompt、decoder</a:t>
            </a:r>
          </a:p>
          <a:p xmlns:a="http://schemas.openxmlformats.org/drawingml/2006/main">
            <a:pPr algn="l">
              <a:def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全部冻结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301FA-BA67-4A30-BCAF-5FC1B51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33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结果不回流调参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E6459-BA99-4712-B974-00A259C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rPr>
              <a:t>样本数 N 只有在独立单位一致时才有意义。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352F5-DD1D-496B-A67E-A44E0C5B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Split hierarchy: canonical molecule → paper_group → locked policy</a:t>
            </a:r>
          </a:p>
        </p:txBody>
      </p:sp>
    </p:spTree>
    <p:extLst>
      <p:ext uri="{BB962C8B-B14F-4D97-AF65-F5344CB8AC3E}">
        <p14:creationId xmlns:p14="http://schemas.microsoft.com/office/powerpoint/2010/main" val="153220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FC10F-48A9-425D-8BEE-8B58642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05 · TRAINING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16092-2337-4BFB-BF77-E48E465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V2-1 先把 OCSR 学会，V3 再把证据链做严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87BB8-472A-41DD-8D66-3A67173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08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2C41B-E711-46C7-8E52-E75CA0FE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838450"/>
            <a:ext cx="1047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345BE-63B3-4235-8DD1-2ADEE1A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838450"/>
            <a:ext cx="1047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33447-DACA-4528-B4AA-DDFB8161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905000"/>
            <a:ext cx="2762250" cy="24765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79FD7-2616-4501-89B1-9D7571F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PaddleOCR-VL-1.5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A4C60-04F0-4A84-8F28-2F53A39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原始视觉语言基座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820ED-5DA7-4931-928D-606947B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固定 250-step 对照</a:t>
            </a:r>
          </a:p>
          <a:p xmlns:a="http://schemas.openxmlformats.org/drawingml/2006/main">
            <a:pPr algn="l">
              <a:def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exact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10890-DCC3-4AB6-B2F3-71DF119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905000"/>
            <a:ext cx="2762250" cy="24765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19050">
            <a:solidFill>
              <a:srgbClr val="18B8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65489-47CF-4900-B85C-AE82D10E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V2-1 OCSR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F6383-3920-41F2-ABD6-376AF6BB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已经学会 canonical 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D8397-1D91-4034-A39C-08D8112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37.03% → 45.89%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C06B5-0D60-4FDA-B47D-4441260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core 767 · baseline → stable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99D73-94FA-41D6-8429-A0F4C0FA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rPr>
              <a:t>38.44% → 43.77%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E1084-DB05-4447-BEE4-F5F151FD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290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region 770 · baseline → stable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828CE-BA93-4397-BE57-52CB04CA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619250"/>
            <a:ext cx="333375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508A1-0F77-494C-A5A5-07208AD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V3 LoRA continuation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529E5-7548-4F65-B227-5D813791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H800 PCIe 80GB</a:t>
            </a:r>
          </a:p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单目标 canonical SMILES</a:t>
            </a:r>
          </a:p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effective batch 32</a:t>
            </a:r>
          </a:p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1400 steps · lr 3e-5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C6A1A-7C5B-4CBF-9B34-4BDBC71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同预算 250-step：原始 1.5 exact 0 → V2-1 macro exact 34.17%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A8BEB-5ED5-425F-80B5-2B5C15A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7B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B34B"/>
                </a:solidFill>
                <a:latin typeface="Microsoft YaHei"/>
                <a:ea typeface="Microsoft YaHei"/>
                <a:cs typeface="Microsoft YaHei"/>
              </a:rPr>
              <a:t>为什么 LoRA？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60801-494A-4032-8CA2-2A4F76D9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保留输出格式，把有限预算用在数据因素、checkpoint 和 decoder 的可解释对照。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94CCB-9EAC-4F6C-85AD-7CDF245C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V2-1 README §4 · V3/evidence/probe_analysis.json · V3/configs/final_continue_a100.yaml</a:t>
            </a:r>
          </a:p>
        </p:txBody>
      </p:sp>
    </p:spTree>
    <p:extLst>
      <p:ext uri="{BB962C8B-B14F-4D97-AF65-F5344CB8AC3E}">
        <p14:creationId xmlns:p14="http://schemas.microsoft.com/office/powerpoint/2010/main" val="333026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B5FF0-6514-44A2-8C4B-6818447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06 · 2×2×2 FACTORIAL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71E6-239E-4AFF-A2CC-DF5678B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两 seed 探索没有证明增强更好，00 control 反而最稳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C2D4E-7B86-4591-A6A1-44745744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09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C61AD-A4D6-40E6-93E2-197BD34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2×2×2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66053-9581-41E3-AC44-063B941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wild：off / on</a:t>
            </a:r>
          </a:p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augmentation：off / on</a:t>
            </a:r>
          </a:p>
          <a:p xmlns:a="http://schemas.openxmlformats.org/drawingml/2006/main">
            <a:pPr algn="l">
              <a:def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seed：20260717 / 20260718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8F61-0183-4D09-B05F-F152DCF7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76650"/>
            <a:ext cx="2571750" cy="14097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B0A48-A72D-4571-B590-DA7EBEA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6ED29-87F0-4FCC-854D-9B944556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差异落在 seed 波动内：</a:t>
            </a:r>
          </a:p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选择 control，但不写</a:t>
            </a:r>
          </a:p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“显著最优”。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3714750" y="154305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17f7cc384d448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BC577-DE13-48AF-9B4D-6F55547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34.11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62D6-7852-4B40-8AB5-3DC24450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33.28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142DB-EB41-4793-B6C1-4EB5B116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33.44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D03CD-1161-43BF-8B28-CB1D628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47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E171B"/>
                </a:solidFill>
                <a:latin typeface="Bahnschrift"/>
                <a:ea typeface="Bahnschrift"/>
                <a:cs typeface="Bahnschrift"/>
              </a:rPr>
              <a:t>33.91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D604D-7C49-4F41-A428-3197D8E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56007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1"/>
          </a:solidFill>
          <a:ln xmlns:a="http://schemas.openxmlformats.org/drawingml/2006/main" w="19050">
            <a:solidFill>
              <a:srgbClr val="0C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1CD21-D6D8-4D36-B080-165CD87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采用 00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1195E-72A0-4AAF-A4E7-FB82C1BC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V3/evidence/probe_analysis.json · mean macro exact across two seeds</a:t>
            </a:r>
          </a:p>
        </p:txBody>
      </p:sp>
    </p:spTree>
    <p:extLst>
      <p:ext uri="{BB962C8B-B14F-4D97-AF65-F5344CB8AC3E}">
        <p14:creationId xmlns:p14="http://schemas.microsoft.com/office/powerpoint/2010/main" val="439508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09F1E-3477-45FA-9124-480E123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07 · CHECKPOINT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1BD4B-3F8A-4093-BA15-2A314DE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完整评测 7 个 checkpoint 后，1400 step 才达到最高点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91FCD-06EE-4C10-8D2F-863AB3F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10 / 16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562100"/>
          <a:ext xmlns:a="http://schemas.openxmlformats.org/drawingml/2006/main" cx="8763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f05aabb48c41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48EEC-A144-493A-94B0-F2667EE2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34.70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A36FC-379C-4BA8-9429-385BD3B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90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33.91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D93DD-D4B4-43A6-B310-F9545C0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33.05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CDE03-777B-4F41-A859-F8EE671F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34.44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316C1-E253-4812-BAF0-F03809BE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4861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33.78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4F972-7580-45CC-BD95-E65A08F0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35.37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33DE2-C6C8-451A-B9EA-98DF3876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35.97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C0B81-E8B5-4BEF-922E-7DA659E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1714500"/>
            <a:ext cx="1771650" cy="314325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19262C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AD78C-58F8-4767-86B9-9AB7BE7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1400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2A4CD-EE3F-489E-B083-E6135A0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35.97%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DF7CB-FD04-4EF4-8CF5-B478627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macro exact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FD269-EF89-4868-B9F4-95A11DC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957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363EC-30C0-40EE-98AC-70E117F4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576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rPr>
              <a:t>validity gate</a:t>
            </a:r>
          </a:p>
          <a:p xmlns:a="http://schemas.openxmlformats.org/drawingml/2006/main">
            <a:pPr algn="ctr">
              <a:def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rPr>
              <a:t>未触发回归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71ED5-3624-473A-9B0E-347DF93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52197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C28FA-5F7F-4EA9-B5F9-CE0B83B5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197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SELECTED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E9BD0-9343-4017-B3EA-AC58E66B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V3/evidence/final_checkpoint_selection.json</a:t>
            </a:r>
          </a:p>
        </p:txBody>
      </p:sp>
    </p:spTree>
    <p:extLst>
      <p:ext uri="{BB962C8B-B14F-4D97-AF65-F5344CB8AC3E}">
        <p14:creationId xmlns:p14="http://schemas.microsoft.com/office/powerpoint/2010/main" val="130381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4C34B-324B-4883-ADA3-C5F20FC4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08 · HARD REPLAY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D30B-E0E6-44AC-B636-C1593F8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更久、更难的后训练没有带来收益，所以被拒绝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27A18-796E-43C2-BC57-A8204C3C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11 / 16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04850" y="1809750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45d3d44d845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AADB9-2E0F-4060-8D77-815BF1B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52600"/>
            <a:ext cx="3352800" cy="3390900"/>
          </a:xfrm>
          <a:prstGeom xmlns:a="http://schemas.openxmlformats.org/drawingml/2006/main" prst="roundRect">
            <a:avLst>
              <a:gd name="adj" fmla="val 1420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78E24-351A-44A9-81C0-103E17C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-0.73pp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23B31-B23D-41FE-9646-C52C637E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macro exact 回退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B9E7A-4977-41D6-86EC-1D980F8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00322-90AB-4FFE-A6EF-BDF45786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300 steps · lr 8e-6</a:t>
            </a:r>
          </a:p>
          <a:p xmlns:a="http://schemas.openxmlformats.org/drawingml/2006/main">
            <a:pPr algn="l">
              <a:def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困难样本 continuation</a:t>
            </a:r>
          </a:p>
          <a:p xmlns:a="http://schemas.openxmlformats.org/drawingml/2006/main">
            <a:pPr algn="l">
              <a:def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validity 同时回退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13E9-2363-49E1-ABBF-1C75204D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53721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1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FE7A3-E7C2-403A-B53A-E14864E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72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1A1A0-559A-4094-8A90-64C658CA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预设门槛：至少 +0.5pp，且面板与 validity 不允许明显回归。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4225-0978-442E-BDAB-2282A88A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V3/evidence/final_vs_hard_replay.json</a:t>
            </a:r>
          </a:p>
        </p:txBody>
      </p:sp>
    </p:spTree>
    <p:extLst>
      <p:ext uri="{BB962C8B-B14F-4D97-AF65-F5344CB8AC3E}">
        <p14:creationId xmlns:p14="http://schemas.microsoft.com/office/powerpoint/2010/main" val="40745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3A7B8-E459-4DD0-8030-04288922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09 · DECODER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B8818-8FA8-4FEA-85A9-AF68C76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候选召回提升了结果，额外化学重排反而破坏选择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B5BB1-3B85-4E2A-ADE2-95E37F93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12 / 16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dea1e7eeb94ba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A9AB-2199-4CD0-8ED4-CF1050F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290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35.97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EB289-4614-4BC4-9A87-C52C809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42.07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30589-FB69-4334-B7EA-03C87DC5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527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39.55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BA6F4-B0EF-4C77-8E27-DE6562EC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809750"/>
            <a:ext cx="2781300" cy="3143250"/>
          </a:xfrm>
          <a:prstGeom xmlns:a="http://schemas.openxmlformats.org/drawingml/2006/main" prst="roundRect">
            <a:avLst>
              <a:gd name="adj" fmla="val 1712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19050">
            <a:solidFill>
              <a:srgbClr val="18B8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8A697-35EE-4421-AD88-59F9AEC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+6.10pp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53B17-67E3-4119-9E76-809489C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beam vs greedy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60C4E-C1A8-449A-BD9B-CEA4FD8D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两个 dev 面板</a:t>
            </a:r>
          </a:p>
          <a:p xmlns:a="http://schemas.openxmlformats.org/drawingml/2006/main">
            <a:pPr algn="l">
              <a:def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paired cluster bootstrap</a:t>
            </a:r>
          </a:p>
          <a:p xmlns:a="http://schemas.openxmlformats.org/drawingml/2006/main">
            <a:pPr algn="l">
              <a:def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95% CI 均高于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BAFA0-17A1-4ADA-862A-60FD3B4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4577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19050">
            <a:solidFill>
              <a:srgbClr val="18B8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83190-AB7D-45F1-AF05-75BC741A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ADOPT BEAM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5F127-2FE8-4369-ABB6-F5238BF7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chem-light 相对 beam -2.52pp → 拒绝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B6873-7D0B-4FDF-BA73-19B4DA9A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V3/evidence/generation_policy_beam_selection.json · generation_policy_selection.json</a:t>
            </a:r>
          </a:p>
        </p:txBody>
      </p:sp>
    </p:spTree>
    <p:extLst>
      <p:ext uri="{BB962C8B-B14F-4D97-AF65-F5344CB8AC3E}">
        <p14:creationId xmlns:p14="http://schemas.microsoft.com/office/powerpoint/2010/main" val="1023288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3F1B-A1B2-47D1-8963-E0C4DB2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10 · LOCKED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E8DE8-F952-4E2A-9B0A-34AC1D2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真实论文域仍然很难：可解析不等于结构正确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B0F60-884F-4B33-BC4D-FFF8504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13 / 16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239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5c89e557b42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82E3F-77F4-430E-8E11-170BF622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619250"/>
            <a:ext cx="3295650" cy="3905250"/>
          </a:xfrm>
          <a:prstGeom xmlns:a="http://schemas.openxmlformats.org/drawingml/2006/main" prst="roundRect">
            <a:avLst>
              <a:gd name="adj" fmla="val 1445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213A8-97EC-4F39-8AC1-EC1544A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301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4D63C-516F-4B5E-9347-DA2493B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wild strict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57126-9435-4EAA-BCD8-F1FF49C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301 个唯一分子</a:t>
            </a:r>
          </a:p>
          <a:p xmlns:a="http://schemas.openxmlformats.org/drawingml/2006/main">
            <a:pPr algn="l">
              <a:def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62 个完整论文组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61D2A-F233-4DAB-B626-1BB7666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E89C1-4BA0-44B3-8035-077ECF6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E7B34B"/>
                </a:solidFill>
                <a:latin typeface="Bahnschrift"/>
                <a:ea typeface="Bahnschrift"/>
                <a:cs typeface="Bahnschrift"/>
              </a:rPr>
              <a:t>134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4EBB2-8C99-4EDC-8393-A6A2B7C3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766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scaffold novel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55698-AA1E-4F04-BA1A-840A2CA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训练未见骨架诊断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1EAB2-6918-450D-92E4-6410E69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05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rPr>
              <a:t>策略冻结后只运行一次；结果不回流。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BF583-1EB4-499F-A904-9B9C816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V3/evidence/FINAL_RESULTS.json · locked manifest hash preserved</a:t>
            </a:r>
          </a:p>
        </p:txBody>
      </p:sp>
    </p:spTree>
    <p:extLst>
      <p:ext uri="{BB962C8B-B14F-4D97-AF65-F5344CB8AC3E}">
        <p14:creationId xmlns:p14="http://schemas.microsoft.com/office/powerpoint/2010/main" val="10405442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E8A87-5B18-46E7-812F-69CD3EBA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11 ·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3E9B-0014-40EF-B68B-4732087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真正的瓶颈是域迁移，而不是 SMILES 语法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04E5C-0120-4379-8904-537D63F2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9CB0B7"/>
                </a:solidFill>
                <a:latin typeface="Bahnschrift"/>
                <a:ea typeface="Bahnschrift"/>
                <a:cs typeface="Bahnschrift"/>
              </a:rPr>
              <a:t>14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79B99-06F0-4EE7-81A2-3D89795D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 i="0">
                <a:solidFill>
                  <a:srgbClr val="18B8B0"/>
                </a:solidFill>
                <a:latin typeface="Bahnschrift"/>
                <a:ea typeface="Bahnschrift"/>
                <a:cs typeface="Bahnschrift"/>
              </a:rPr>
              <a:t>84.72%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5C6CB-410C-4523-9770-3E95B924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wild valid SMILES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4C582-20DB-4237-B40E-831A785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22.92%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3ED84-AE52-4B53-AF61-8E6C2F3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wild canonical exact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0EA1E-EF3C-4703-AA73-777539E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1504950"/>
            <a:ext cx="381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F50B1-2D24-4FEB-AEF1-5F8195B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764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 61.80pp 的差距说明：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4A40F-04EE-4C54-AE63-954EF0D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38400"/>
            <a:ext cx="152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BD053-B890-4D02-A22B-D06683D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717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模型经常能写出“合法”的分子，却不是图中那个分子。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B2ED7-37AC-44F5-8FFA-9D140A4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333750"/>
            <a:ext cx="152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E99E-44B7-4F78-99C0-D5021CC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6707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论文裁图、低清、手绘和长尾骨架仍是主要误差来源。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F39E1-CF84-4E40-9920-79318142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229100"/>
            <a:ext cx="152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710F4-2830-4638-91CA-5DD5FDE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624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2F4F1"/>
                </a:solidFill>
                <a:latin typeface="Microsoft YaHei"/>
                <a:ea typeface="Microsoft YaHei"/>
                <a:cs typeface="Microsoft YaHei"/>
              </a:rPr>
              <a:t>因此 valid 只能当门槛，不能替代 exact 主指标。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1A905-2DB3-4948-990C-EF06252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53340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2C"/>
          </a:solidFill>
          <a:ln xmlns:a="http://schemas.openxmlformats.org/drawingml/2006/main" w="9525">
            <a:solidFill>
              <a:srgbClr val="2A3B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78F98-AE9D-4EA4-B8D9-4FEB624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19725"/>
            <a:ext cx="579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8CD64"/>
                </a:solidFill>
                <a:latin typeface="Microsoft YaHei"/>
                <a:ea typeface="Microsoft YaHei"/>
                <a:cs typeface="Microsoft YaHei"/>
              </a:rPr>
              <a:t>下一轮应优先提高视觉结构识别与候选召回，而不是继续堆合法性后处理。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2E05C-A5AA-47ED-860D-C06E760D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Interpretation uses locked wild exact/valid gap; no post-lock tuning</a:t>
            </a:r>
          </a:p>
        </p:txBody>
      </p:sp>
    </p:spTree>
    <p:extLst>
      <p:ext uri="{BB962C8B-B14F-4D97-AF65-F5344CB8AC3E}">
        <p14:creationId xmlns:p14="http://schemas.microsoft.com/office/powerpoint/2010/main" val="1356383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F3B6A-8BBC-4D75-961D-5E5FF0D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12 · EVIDENCE &amp;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57662-EC1F-47E1-A5FD-64D0135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可信度来自证据链：数字、权重、许可和人审都能追溯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C3ABD-BF5E-43F0-8322-BD5F961C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2646C"/>
                </a:solidFill>
                <a:latin typeface="Bahnschrift"/>
                <a:ea typeface="Bahnschrift"/>
                <a:cs typeface="Bahnschrift"/>
              </a:rPr>
              <a:t>15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07E2-3FD1-4AA9-8D46-BFF8A8DF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11B03-C5C7-4174-A0F3-DFD37ADA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7D78"/>
                </a:solidFill>
                <a:latin typeface="Microsoft YaHei"/>
                <a:ea typeface="Microsoft YaHei"/>
                <a:cs typeface="Microsoft YaHei"/>
              </a:rPr>
              <a:t>实验事实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B33F9-FF4D-4091-AE24-BB0FF0C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最终事实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D35AB-7D84-472E-93EC-85A2C14D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43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rPr>
              <a:t>evidence/FINAL_RESULTS.json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BA96C-3875-4FD9-BB36-DB95D352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C5EC4-8F92-4C72-9228-78B4C16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数据构建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D3195-6528-40C7-B225-1C5C1BA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rPr>
              <a:t>dataset_build_report.json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0192D-C8CB-4402-8FFC-87D729D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A1C34-7AB1-468E-A4C9-7BF2ADA0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D507E-0603-4EB9-9D70-AC758068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194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rPr>
              <a:t>final_checkpoint_selection.json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869CA-CAD3-4433-BA92-5DC1544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4AA66-28A1-4D14-8EF7-DBFEF0F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后训练取舍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472D-949F-4FF5-820A-1AA2D505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57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rPr>
              <a:t>final_vs_hard_replay.json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77ACB-C437-462F-86C8-F42F92B6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446CC-2165-4AEF-B9AB-AD0B0479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decoder 取舍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786CE-AA37-497F-94EE-22C7A2E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958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2646C"/>
                </a:solidFill>
                <a:latin typeface="Consolas"/>
                <a:ea typeface="Consolas"/>
                <a:cs typeface="Consolas"/>
              </a:rPr>
              <a:t>generation_policy_*.json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B5EAA-5A04-4F99-A855-D0B6F91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27E04-8FC4-46E8-A498-074AAD15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公开边界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D3F77-02A2-44D9-9376-4CFBA59F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FF6B4A"/>
                </a:solidFill>
                <a:latin typeface="Bahnschrift"/>
                <a:ea typeface="Bahnschrift"/>
                <a:cs typeface="Bahnschrift"/>
              </a:rPr>
              <a:t>Apache-2.0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8856A-1292-4925-81D4-A4493E7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76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项目代码与派生权重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0FD45-C1E9-4AE8-A65A-169C6FFF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训练原图 / JSONL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6FB7A-FB4D-4386-8D24-E0E07BC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样本级来源不完整 → 不重新分发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D74FC-4230-4D81-A898-E2FE572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E171B"/>
                </a:solidFill>
                <a:latin typeface="Microsoft YaHei"/>
                <a:ea typeface="Microsoft YaHei"/>
                <a:cs typeface="Microsoft YaHei"/>
              </a:rPr>
              <a:t>owner-attested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DEB12-AF2F-4C13-ADB8-9DA0793E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672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绑定四个 frozen-label SHA256；不虚构审核人身份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93714-0B9F-426A-9030-93824A0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238750"/>
            <a:ext cx="44767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09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B939B-D602-449B-9125-8E334AB9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340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8CD64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B8CD64"/>
                </a:solidFill>
                <a:latin typeface="Consolas"/>
                <a:ea typeface="Consolas"/>
                <a:cs typeface="Consolas"/>
              </a:rPr>
              <a:t>GitHub 49da120 · HF e496110 · weight SHA 2a7ac278…cc13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8EA50-6638-4C97-A64B-B55BD1B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52646C"/>
                </a:solidFill>
                <a:latin typeface="Microsoft YaHei"/>
                <a:ea typeface="Microsoft YaHei"/>
                <a:cs typeface="Microsoft YaHei"/>
              </a:rPr>
              <a:t>V3/evidence/PUBLIC_RELEASE_VERIFICATION_zh.md · V3/qc/MANUAL_REVIEW_ATTESTATION_zh.md</a:t>
            </a:r>
          </a:p>
        </p:txBody>
      </p:sp>
    </p:spTree>
    <p:extLst>
      <p:ext uri="{BB962C8B-B14F-4D97-AF65-F5344CB8AC3E}">
        <p14:creationId xmlns:p14="http://schemas.microsoft.com/office/powerpoint/2010/main" val="527944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19F63-02BD-49E6-B9A1-FC32C2B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6B8F-EAA5-448E-9FD1-421845EC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914400"/>
            <a:ext cx="3695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1"/>
          </a:solidFill>
          <a:ln xmlns:a="http://schemas.openxmlformats.org/drawingml/2006/main" w="19050">
            <a:solidFill>
              <a:srgbClr val="18B8B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87f7c45844b7e"/>
          <a:stretch xmlns:a="http://schemas.openxmlformats.org/drawingml/2006/main"/>
        </p:blipFill>
        <p:spPr>
          <a:xfrm xmlns:a="http://schemas.openxmlformats.org/drawingml/2006/main">
            <a:off x="8001000" y="1047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05A65-9E87-41EA-BD6A-FB57F374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9A21A-FFDB-4A59-99EE-BA94789C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可信的优化，</a:t>
            </a:r>
          </a:p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不是“做得更多”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9BB82-5198-4374-956D-0592B0E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而是每个选择都有证据，</a:t>
            </a:r>
          </a:p>
          <a:p xmlns:a="http://schemas.openxmlformats.org/drawingml/2006/main">
            <a:pPr algn="l">
              <a:def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每个失败都能被拒绝，</a:t>
            </a:r>
          </a:p>
          <a:p xmlns:a="http://schemas.openxmlformats.org/drawingml/2006/main">
            <a:pPr algn="l">
              <a:def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 i="0">
                <a:solidFill>
                  <a:srgbClr val="E6EBE7"/>
                </a:solidFill>
                <a:latin typeface="Microsoft YaHei"/>
                <a:ea typeface="Microsoft YaHei"/>
                <a:cs typeface="Microsoft YaHei"/>
              </a:rPr>
              <a:t>每个结果都知道边界。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630A2-37E1-4F1D-AE9E-A9E209A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B8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F8C8-4227-431C-A52A-87B2E8E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8B8B0"/>
                </a:solidFill>
                <a:latin typeface="Microsoft YaHei"/>
                <a:ea typeface="Microsoft YaHei"/>
                <a:cs typeface="Microsoft YaHei"/>
              </a:rPr>
              <a:t>checkpoint-1400 + beam4 / return4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9603-54AD-4559-8FF7-A6C6E4E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下一步：真实自采、独立 GPU clean-download、4+ seed confirmatory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7FEC8-1DCE-4C2E-815B-4FC65238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CB0B7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CB0B7"/>
                </a:solidFill>
                <a:latin typeface="Consolas"/>
                <a:ea typeface="Consolas"/>
                <a:cs typeface="Consolas"/>
              </a:rPr>
              <a:t>github.com/2658183739/-PaddleOCR-VL-1.5-OCSR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F0266-CAD8-430F-BFD0-6B80E62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29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9CB0B7"/>
                </a:solidFill>
                <a:latin typeface="Microsoft YaHei"/>
                <a:ea typeface="Microsoft YaHei"/>
                <a:cs typeface="Microsoft YaHei"/>
              </a:rPr>
              <a:t>Structure: PubChem CID 36314</a:t>
            </a:r>
          </a:p>
        </p:txBody>
      </p:sp>
    </p:spTree>
    <p:extLst>
      <p:ext uri="{BB962C8B-B14F-4D97-AF65-F5344CB8AC3E}">
        <p14:creationId xmlns:p14="http://schemas.microsoft.com/office/powerpoint/2010/main" val="638127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2026-07-19T09:48:31.9600000Z</dcterms:created>
  <dcterms:modified xsi:type="dcterms:W3CDTF">2026-07-19T09:48:31.9600000Z</dcterms:modified>
</coreProperties>
</file>