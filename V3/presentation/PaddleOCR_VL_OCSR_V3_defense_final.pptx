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embeddedFontLst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0"/>
            <a:ext cx="3302000" cy="6858000"/>
          </a:xfrm>
          <a:prstGeom prst="rect">
            <a:avLst/>
          </a:prstGeom>
        </p:spPr>
      </p:pic>
      <p:pic>
        <p:nvPicPr>
          <p:cNvPr id="3" name="Picture 2" descr="slide1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0" y="0"/>
            <a:ext cx="672345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8300" y="381000"/>
            <a:ext cx="8343900" cy="1727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2"/>
              </a:lnSpc>
            </a:pPr>
            <a:r>
              <a:rPr lang="en-US" sz="600" b="1" dirty="0">
                <a:solidFill>
                  <a:srgbClr val="82D8CF"/>
                </a:solidFill>
                <a:latin typeface="Microsoft YaHei"/>
                <a:ea typeface="Microsoft YaHei"/>
                <a:cs typeface="Microsoft YaHei"/>
              </a:rPr>
              <a:t>PADDLEOCR-VL · OCSR · V3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300" y="917178"/>
            <a:ext cx="8343900" cy="7822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80"/>
              </a:lnSpc>
            </a:pPr>
            <a:r>
              <a:rPr lang="en-US" sz="2750" b="1" dirty="0">
                <a:solidFill>
                  <a:srgbClr val="FFFFFF"/>
                </a:solidFill>
                <a:latin typeface="Microsoft YaHei"/>
                <a:cs typeface="Microsoft YaHei"/>
              </a:rPr>
              <a:t>PaddleOCR-VL</a:t>
            </a:r>
            <a:br>
              <a:rPr sz="2750"/>
            </a:br>
            <a:r>
              <a:rPr lang="en-US" sz="2750" b="1" dirty="0">
                <a:solidFill>
                  <a:srgbClr val="FFFFFF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300" y="1794669"/>
            <a:ext cx="3810000" cy="4860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2"/>
              </a:lnSpc>
            </a:pPr>
            <a:r>
              <a:rPr lang="zh-CN" sz="950" dirty="0">
                <a:solidFill>
                  <a:srgbClr val="C4CED8"/>
                </a:solidFill>
                <a:latin typeface="Microsoft YaHei"/>
                <a:ea typeface="Noto Sans SC"/>
                <a:cs typeface="Microsoft YaHei"/>
              </a:rPr>
              <a:t>从科学数据构建、V2-1/V3 训练与后训练，到可审计 Agent 前后端的完整决赛交付。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8300" y="6019800"/>
            <a:ext cx="952500" cy="0"/>
          </a:xfrm>
          <a:prstGeom prst="line">
            <a:avLst/>
          </a:prstGeom>
          <a:ln w="19050">
            <a:solidFill>
              <a:srgbClr val="69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8300" y="6019800"/>
            <a:ext cx="952500" cy="444500"/>
          </a:xfrm>
          <a:prstGeom prst="rect">
            <a:avLst/>
          </a:prstGeom>
          <a:noFill/>
        </p:spPr>
        <p:txBody>
          <a:bodyPr wrap="none" lIns="0" rIns="0" tIns="63500" bIns="0" anchor="t"/>
          <a:lstStyle/>
          <a:p>
            <a:pPr algn="l">
              <a:lnSpc>
                <a:spcPts val="1500"/>
              </a:lnSpc>
            </a:pPr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42.07%</a:t>
            </a:r>
            <a:br>
              <a:rPr sz="800"/>
            </a:br>
            <a:r>
              <a:rPr lang="en-US" sz="450" dirty="0">
                <a:solidFill>
                  <a:srgbClr val="AEB9C5"/>
                </a:solidFill>
                <a:latin typeface="Microsoft YaHei"/>
                <a:cs typeface="Microsoft YaHei"/>
              </a:rPr>
              <a:t>development beam macro exact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22400" y="6019800"/>
            <a:ext cx="952500" cy="0"/>
          </a:xfrm>
          <a:prstGeom prst="line">
            <a:avLst/>
          </a:prstGeom>
          <a:ln w="190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22400" y="6019800"/>
            <a:ext cx="952500" cy="444500"/>
          </a:xfrm>
          <a:prstGeom prst="rect">
            <a:avLst/>
          </a:prstGeom>
          <a:noFill/>
        </p:spPr>
        <p:txBody>
          <a:bodyPr wrap="none" lIns="0" rIns="0" tIns="63500" bIns="0" anchor="t"/>
          <a:lstStyle/>
          <a:p>
            <a:pPr algn="l">
              <a:lnSpc>
                <a:spcPts val="1500"/>
              </a:lnSpc>
            </a:pPr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22.92%</a:t>
            </a:r>
            <a:br>
              <a:rPr sz="800"/>
            </a:br>
            <a:r>
              <a:rPr lang="en-US" sz="450" dirty="0">
                <a:solidFill>
                  <a:srgbClr val="AEB9C5"/>
                </a:solidFill>
                <a:latin typeface="Microsoft YaHei"/>
                <a:cs typeface="Microsoft YaHei"/>
              </a:rPr>
              <a:t>locked wild canonical exact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6500" y="6019800"/>
            <a:ext cx="952500" cy="0"/>
          </a:xfrm>
          <a:prstGeom prst="line">
            <a:avLst/>
          </a:prstGeom>
          <a:ln w="19050">
            <a:solidFill>
              <a:srgbClr val="B4D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6500" y="6019800"/>
            <a:ext cx="952500" cy="444500"/>
          </a:xfrm>
          <a:prstGeom prst="rect">
            <a:avLst/>
          </a:prstGeom>
          <a:noFill/>
        </p:spPr>
        <p:txBody>
          <a:bodyPr wrap="none" lIns="0" rIns="0" tIns="63500" bIns="0" anchor="t"/>
          <a:lstStyle/>
          <a:p>
            <a:pPr algn="l">
              <a:lnSpc>
                <a:spcPts val="1500"/>
              </a:lnSpc>
            </a:pPr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84.72%</a:t>
            </a:r>
            <a:br>
              <a:rPr sz="800"/>
            </a:br>
            <a:r>
              <a:rPr lang="en-US" sz="450" dirty="0">
                <a:solidFill>
                  <a:srgbClr val="AEB9C5"/>
                </a:solidFill>
                <a:latin typeface="Microsoft YaHei"/>
                <a:cs typeface="Microsoft YaHei"/>
              </a:rPr>
              <a:t>locked wild valid SMILES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" y="6658670"/>
            <a:ext cx="8356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最终模型：checkpoint-1400 · beam4/return4 · locked test 只运行一次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lide2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097359"/>
            <a:ext cx="1955800" cy="2159000"/>
          </a:xfrm>
          <a:prstGeom prst="rect">
            <a:avLst/>
          </a:prstGeom>
        </p:spPr>
      </p:pic>
      <p:pic>
        <p:nvPicPr>
          <p:cNvPr id="5" name="Picture 4" descr="slide2-de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1097359"/>
            <a:ext cx="1955800" cy="2159000"/>
          </a:xfrm>
          <a:prstGeom prst="rect">
            <a:avLst/>
          </a:prstGeom>
        </p:spPr>
      </p:pic>
      <p:pic>
        <p:nvPicPr>
          <p:cNvPr id="6" name="Picture 5" descr="slide2-de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0" y="1097359"/>
            <a:ext cx="1955800" cy="2159000"/>
          </a:xfrm>
          <a:prstGeom prst="rect">
            <a:avLst/>
          </a:prstGeom>
        </p:spPr>
      </p:pic>
      <p:pic>
        <p:nvPicPr>
          <p:cNvPr id="7" name="Picture 6" descr="slide2-dec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1097359"/>
            <a:ext cx="1955800" cy="2159000"/>
          </a:xfrm>
          <a:prstGeom prst="rect">
            <a:avLst/>
          </a:prstGeom>
        </p:spPr>
      </p:pic>
      <p:pic>
        <p:nvPicPr>
          <p:cNvPr id="8" name="Picture 7" descr="slide2-deco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00" y="1097359"/>
            <a:ext cx="1955800" cy="215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045700" y="1097359"/>
            <a:ext cx="1879600" cy="21590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045700" y="1097359"/>
            <a:ext cx="1879600" cy="0"/>
          </a:xfrm>
          <a:prstGeom prst="line">
            <a:avLst/>
          </a:prstGeom>
          <a:ln w="38100">
            <a:solidFill>
              <a:srgbClr val="5B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02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PROJECT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项目流程与决策节点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650" y="1313259"/>
            <a:ext cx="1663700" cy="1511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ea typeface="Arial"/>
                <a:cs typeface="Arial"/>
              </a:rPr>
              <a:t>01 ·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650" y="1713309"/>
            <a:ext cx="1663700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zh-CN" sz="9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冻结任务契约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650" y="1906290"/>
            <a:ext cx="1663700" cy="3474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单图、单分子、canonical SMILES；symbolic 独立分轨。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0450" y="1313259"/>
            <a:ext cx="1663700" cy="1511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ea typeface="Arial"/>
                <a:cs typeface="Arial"/>
              </a:rPr>
              <a:t>02 ·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0450" y="1713309"/>
            <a:ext cx="1663700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zh-CN" sz="9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构建训练混合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0450" y="1906290"/>
            <a:ext cx="1663700" cy="1871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七个语义组按可信度、覆盖和吞噬风险配比。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6250" y="1313259"/>
            <a:ext cx="1663700" cy="1511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ea typeface="Arial"/>
                <a:cs typeface="Arial"/>
              </a:rPr>
              <a:t>03 ·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6250" y="1713309"/>
            <a:ext cx="1663700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zh-CN" sz="9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建立评测角色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6250" y="1906290"/>
            <a:ext cx="1663700" cy="26729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development 负责选；paper-group locked</a:t>
            </a:r>
            <a:br>
              <a:rPr sz="650"/>
            </a:b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负责答。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050" y="1313259"/>
            <a:ext cx="1663700" cy="1511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ea typeface="Arial"/>
                <a:cs typeface="Arial"/>
              </a:rPr>
              <a:t>04 · 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050" y="1713309"/>
            <a:ext cx="1663700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en-US" sz="90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V2-1 →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050" y="1906290"/>
            <a:ext cx="1663700" cy="26729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LoRA continuation，同基座、同预算、双</a:t>
            </a:r>
            <a:br>
              <a:rPr sz="650"/>
            </a:b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seed。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7850" y="1313259"/>
            <a:ext cx="1663700" cy="1511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ea typeface="Arial"/>
                <a:cs typeface="Arial"/>
              </a:rPr>
              <a:t>05 ·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7850" y="1713309"/>
            <a:ext cx="1663700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zh-CN" sz="9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闸门式后训练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7850" y="1906290"/>
            <a:ext cx="1663700" cy="26729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checkpoint、hard replay、beam、rerank</a:t>
            </a:r>
            <a:br>
              <a:rPr sz="650"/>
            </a:b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都可被拒绝。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3650" y="1313259"/>
            <a:ext cx="1663700" cy="1511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ea typeface="Arial"/>
                <a:cs typeface="Arial"/>
              </a:rPr>
              <a:t>06 ·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3650" y="1713309"/>
            <a:ext cx="1663700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zh-CN" sz="9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Agent 与开源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3650" y="1906290"/>
            <a:ext cx="1663700" cy="3474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真实前后端、模型包、报告、PPT、GitHub/HF。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6700" y="3370659"/>
            <a:ext cx="11658600" cy="276225"/>
          </a:xfrm>
          <a:prstGeom prst="rect">
            <a:avLst/>
          </a:prstGeom>
          <a:solidFill>
            <a:srgbClr val="E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66700" y="3370659"/>
            <a:ext cx="0" cy="276225"/>
          </a:xfrm>
          <a:prstGeom prst="line">
            <a:avLst/>
          </a:prstGeom>
          <a:ln w="2540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6700" y="3370659"/>
            <a:ext cx="116586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核心逻辑：</a:t>
            </a:r>
            <a:r>
              <a:rPr lang="zh-CN" sz="65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训练集负责“学”，development 负责“选”，locked test 只负责最后回答论文外推。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证据总表：V3/evidence/FINAL_RESULTS.json；完整报告：数据构建报告_V3_final.docx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46559"/>
            <a:ext cx="2667000" cy="21907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3-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052909"/>
            <a:ext cx="2654300" cy="21780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3800" y="1046559"/>
            <a:ext cx="8191500" cy="219075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03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TASK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任务只有一个：图像进去，唯一结构出来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700" y="1919684"/>
            <a:ext cx="546100" cy="622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3180"/>
              </a:lnSpc>
            </a:pPr>
            <a:r>
              <a:rPr lang="en-US" sz="2650" dirty="0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0650" y="1561505"/>
            <a:ext cx="7797800" cy="405705"/>
          </a:xfrm>
          <a:prstGeom prst="rect">
            <a:avLst/>
          </a:prstGeom>
          <a:solidFill>
            <a:srgbClr val="0C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930650" y="1561505"/>
            <a:ext cx="0" cy="405705"/>
          </a:xfrm>
          <a:prstGeom prst="line">
            <a:avLst/>
          </a:prstGeom>
          <a:ln w="25400">
            <a:solidFill>
              <a:srgbClr val="63CA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30650" y="1561505"/>
            <a:ext cx="7797800" cy="567988"/>
          </a:xfrm>
          <a:prstGeom prst="rect">
            <a:avLst/>
          </a:prstGeom>
          <a:noFill/>
        </p:spPr>
        <p:txBody>
          <a:bodyPr wrap="none" lIns="114300" rIns="114300" tIns="114300" bIns="114300" anchor="t"/>
          <a:lstStyle/>
          <a:p>
            <a:pPr algn="l">
              <a:lnSpc>
                <a:spcPts val="1395"/>
              </a:lnSpc>
            </a:pPr>
            <a:r>
              <a:rPr lang="en-US" sz="900" b="1" dirty="0">
                <a:solidFill>
                  <a:srgbClr val="A8ECE5"/>
                </a:solidFill>
                <a:latin typeface="Consolas"/>
                <a:cs typeface="Consolas"/>
              </a:rPr>
              <a:t>Cn1c(=O)n(C)c2ncn(C)c2c1=O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0650" y="1243409"/>
            <a:ext cx="779780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zh-CN" sz="8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主输出必须满足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0650" y="2119610"/>
            <a:ext cx="7797800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一行、单分子、RDKit 可解析、canonicalization 幂等；没有解释文字和第二答案。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700" y="3338909"/>
            <a:ext cx="2857500" cy="4635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66700" y="3338909"/>
            <a:ext cx="2857500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6700" y="3338909"/>
            <a:ext cx="2857500" cy="463550"/>
          </a:xfrm>
          <a:prstGeom prst="rect">
            <a:avLst/>
          </a:prstGeom>
          <a:noFill/>
        </p:spPr>
        <p:txBody>
          <a:bodyPr wrap="square" lIns="82550" rIns="82550" tIns="95250" bIns="9525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拒绝多片段</a:t>
            </a:r>
            <a:br>
              <a:rPr sz="800"/>
            </a:br>
            <a:r>
              <a:rPr lang="zh-CN" sz="5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盐、溶剂、混合物不进主分母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338909"/>
            <a:ext cx="2857500" cy="4635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200400" y="3338909"/>
            <a:ext cx="2857500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0" y="3338909"/>
            <a:ext cx="2857500" cy="463550"/>
          </a:xfrm>
          <a:prstGeom prst="rect">
            <a:avLst/>
          </a:prstGeom>
          <a:noFill/>
        </p:spPr>
        <p:txBody>
          <a:bodyPr wrap="square" lIns="82550" rIns="82550" tIns="95250" bIns="9525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拒绝 dummy atom</a:t>
            </a:r>
            <a:br>
              <a:rPr sz="800"/>
            </a:br>
            <a:r>
              <a:rPr lang="zh-CN" sz="5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占位原子不等于确定结构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4100" y="3338909"/>
            <a:ext cx="2857500" cy="4635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134100" y="3338909"/>
            <a:ext cx="2857500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34100" y="3338909"/>
            <a:ext cx="2857500" cy="463550"/>
          </a:xfrm>
          <a:prstGeom prst="rect">
            <a:avLst/>
          </a:prstGeom>
          <a:noFill/>
        </p:spPr>
        <p:txBody>
          <a:bodyPr wrap="square" lIns="82550" rIns="82550" tIns="95250" bIns="9525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Symbolic 分轨</a:t>
            </a:r>
            <a:br>
              <a:rPr sz="800"/>
            </a:br>
            <a:r>
              <a:rPr lang="zh-CN" sz="5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R-group/缩写不是 canonical 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67800" y="3338909"/>
            <a:ext cx="2857500" cy="4635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067800" y="3338909"/>
            <a:ext cx="2857500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67800" y="3338909"/>
            <a:ext cx="2857500" cy="463550"/>
          </a:xfrm>
          <a:prstGeom prst="rect">
            <a:avLst/>
          </a:prstGeom>
          <a:noFill/>
        </p:spPr>
        <p:txBody>
          <a:bodyPr wrap="square" lIns="82550" rIns="82550" tIns="95250" bIns="9525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Exact 为主</a:t>
            </a:r>
            <a:br>
              <a:rPr sz="800"/>
            </a:br>
            <a:r>
              <a:rPr lang="zh-CN" sz="5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Valid/Tanimoto 只解释错误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任务实现：V3/scripts/build_v3_datasets.py；评测：evaluate_ocsr_predictions_detailed.py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33859"/>
            <a:ext cx="5734050" cy="2172295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400" y="1358305"/>
            <a:ext cx="5454650" cy="387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06400" y="1358305"/>
            <a:ext cx="0" cy="387350"/>
          </a:xfrm>
          <a:prstGeom prst="line">
            <a:avLst/>
          </a:prstGeom>
          <a:ln w="317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06400" y="1802805"/>
            <a:ext cx="5454650" cy="387350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06400" y="1802805"/>
            <a:ext cx="0" cy="387350"/>
          </a:xfrm>
          <a:prstGeom prst="line">
            <a:avLst/>
          </a:prstGeom>
          <a:ln w="317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06400" y="2247305"/>
            <a:ext cx="5454650" cy="387350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06400" y="2247305"/>
            <a:ext cx="0" cy="387350"/>
          </a:xfrm>
          <a:prstGeom prst="line">
            <a:avLst/>
          </a:prstGeom>
          <a:ln w="317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06400" y="2691805"/>
            <a:ext cx="5454650" cy="387350"/>
          </a:xfrm>
          <a:prstGeom prst="rect">
            <a:avLst/>
          </a:prstGeom>
          <a:solidFill>
            <a:srgbClr val="EA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06400" y="2691805"/>
            <a:ext cx="0" cy="387350"/>
          </a:xfrm>
          <a:prstGeom prst="line">
            <a:avLst/>
          </a:prstGeom>
          <a:ln w="31750">
            <a:solidFill>
              <a:srgbClr val="5B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91250" y="1033859"/>
            <a:ext cx="5734050" cy="2172295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0950" y="1358305"/>
            <a:ext cx="5454650" cy="387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330950" y="1358305"/>
            <a:ext cx="0" cy="387350"/>
          </a:xfrm>
          <a:prstGeom prst="line">
            <a:avLst/>
          </a:prstGeom>
          <a:ln w="317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30950" y="1802805"/>
            <a:ext cx="5454650" cy="387350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330950" y="1802805"/>
            <a:ext cx="0" cy="387350"/>
          </a:xfrm>
          <a:prstGeom prst="line">
            <a:avLst/>
          </a:prstGeom>
          <a:ln w="317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30950" y="2247305"/>
            <a:ext cx="5454650" cy="387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330950" y="2247305"/>
            <a:ext cx="0" cy="387350"/>
          </a:xfrm>
          <a:prstGeom prst="line">
            <a:avLst/>
          </a:prstGeom>
          <a:ln w="317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30950" y="2691805"/>
            <a:ext cx="5454650" cy="387350"/>
          </a:xfrm>
          <a:prstGeom prst="rect">
            <a:avLst/>
          </a:prstGeom>
          <a:solidFill>
            <a:srgbClr val="EA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330950" y="2691805"/>
            <a:ext cx="0" cy="387350"/>
          </a:xfrm>
          <a:prstGeom prst="line">
            <a:avLst/>
          </a:prstGeom>
          <a:ln w="31750">
            <a:solidFill>
              <a:srgbClr val="5B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04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DATA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训练数据和评测数据的构建流程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400" y="1160859"/>
            <a:ext cx="54546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zh-CN" sz="8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训练侧：从 V2-1 清单到 V3 strict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750" y="13583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800" dirty="0">
                <a:solidFill>
                  <a:srgbClr val="182230"/>
                </a:solidFill>
                <a:latin typeface="Microsoft YaHei"/>
                <a:cs typeface="Microsoft YaHei"/>
              </a:rPr>
              <a:t>V2-1 clean weighted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3618" y="1358305"/>
            <a:ext cx="465832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cs typeface="Arial"/>
              </a:rPr>
              <a:t>23,047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750" y="18028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zh-CN" sz="80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多片段 / symbolic / 不收敛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1412" y="1802805"/>
            <a:ext cx="338038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−273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750" y="22473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zh-CN" sz="80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与新 held-out 分子重叠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6145" y="2247305"/>
            <a:ext cx="253305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−12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750" y="26918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800" dirty="0">
                <a:solidFill>
                  <a:srgbClr val="182230"/>
                </a:solidFill>
                <a:latin typeface="Microsoft YaHei"/>
                <a:cs typeface="Microsoft YaHei"/>
              </a:rPr>
              <a:t>V3 final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3618" y="2691805"/>
            <a:ext cx="465832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cs typeface="Arial"/>
              </a:rPr>
              <a:t>22,762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0950" y="1160859"/>
            <a:ext cx="54546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zh-CN" sz="8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评测侧：MolRecBench 论文级留出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300" y="13583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zh-CN" sz="80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原始 annotation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02802" y="1358305"/>
            <a:ext cx="381198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cs typeface="Arial"/>
              </a:rPr>
              <a:t>5,008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300" y="18028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zh-CN" sz="80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symbolic / 非 canonical 分流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02802" y="1802805"/>
            <a:ext cx="381198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cs typeface="Arial"/>
              </a:rPr>
              <a:t>3,508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300" y="22473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800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Strict pool · 519 papers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02802" y="2247305"/>
            <a:ext cx="381198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cs typeface="Arial"/>
              </a:rPr>
              <a:t>1,428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300" y="2691805"/>
            <a:ext cx="5219700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800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Locked · 62 papers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29802" y="2691805"/>
            <a:ext cx="254198" cy="503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50"/>
              </a:lnSpc>
            </a:pPr>
            <a:r>
              <a:rPr lang="en-US" sz="1000" b="1" dirty="0">
                <a:solidFill>
                  <a:srgbClr val="182230"/>
                </a:solidFill>
                <a:latin typeface="Arial"/>
                <a:cs typeface="Arial"/>
              </a:rPr>
              <a:t>301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6700" y="3314105"/>
            <a:ext cx="2857500" cy="4318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6700" y="3314105"/>
            <a:ext cx="2857500" cy="431800"/>
          </a:xfrm>
          <a:prstGeom prst="rect">
            <a:avLst/>
          </a:prstGeom>
          <a:noFill/>
        </p:spPr>
        <p:txBody>
          <a:bodyPr wrap="square" lIns="82550" rIns="82550" tIns="88900" bIns="88900" anchor="t"/>
          <a:lstStyle/>
          <a:p>
            <a:pPr algn="l">
              <a:lnSpc>
                <a:spcPts val="720"/>
              </a:lnSpc>
            </a:pPr>
            <a:r>
              <a:rPr lang="zh-CN" sz="600" b="1" dirty="0">
                <a:solidFill>
                  <a:srgbClr val="087F72"/>
                </a:solidFill>
                <a:latin typeface="Microsoft YaHei"/>
                <a:ea typeface="Noto Sans SC"/>
                <a:cs typeface="Microsoft YaHei"/>
              </a:rPr>
              <a:t>图像门</a:t>
            </a:r>
            <a:br>
              <a:rPr sz="600"/>
            </a:br>
            <a:r>
              <a:rPr lang="zh-CN" sz="60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存在、可打开、尺寸非零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314105"/>
            <a:ext cx="2857500" cy="4318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3314105"/>
            <a:ext cx="2857500" cy="431800"/>
          </a:xfrm>
          <a:prstGeom prst="rect">
            <a:avLst/>
          </a:prstGeom>
          <a:noFill/>
        </p:spPr>
        <p:txBody>
          <a:bodyPr wrap="square" lIns="82550" rIns="82550" tIns="88900" bIns="88900" anchor="t"/>
          <a:lstStyle/>
          <a:p>
            <a:pPr algn="l">
              <a:lnSpc>
                <a:spcPts val="720"/>
              </a:lnSpc>
            </a:pPr>
            <a:r>
              <a:rPr lang="zh-CN" sz="600" b="1" dirty="0">
                <a:solidFill>
                  <a:srgbClr val="087F72"/>
                </a:solidFill>
                <a:latin typeface="Microsoft YaHei"/>
                <a:ea typeface="Noto Sans SC"/>
                <a:cs typeface="Microsoft YaHei"/>
              </a:rPr>
              <a:t>化学门</a:t>
            </a:r>
            <a:br>
              <a:rPr sz="600"/>
            </a:br>
            <a:r>
              <a:rPr lang="zh-CN" sz="60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RDKit parse、canonical、单分子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34100" y="3314105"/>
            <a:ext cx="2857500" cy="4318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4100" y="3314105"/>
            <a:ext cx="2857500" cy="431800"/>
          </a:xfrm>
          <a:prstGeom prst="rect">
            <a:avLst/>
          </a:prstGeom>
          <a:noFill/>
        </p:spPr>
        <p:txBody>
          <a:bodyPr wrap="square" lIns="82550" rIns="82550" tIns="88900" bIns="88900" anchor="t"/>
          <a:lstStyle/>
          <a:p>
            <a:pPr algn="l">
              <a:lnSpc>
                <a:spcPts val="720"/>
              </a:lnSpc>
            </a:pPr>
            <a:r>
              <a:rPr lang="zh-CN" sz="600" b="1" dirty="0">
                <a:solidFill>
                  <a:srgbClr val="087F72"/>
                </a:solidFill>
                <a:latin typeface="Microsoft YaHei"/>
                <a:ea typeface="Noto Sans SC"/>
                <a:cs typeface="Microsoft YaHei"/>
              </a:rPr>
              <a:t>泄漏门</a:t>
            </a:r>
            <a:br>
              <a:rPr sz="600"/>
            </a:br>
            <a:r>
              <a:rPr lang="en-US" sz="600" dirty="0">
                <a:solidFill>
                  <a:srgbClr val="182230"/>
                </a:solidFill>
                <a:latin typeface="Microsoft YaHei"/>
                <a:cs typeface="Microsoft YaHei"/>
              </a:rPr>
              <a:t>molecule / structure / paper group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67800" y="3314105"/>
            <a:ext cx="2857500" cy="4318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67800" y="3314105"/>
            <a:ext cx="2857500" cy="431800"/>
          </a:xfrm>
          <a:prstGeom prst="rect">
            <a:avLst/>
          </a:prstGeom>
          <a:noFill/>
        </p:spPr>
        <p:txBody>
          <a:bodyPr wrap="square" lIns="82550" rIns="82550" tIns="88900" bIns="88900" anchor="t"/>
          <a:lstStyle/>
          <a:p>
            <a:pPr algn="l">
              <a:lnSpc>
                <a:spcPts val="720"/>
              </a:lnSpc>
            </a:pPr>
            <a:r>
              <a:rPr lang="zh-CN" sz="600" b="1" dirty="0">
                <a:solidFill>
                  <a:srgbClr val="087F72"/>
                </a:solidFill>
                <a:latin typeface="Microsoft YaHei"/>
                <a:ea typeface="Noto Sans SC"/>
                <a:cs typeface="Microsoft YaHei"/>
              </a:rPr>
              <a:t>许可门</a:t>
            </a:r>
            <a:br>
              <a:rPr sz="600"/>
            </a:br>
            <a:r>
              <a:rPr lang="zh-CN" sz="60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source、上游 ID、公开边界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dataset_build_report.json；wild_paper_group_split.jsonl；DATA_LICENSES_AND_ATTRIBUTION_zh.md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21159"/>
            <a:ext cx="11658600" cy="32385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5-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1091009"/>
            <a:ext cx="11442700" cy="309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05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SEVEN-PART MIXTURE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七部分训练混合：printed 锚点、真实域和长尾子集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记录数包含 repeat/cap 后的训练权重；不是独立图片数。来源：mixture_counts.csv、dataset_build_report.json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334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66700" y="1059259"/>
            <a:ext cx="3818434" cy="2317750"/>
          </a:xfrm>
          <a:prstGeom prst="rect">
            <a:avLst/>
          </a:prstGeom>
          <a:solidFill>
            <a:srgbClr val="1D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66700" y="1059259"/>
            <a:ext cx="3818434" cy="0"/>
          </a:xfrm>
          <a:prstGeom prst="line">
            <a:avLst/>
          </a:prstGeom>
          <a:ln w="38100">
            <a:solidFill>
              <a:srgbClr val="69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86734" y="1059259"/>
            <a:ext cx="3818434" cy="2317750"/>
          </a:xfrm>
          <a:prstGeom prst="rect">
            <a:avLst/>
          </a:prstGeom>
          <a:solidFill>
            <a:srgbClr val="1D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186734" y="1059259"/>
            <a:ext cx="3818434" cy="0"/>
          </a:xfrm>
          <a:prstGeom prst="line">
            <a:avLst/>
          </a:prstGeom>
          <a:ln w="38100">
            <a:solidFill>
              <a:srgbClr val="E2A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06767" y="1059259"/>
            <a:ext cx="3818434" cy="2317750"/>
          </a:xfrm>
          <a:prstGeom prst="rect">
            <a:avLst/>
          </a:prstGeom>
          <a:solidFill>
            <a:srgbClr val="1D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106767" y="1059259"/>
            <a:ext cx="3818434" cy="0"/>
          </a:xfrm>
          <a:prstGeom prst="line">
            <a:avLst/>
          </a:prstGeom>
          <a:ln w="3810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17212D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FFFFFF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06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77D4CA"/>
                </a:solidFill>
                <a:latin typeface="Arial"/>
                <a:cs typeface="Arial"/>
              </a:rPr>
              <a:t>MIXTURE 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配比依据：保护基础能力、暴露弱域、限制干净数据吞噬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" y="1268809"/>
            <a:ext cx="3539034" cy="5245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  <a:cs typeface="Arial"/>
              </a:rPr>
              <a:t>43.55%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400" y="1783159"/>
            <a:ext cx="3539034" cy="219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35"/>
              </a:lnSpc>
            </a:pPr>
            <a:r>
              <a:rPr lang="zh-CN" sz="9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防止遗忘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700" y="2028825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USPTO + UOB 是 printed 锚点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700" y="2218333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保住基本原子、键级与环结构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00" y="2407841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弱域增强不能牺牲基础能力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6434" y="1268809"/>
            <a:ext cx="3539034" cy="5245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  <a:cs typeface="Arial"/>
              </a:rPr>
              <a:t>19.02%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6434" y="1783159"/>
            <a:ext cx="3539034" cy="219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35"/>
              </a:lnSpc>
            </a:pPr>
            <a:r>
              <a:rPr lang="zh-CN" sz="9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弱域可见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0734" y="2028825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real-world 数量少、错误高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0734" y="2218333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拍照、扫描、页面、手写必须持续进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0734" y="2407841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真实域标签只接受可信真值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6467" y="1268809"/>
            <a:ext cx="3539034" cy="5245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≈1,500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6467" y="1783159"/>
            <a:ext cx="3539034" cy="219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35"/>
              </a:lnSpc>
            </a:pPr>
            <a:r>
              <a:rPr lang="zh-CN" sz="9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限制吞噬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0767" y="2028825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三个 USPTO-30K 子集分别 cap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0767" y="2218333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MolGrapher synthetic 只作为训练增强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0767" y="2407841"/>
            <a:ext cx="3424734" cy="1675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3"/>
              </a:lnSpc>
            </a:pPr>
            <a:r>
              <a:rPr lang="zh-CN" sz="650" dirty="0">
                <a:solidFill>
                  <a:srgbClr val="DBE2E8"/>
                </a:solidFill>
                <a:latin typeface="Microsoft YaHei"/>
                <a:ea typeface="Noto Sans SC"/>
                <a:cs typeface="Microsoft YaHei"/>
              </a:rPr>
              <a:t>防止规整图规模压过目标域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700" y="3478609"/>
            <a:ext cx="11658600" cy="276225"/>
          </a:xfrm>
          <a:prstGeom prst="rect">
            <a:avLst/>
          </a:prstGeom>
          <a:solidFill>
            <a:srgbClr val="332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66700" y="3478609"/>
            <a:ext cx="0" cy="276225"/>
          </a:xfrm>
          <a:prstGeom prst="line">
            <a:avLst/>
          </a:prstGeom>
          <a:ln w="25400">
            <a:solidFill>
              <a:srgbClr val="B7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6700" y="3478609"/>
            <a:ext cx="116586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科学边界：</a:t>
            </a:r>
            <a:r>
              <a:rPr lang="zh-CN" sz="650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比例由 V2-1 错误分层、标签可信度与 2×2 探索共同约束；只有两个 seed，不能写成全局最优。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58392"/>
                </a:solidFill>
                <a:latin typeface="Microsoft YaHei"/>
                <a:ea typeface="Noto Sans SC"/>
                <a:cs typeface="Microsoft YaHei"/>
              </a:rPr>
              <a:t>V3/TRAINING_DATA_AND_FINETUNING_REPORT_zh.md；probe_analysis.json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21159"/>
            <a:ext cx="4508500" cy="30797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7-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1091009"/>
            <a:ext cx="4292600" cy="29400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07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EVALUATION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评测面板的角色、规模和使用规则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3950" y="1021159"/>
            <a:ext cx="6991350" cy="5651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933950" y="1021159"/>
            <a:ext cx="0" cy="565150"/>
          </a:xfrm>
          <a:prstGeom prst="line">
            <a:avLst/>
          </a:prstGeom>
          <a:ln w="317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33950" y="1021159"/>
            <a:ext cx="6991350" cy="565150"/>
          </a:xfrm>
          <a:prstGeom prst="rect">
            <a:avLst/>
          </a:prstGeom>
          <a:noFill/>
        </p:spPr>
        <p:txBody>
          <a:bodyPr wrap="square" lIns="95250" rIns="95250" tIns="76200" bIns="76200" anchor="ctr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687386"/>
                </a:solidFill>
                <a:latin typeface="Arial"/>
                <a:cs typeface="Arial"/>
              </a:rPr>
              <a:t>753</a:t>
            </a:r>
            <a:r>
              <a:rPr lang="en-US" sz="650" b="1" dirty="0">
                <a:solidFill>
                  <a:srgbClr val="182230"/>
                </a:solidFill>
                <a:latin typeface="Microsoft YaHei"/>
                <a:cs typeface="Microsoft YaHei"/>
              </a:rPr>
              <a:t>core development</a:t>
            </a:r>
            <a:r>
              <a:rPr lang="zh-CN" sz="5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checkpoint、数据因素、decoder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3950" y="1649809"/>
            <a:ext cx="6991350" cy="5651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933950" y="1649809"/>
            <a:ext cx="0" cy="565150"/>
          </a:xfrm>
          <a:prstGeom prst="line">
            <a:avLst/>
          </a:prstGeom>
          <a:ln w="3175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33950" y="1649809"/>
            <a:ext cx="6991350" cy="565150"/>
          </a:xfrm>
          <a:prstGeom prst="rect">
            <a:avLst/>
          </a:prstGeom>
          <a:noFill/>
        </p:spPr>
        <p:txBody>
          <a:bodyPr wrap="square" lIns="95250" rIns="95250" tIns="76200" bIns="76200" anchor="ctr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687386"/>
                </a:solidFill>
                <a:latin typeface="Arial"/>
                <a:cs typeface="Arial"/>
              </a:rPr>
              <a:t>754</a:t>
            </a:r>
            <a:r>
              <a:rPr lang="en-US" sz="650" b="1" dirty="0">
                <a:solidFill>
                  <a:srgbClr val="182230"/>
                </a:solidFill>
                <a:latin typeface="Microsoft YaHei"/>
                <a:cs typeface="Microsoft YaHei"/>
              </a:rPr>
              <a:t>region development</a:t>
            </a:r>
            <a:r>
              <a:rPr lang="zh-CN" sz="5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页面、教育图与 crop 回归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3950" y="2278459"/>
            <a:ext cx="6991350" cy="5651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933950" y="2278459"/>
            <a:ext cx="0" cy="565150"/>
          </a:xfrm>
          <a:prstGeom prst="line">
            <a:avLst/>
          </a:prstGeom>
          <a:ln w="317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3950" y="2278459"/>
            <a:ext cx="6991350" cy="565150"/>
          </a:xfrm>
          <a:prstGeom prst="rect">
            <a:avLst/>
          </a:prstGeom>
          <a:noFill/>
        </p:spPr>
        <p:txBody>
          <a:bodyPr wrap="square" lIns="95250" rIns="95250" tIns="76200" bIns="76200" anchor="ctr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687386"/>
                </a:solidFill>
                <a:latin typeface="Arial"/>
                <a:cs typeface="Arial"/>
              </a:rPr>
              <a:t>301</a:t>
            </a:r>
            <a:r>
              <a:rPr lang="en-US" sz="650" b="1" dirty="0">
                <a:solidFill>
                  <a:srgbClr val="182230"/>
                </a:solidFill>
                <a:latin typeface="Microsoft YaHei"/>
                <a:cs typeface="Microsoft YaHei"/>
              </a:rPr>
              <a:t>wild strict locked</a:t>
            </a:r>
            <a:r>
              <a:rPr lang="zh-CN" sz="5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62 篇论文整组留出，只拆一次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3950" y="2907109"/>
            <a:ext cx="6991350" cy="5651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933950" y="2907109"/>
            <a:ext cx="0" cy="565150"/>
          </a:xfrm>
          <a:prstGeom prst="line">
            <a:avLst/>
          </a:prstGeom>
          <a:ln w="317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33950" y="2907109"/>
            <a:ext cx="6991350" cy="565150"/>
          </a:xfrm>
          <a:prstGeom prst="rect">
            <a:avLst/>
          </a:prstGeom>
          <a:noFill/>
        </p:spPr>
        <p:txBody>
          <a:bodyPr wrap="square" lIns="95250" rIns="95250" tIns="76200" bIns="76200" anchor="ctr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687386"/>
                </a:solidFill>
                <a:latin typeface="Arial"/>
                <a:cs typeface="Arial"/>
              </a:rPr>
              <a:t>134</a:t>
            </a:r>
            <a:r>
              <a:rPr lang="en-US" sz="650" b="1" dirty="0">
                <a:solidFill>
                  <a:srgbClr val="182230"/>
                </a:solidFill>
                <a:latin typeface="Microsoft YaHei"/>
                <a:cs typeface="Microsoft YaHei"/>
              </a:rPr>
              <a:t>scaffold novel</a:t>
            </a:r>
            <a:r>
              <a:rPr lang="zh-CN" sz="5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wild 内训练未见骨架诊断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3950" y="3535759"/>
            <a:ext cx="6991350" cy="5651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933950" y="3535759"/>
            <a:ext cx="0" cy="565150"/>
          </a:xfrm>
          <a:prstGeom prst="line">
            <a:avLst/>
          </a:prstGeom>
          <a:ln w="31750">
            <a:solidFill>
              <a:srgbClr val="6F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33950" y="3535759"/>
            <a:ext cx="6991350" cy="565150"/>
          </a:xfrm>
          <a:prstGeom prst="rect">
            <a:avLst/>
          </a:prstGeom>
          <a:noFill/>
        </p:spPr>
        <p:txBody>
          <a:bodyPr wrap="square" lIns="95250" rIns="95250" tIns="76200" bIns="76200" anchor="ctr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687386"/>
                </a:solidFill>
                <a:latin typeface="Arial"/>
                <a:cs typeface="Arial"/>
              </a:rPr>
              <a:t>460</a:t>
            </a:r>
            <a:r>
              <a:rPr lang="en-US" sz="650" b="1" dirty="0">
                <a:solidFill>
                  <a:srgbClr val="182230"/>
                </a:solidFill>
                <a:latin typeface="Microsoft YaHei"/>
                <a:cs typeface="Microsoft YaHei"/>
              </a:rPr>
              <a:t>symbolic</a:t>
            </a:r>
            <a:r>
              <a:rPr lang="zh-CN" sz="5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另一种标签空间，不并 canonical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评测集数据构建报告_V3_final.docx；V3/runbooks/EVALUATION_PROTOCOL_zh.md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334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lide8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92609"/>
            <a:ext cx="3913684" cy="2032000"/>
          </a:xfrm>
          <a:prstGeom prst="rect">
            <a:avLst/>
          </a:prstGeom>
        </p:spPr>
      </p:pic>
      <p:pic>
        <p:nvPicPr>
          <p:cNvPr id="4" name="Picture 3" descr="slide8-de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134" y="1192609"/>
            <a:ext cx="3913684" cy="203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57567" y="1192609"/>
            <a:ext cx="3767634" cy="2032000"/>
          </a:xfrm>
          <a:prstGeom prst="rect">
            <a:avLst/>
          </a:prstGeom>
          <a:solidFill>
            <a:srgbClr val="111A23"/>
          </a:solidFill>
          <a:ln w="6350">
            <a:solidFill>
              <a:srgbClr val="445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17212D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FFFFFF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77D4CA"/>
                </a:solidFill>
                <a:latin typeface="Arial"/>
                <a:cs typeface="Arial"/>
              </a:rPr>
              <a:t>LEAKAGE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泄漏控制：molecule、paper group 和 frozen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" y="1421209"/>
            <a:ext cx="701774" cy="1600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80"/>
              </a:lnSpc>
            </a:pPr>
            <a:r>
              <a:rPr lang="en-US" sz="650" b="1" dirty="0">
                <a:solidFill>
                  <a:srgbClr val="6FD2C7"/>
                </a:solidFill>
                <a:latin typeface="Arial"/>
                <a:ea typeface="Arial"/>
                <a:cs typeface="Arial"/>
              </a:rPr>
              <a:t>01 · MOLECULE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" y="1802209"/>
            <a:ext cx="3424734" cy="254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30"/>
              </a:lnSpc>
            </a:pPr>
            <a:r>
              <a:rPr lang="en-US" sz="1100" b="1" dirty="0">
                <a:solidFill>
                  <a:srgbClr val="FFFFFF"/>
                </a:solidFill>
                <a:latin typeface="Microsoft YaHei"/>
                <a:cs typeface="Microsoft YaHei"/>
              </a:rPr>
              <a:t>Canonical molecule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" y="2028230"/>
            <a:ext cx="3424734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同一分子的不同渲染不是独立样本；用 canonical / structure_id 反向去重。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3584" y="1421209"/>
            <a:ext cx="493018" cy="1600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80"/>
              </a:lnSpc>
            </a:pPr>
            <a:r>
              <a:rPr lang="en-US" sz="650" b="1" dirty="0">
                <a:solidFill>
                  <a:srgbClr val="6FD2C7"/>
                </a:solidFill>
                <a:latin typeface="Arial"/>
                <a:ea typeface="Arial"/>
                <a:cs typeface="Arial"/>
              </a:rPr>
              <a:t>02 ·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3584" y="1802209"/>
            <a:ext cx="3424734" cy="254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30"/>
              </a:lnSpc>
            </a:pPr>
            <a:r>
              <a:rPr lang="en-US" sz="1100" b="1" dirty="0">
                <a:solidFill>
                  <a:srgbClr val="FFFFFF"/>
                </a:solidFill>
                <a:latin typeface="Microsoft YaHei"/>
                <a:cs typeface="Microsoft YaHei"/>
              </a:rPr>
              <a:t>Paper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3584" y="2028230"/>
            <a:ext cx="3424734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同论文字体、压缩、版式高度相关；先留整篇论文，再每篇最多 5 图。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9017" y="1421209"/>
            <a:ext cx="448171" cy="1600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80"/>
              </a:lnSpc>
            </a:pPr>
            <a:r>
              <a:rPr lang="en-US" sz="650" b="1" dirty="0">
                <a:solidFill>
                  <a:srgbClr val="6FD2C7"/>
                </a:solidFill>
                <a:latin typeface="Arial"/>
                <a:ea typeface="Arial"/>
                <a:cs typeface="Arial"/>
              </a:rPr>
              <a:t>03 ·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9017" y="1802209"/>
            <a:ext cx="3424734" cy="254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30"/>
              </a:lnSpc>
            </a:pPr>
            <a:r>
              <a:rPr lang="en-US" sz="1100" b="1" dirty="0">
                <a:solidFill>
                  <a:srgbClr val="FFFFFF"/>
                </a:solidFill>
                <a:latin typeface="Microsoft YaHei"/>
                <a:cs typeface="Microsoft YaHei"/>
              </a:rPr>
              <a:t>Frozen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9017" y="2028230"/>
            <a:ext cx="3424734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模型、prompt、checkpoint、decoder、labels hash 全部冻结后才运行。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6700" y="3338909"/>
            <a:ext cx="2867025" cy="266700"/>
          </a:xfrm>
          <a:prstGeom prst="rect">
            <a:avLst/>
          </a:prstGeom>
          <a:solidFill>
            <a:srgbClr val="1B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700" y="3338909"/>
            <a:ext cx="2867025" cy="373380"/>
          </a:xfrm>
          <a:prstGeom prst="rect">
            <a:avLst/>
          </a:prstGeom>
          <a:noFill/>
        </p:spPr>
        <p:txBody>
          <a:bodyPr wrap="none" lIns="88900" rIns="88900" tIns="82550" bIns="8255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Microsoft YaHei"/>
                <a:cs typeface="Microsoft YaHei"/>
              </a:rPr>
              <a:t>72</a:t>
            </a:r>
            <a:r>
              <a:rPr lang="zh-CN" sz="600" dirty="0">
                <a:solidFill>
                  <a:srgbClr val="C9D2DA"/>
                </a:solidFill>
                <a:latin typeface="Microsoft YaHei"/>
                <a:ea typeface="Noto Sans SC"/>
                <a:cs typeface="Microsoft YaHei"/>
              </a:rPr>
              <a:t> 与 legacy dev molecule 重叠排除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97225" y="3338909"/>
            <a:ext cx="2867025" cy="266700"/>
          </a:xfrm>
          <a:prstGeom prst="rect">
            <a:avLst/>
          </a:prstGeom>
          <a:solidFill>
            <a:srgbClr val="1B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7225" y="3338909"/>
            <a:ext cx="2867025" cy="373380"/>
          </a:xfrm>
          <a:prstGeom prst="rect">
            <a:avLst/>
          </a:prstGeom>
          <a:noFill/>
        </p:spPr>
        <p:txBody>
          <a:bodyPr wrap="none" lIns="88900" rIns="88900" tIns="82550" bIns="8255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Microsoft YaHei"/>
                <a:cs typeface="Microsoft YaHei"/>
              </a:rPr>
              <a:t>19</a:t>
            </a:r>
            <a:r>
              <a:rPr lang="zh-CN" sz="600" dirty="0">
                <a:solidFill>
                  <a:srgbClr val="C9D2DA"/>
                </a:solidFill>
                <a:latin typeface="Microsoft YaHei"/>
                <a:ea typeface="Noto Sans SC"/>
                <a:cs typeface="Microsoft YaHei"/>
              </a:rPr>
              <a:t> locked molecule 从训练侧删除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7750" y="3338909"/>
            <a:ext cx="2867025" cy="266700"/>
          </a:xfrm>
          <a:prstGeom prst="rect">
            <a:avLst/>
          </a:prstGeom>
          <a:solidFill>
            <a:srgbClr val="1B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7750" y="3338909"/>
            <a:ext cx="2867025" cy="373380"/>
          </a:xfrm>
          <a:prstGeom prst="rect">
            <a:avLst/>
          </a:prstGeom>
          <a:noFill/>
        </p:spPr>
        <p:txBody>
          <a:bodyPr wrap="none" lIns="88900" rIns="88900" tIns="82550" bIns="8255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087F72"/>
                </a:solidFill>
                <a:latin typeface="Microsoft YaHei"/>
                <a:cs typeface="Microsoft YaHei"/>
              </a:rPr>
              <a:t>0</a:t>
            </a:r>
            <a:r>
              <a:rPr lang="en-US" sz="600" dirty="0">
                <a:solidFill>
                  <a:srgbClr val="C9D2DA"/>
                </a:solidFill>
                <a:latin typeface="Microsoft YaHei"/>
                <a:cs typeface="Microsoft YaHei"/>
              </a:rPr>
              <a:t> training vs locked paper overlap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8275" y="3338909"/>
            <a:ext cx="2867025" cy="266700"/>
          </a:xfrm>
          <a:prstGeom prst="rect">
            <a:avLst/>
          </a:prstGeom>
          <a:solidFill>
            <a:srgbClr val="1B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8275" y="3338909"/>
            <a:ext cx="2867025" cy="373380"/>
          </a:xfrm>
          <a:prstGeom prst="rect">
            <a:avLst/>
          </a:prstGeom>
          <a:noFill/>
        </p:spPr>
        <p:txBody>
          <a:bodyPr wrap="none" lIns="88900" rIns="88900" tIns="82550" bIns="82550" anchor="t"/>
          <a:lstStyle/>
          <a:p>
            <a:pPr algn="l">
              <a:lnSpc>
                <a:spcPts val="720"/>
              </a:lnSpc>
            </a:pPr>
            <a:r>
              <a:rPr lang="zh-CN" sz="600" b="1" dirty="0">
                <a:solidFill>
                  <a:srgbClr val="E5634F"/>
                </a:solidFill>
                <a:latin typeface="Microsoft YaHei"/>
                <a:ea typeface="Noto Sans SC"/>
                <a:cs typeface="Microsoft YaHei"/>
              </a:rPr>
              <a:t>0 回流</a:t>
            </a:r>
            <a:r>
              <a:rPr lang="zh-CN" sz="600" dirty="0">
                <a:solidFill>
                  <a:srgbClr val="C9D2DA"/>
                </a:solidFill>
                <a:latin typeface="Microsoft YaHei"/>
                <a:ea typeface="Noto Sans SC"/>
                <a:cs typeface="Microsoft YaHei"/>
              </a:rPr>
              <a:t> locked 结果不改任何策略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6700" y="3719909"/>
            <a:ext cx="11658600" cy="276225"/>
          </a:xfrm>
          <a:prstGeom prst="rect">
            <a:avLst/>
          </a:prstGeom>
          <a:solidFill>
            <a:srgbClr val="34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66700" y="3719909"/>
            <a:ext cx="0" cy="276225"/>
          </a:xfrm>
          <a:prstGeom prst="line">
            <a:avLst/>
          </a:prstGeom>
          <a:ln w="2540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66700" y="3719909"/>
            <a:ext cx="116586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为什么不能按图片随机切分：</a:t>
            </a:r>
            <a:r>
              <a:rPr lang="zh-CN" sz="650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它会把同论文的视觉指纹放到训练和测试两边，制造虚假的“外推”。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58392"/>
                </a:solidFill>
                <a:latin typeface="Microsoft YaHei"/>
                <a:ea typeface="Noto Sans SC"/>
                <a:cs typeface="Microsoft YaHei"/>
              </a:rPr>
              <a:t>wild_paper_group_split.jsonl；dataset_build_report.json；locked_test_manifest.sha256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334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66700" y="1205309"/>
            <a:ext cx="3383855" cy="2095500"/>
          </a:xfrm>
          <a:prstGeom prst="rect">
            <a:avLst/>
          </a:prstGeom>
          <a:solidFill>
            <a:srgbClr val="111B24"/>
          </a:solidFill>
          <a:ln w="6350">
            <a:solidFill>
              <a:srgbClr val="3E4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4755" y="1205309"/>
            <a:ext cx="3722390" cy="2095500"/>
          </a:xfrm>
          <a:prstGeom prst="rect">
            <a:avLst/>
          </a:prstGeom>
          <a:solidFill>
            <a:srgbClr val="111B24"/>
          </a:solidFill>
          <a:ln w="6350">
            <a:solidFill>
              <a:srgbClr val="62C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41345" y="1205309"/>
            <a:ext cx="3383955" cy="20955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17212D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FFFFFF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09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77D4CA"/>
                </a:solidFill>
                <a:latin typeface="Arial"/>
                <a:cs typeface="Arial"/>
              </a:rPr>
              <a:t>V2-1 TO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V2-1 完成任务适配，V3 继续训练并补齐实验设计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750" y="1427559"/>
            <a:ext cx="668437" cy="1244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0D6CE"/>
                </a:solidFill>
                <a:latin typeface="Arial"/>
                <a:cs typeface="Arial"/>
              </a:rPr>
              <a:t>PADDLEOCR-VL-1.5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750" y="1945680"/>
            <a:ext cx="714573" cy="3378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E5634F"/>
                </a:solidFill>
                <a:latin typeface="Arial"/>
                <a:cs typeface="Arial"/>
              </a:rPr>
              <a:t>Exact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750" y="1719659"/>
            <a:ext cx="3091755" cy="254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30"/>
              </a:lnSpc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通用文档 VLM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750" y="2186980"/>
            <a:ext cx="3091755" cy="26729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AEB8C2"/>
                </a:solidFill>
                <a:latin typeface="Microsoft YaHei"/>
                <a:ea typeface="Noto Sans SC"/>
                <a:cs typeface="Microsoft YaHei"/>
              </a:rPr>
              <a:t>同预算 warm-start 在两个 development 面板 exact 均为 0，尚未建立 canonical</a:t>
            </a:r>
            <a:br>
              <a:rPr sz="650"/>
            </a:br>
            <a:r>
              <a:rPr lang="zh-CN" sz="650" dirty="0">
                <a:solidFill>
                  <a:srgbClr val="AEB8C2"/>
                </a:solidFill>
                <a:latin typeface="Microsoft YaHei"/>
                <a:ea typeface="Noto Sans SC"/>
                <a:cs typeface="Microsoft YaHei"/>
              </a:rPr>
              <a:t>输出能力。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1355" y="2107009"/>
            <a:ext cx="482600" cy="4089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100"/>
              </a:lnSpc>
            </a:pPr>
            <a:r>
              <a:rPr lang="en-US" sz="1750" dirty="0">
                <a:solidFill>
                  <a:srgbClr val="6BD0C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0805" y="1427559"/>
            <a:ext cx="683915" cy="1244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0D6CE"/>
                </a:solidFill>
                <a:latin typeface="Arial"/>
                <a:cs typeface="Arial"/>
              </a:rPr>
              <a:t>V2-1 OCSR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0805" y="1945680"/>
            <a:ext cx="1657747" cy="3378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37.03% → 45.89%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0805" y="1719659"/>
            <a:ext cx="3430290" cy="254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30"/>
              </a:lnSpc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任务适配完成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0805" y="2186980"/>
            <a:ext cx="3430290" cy="26729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AEB8C2"/>
                </a:solidFill>
                <a:latin typeface="Microsoft YaHei"/>
                <a:ea typeface="Noto Sans SC"/>
                <a:cs typeface="Microsoft YaHei"/>
              </a:rPr>
              <a:t>Core baseline → stable；region 38.44% → 43.77%。这些是历史 development，不冒充</a:t>
            </a:r>
            <a:br>
              <a:rPr sz="650"/>
            </a:br>
            <a:r>
              <a:rPr lang="zh-CN" sz="650" dirty="0">
                <a:solidFill>
                  <a:srgbClr val="AEB8C2"/>
                </a:solidFill>
                <a:latin typeface="Microsoft YaHei"/>
                <a:ea typeface="Noto Sans SC"/>
                <a:cs typeface="Microsoft YaHei"/>
              </a:rPr>
              <a:t>locked test。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7945" y="2107009"/>
            <a:ext cx="482600" cy="4089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100"/>
              </a:lnSpc>
            </a:pPr>
            <a:r>
              <a:rPr lang="en-US" sz="1750" dirty="0">
                <a:solidFill>
                  <a:srgbClr val="6BD0C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7395" y="1427559"/>
            <a:ext cx="663773" cy="1244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0D6CE"/>
                </a:solidFill>
                <a:latin typeface="Arial"/>
                <a:cs typeface="Arial"/>
              </a:rPr>
              <a:t>V3 CONTINUATION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7395" y="1945680"/>
            <a:ext cx="1028898" cy="3378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087F72"/>
                </a:solidFill>
                <a:latin typeface="Arial"/>
                <a:cs typeface="Arial"/>
              </a:rPr>
              <a:t>1400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7395" y="1719659"/>
            <a:ext cx="3091855" cy="254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30"/>
              </a:lnSpc>
            </a:pPr>
            <a:r>
              <a:rPr lang="zh-CN" sz="11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低学习率 LoRA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7395" y="2186980"/>
            <a:ext cx="3091855" cy="3474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53"/>
              </a:lnSpc>
            </a:pPr>
            <a:r>
              <a:rPr lang="zh-CN" sz="6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从已学会 OCSR 的 V2-1 继续训练，把预算用于配比、seed、checkpoint 与后训练。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" y="3415109"/>
            <a:ext cx="2867025" cy="47625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700" y="3415109"/>
            <a:ext cx="2867025" cy="476250"/>
          </a:xfrm>
          <a:prstGeom prst="rect">
            <a:avLst/>
          </a:prstGeom>
          <a:noFill/>
        </p:spPr>
        <p:txBody>
          <a:bodyPr wrap="square" lIns="88900" rIns="88900" tIns="82550" bIns="82550" anchor="t"/>
          <a:lstStyle/>
          <a:p>
            <a:pPr algn="l">
              <a:lnSpc>
                <a:spcPts val="1200"/>
              </a:lnSpc>
            </a:pPr>
            <a:r>
              <a:rPr lang="en-US" sz="1000" b="1" dirty="0">
                <a:solidFill>
                  <a:srgbClr val="75D2C8"/>
                </a:solidFill>
                <a:latin typeface="Arial"/>
                <a:cs typeface="Arial"/>
              </a:rPr>
              <a:t>33.77%</a:t>
            </a:r>
            <a:br>
              <a:rPr sz="800"/>
            </a:br>
            <a:r>
              <a:rPr lang="en-US" sz="500" dirty="0">
                <a:solidFill>
                  <a:srgbClr val="A7B2BD"/>
                </a:solidFill>
                <a:latin typeface="Microsoft YaHei"/>
                <a:cs typeface="Microsoft YaHei"/>
              </a:rPr>
              <a:t>V2-1 fixed-panel canonical exact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97225" y="3415109"/>
            <a:ext cx="2867025" cy="47625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7225" y="3415109"/>
            <a:ext cx="2867025" cy="476250"/>
          </a:xfrm>
          <a:prstGeom prst="rect">
            <a:avLst/>
          </a:prstGeom>
          <a:noFill/>
        </p:spPr>
        <p:txBody>
          <a:bodyPr wrap="square" lIns="88900" rIns="88900" tIns="82550" bIns="82550" anchor="t"/>
          <a:lstStyle/>
          <a:p>
            <a:pPr algn="l">
              <a:lnSpc>
                <a:spcPts val="1200"/>
              </a:lnSpc>
            </a:pPr>
            <a:r>
              <a:rPr lang="en-US" sz="1000" b="1" dirty="0">
                <a:solidFill>
                  <a:srgbClr val="75D2C8"/>
                </a:solidFill>
                <a:latin typeface="Arial"/>
                <a:cs typeface="Arial"/>
              </a:rPr>
              <a:t>75.84%</a:t>
            </a:r>
            <a:br>
              <a:rPr sz="800"/>
            </a:br>
            <a:r>
              <a:rPr lang="en-US" sz="500" dirty="0">
                <a:solidFill>
                  <a:srgbClr val="A7B2BD"/>
                </a:solidFill>
                <a:latin typeface="Microsoft YaHei"/>
                <a:cs typeface="Microsoft YaHei"/>
              </a:rPr>
              <a:t>V2-1 valid SMILES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7750" y="3415109"/>
            <a:ext cx="2867025" cy="47625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7750" y="3415109"/>
            <a:ext cx="2867025" cy="476250"/>
          </a:xfrm>
          <a:prstGeom prst="rect">
            <a:avLst/>
          </a:prstGeom>
          <a:noFill/>
        </p:spPr>
        <p:txBody>
          <a:bodyPr wrap="square" lIns="88900" rIns="88900" tIns="82550" bIns="82550" anchor="t"/>
          <a:lstStyle/>
          <a:p>
            <a:pPr algn="l">
              <a:lnSpc>
                <a:spcPts val="1200"/>
              </a:lnSpc>
            </a:pPr>
            <a:r>
              <a:rPr lang="en-US" sz="1000" b="1" dirty="0">
                <a:solidFill>
                  <a:srgbClr val="75D2C8"/>
                </a:solidFill>
                <a:latin typeface="Arial"/>
                <a:cs typeface="Arial"/>
              </a:rPr>
              <a:t>70.18%</a:t>
            </a:r>
            <a:br>
              <a:rPr sz="800"/>
            </a:br>
            <a:r>
              <a:rPr lang="en-US" sz="500" dirty="0">
                <a:solidFill>
                  <a:srgbClr val="A7B2BD"/>
                </a:solidFill>
                <a:latin typeface="Microsoft YaHei"/>
                <a:cs typeface="Microsoft YaHei"/>
              </a:rPr>
              <a:t>token micro-F1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8275" y="3415109"/>
            <a:ext cx="2867025" cy="47625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8275" y="3415109"/>
            <a:ext cx="2867025" cy="476250"/>
          </a:xfrm>
          <a:prstGeom prst="rect">
            <a:avLst/>
          </a:prstGeom>
          <a:noFill/>
        </p:spPr>
        <p:txBody>
          <a:bodyPr wrap="square" lIns="88900" rIns="88900" tIns="82550" bIns="82550" anchor="t"/>
          <a:lstStyle/>
          <a:p>
            <a:pPr algn="l">
              <a:lnSpc>
                <a:spcPts val="1200"/>
              </a:lnSpc>
            </a:pPr>
            <a:r>
              <a:rPr lang="en-US" sz="1000" b="1" dirty="0">
                <a:solidFill>
                  <a:srgbClr val="75D2C8"/>
                </a:solidFill>
                <a:latin typeface="Arial"/>
                <a:cs typeface="Arial"/>
              </a:rPr>
              <a:t>0.6849</a:t>
            </a:r>
            <a:br>
              <a:rPr sz="800"/>
            </a:br>
            <a:r>
              <a:rPr lang="en-US" sz="500" dirty="0">
                <a:solidFill>
                  <a:srgbClr val="A7B2BD"/>
                </a:solidFill>
                <a:latin typeface="Microsoft YaHei"/>
                <a:cs typeface="Microsoft YaHei"/>
              </a:rPr>
              <a:t>mean Tanimoto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58392"/>
                </a:solidFill>
                <a:latin typeface="Microsoft YaHei"/>
                <a:ea typeface="Noto Sans SC"/>
                <a:cs typeface="Microsoft YaHei"/>
              </a:rPr>
              <a:t>BASELINE_V2_1.md；V3 EVAL_DATASET_CONSTRUCTION_REPORT_zh.md；不同面板禁止纵向混算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21159"/>
            <a:ext cx="1771650" cy="1079500"/>
          </a:xfrm>
          <a:prstGeom prst="rect">
            <a:avLst/>
          </a:prstGeom>
          <a:solidFill>
            <a:srgbClr val="E7F5F1"/>
          </a:solidFill>
          <a:ln w="12700">
            <a:solidFill>
              <a:srgbClr val="08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14550" y="1021159"/>
            <a:ext cx="1771650" cy="1079500"/>
          </a:xfrm>
          <a:prstGeom prst="rect">
            <a:avLst/>
          </a:prstGeom>
          <a:solidFill>
            <a:srgbClr val="F3F6F8"/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2176859"/>
            <a:ext cx="1771650" cy="1079500"/>
          </a:xfrm>
          <a:prstGeom prst="rect">
            <a:avLst/>
          </a:prstGeom>
          <a:solidFill>
            <a:srgbClr val="F3F6F8"/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14550" y="2176859"/>
            <a:ext cx="1771650" cy="1079500"/>
          </a:xfrm>
          <a:prstGeom prst="rect">
            <a:avLst/>
          </a:prstGeom>
          <a:solidFill>
            <a:srgbClr val="F3F6F8"/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10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ea typeface="Arial"/>
                <a:cs typeface="Arial"/>
              </a:rPr>
              <a:t>2 × 2 × 2 FACTORIAL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2×2 数据因素探索：00 control 的两 seed 均值最高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750" y="1351955"/>
            <a:ext cx="1479550" cy="539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182230"/>
                </a:solidFill>
                <a:latin typeface="Arial"/>
                <a:cs typeface="Arial"/>
              </a:rPr>
              <a:t>34.11%</a:t>
            </a:r>
            <a:br>
              <a:rPr sz="1550"/>
            </a:br>
            <a:r>
              <a:rPr lang="en-US" sz="55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wild off · aug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750" y="1167209"/>
            <a:ext cx="14795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00 ·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0600" y="1351955"/>
            <a:ext cx="1479550" cy="539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182230"/>
                </a:solidFill>
                <a:latin typeface="Arial"/>
                <a:cs typeface="Arial"/>
              </a:rPr>
              <a:t>33.28%</a:t>
            </a:r>
            <a:br>
              <a:rPr sz="1550"/>
            </a:br>
            <a:r>
              <a:rPr lang="en-US" sz="55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wild on · aug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0600" y="1167209"/>
            <a:ext cx="14795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10 · wild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750" y="2507655"/>
            <a:ext cx="1479550" cy="539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182230"/>
                </a:solidFill>
                <a:latin typeface="Arial"/>
                <a:cs typeface="Arial"/>
              </a:rPr>
              <a:t>33.44%</a:t>
            </a:r>
            <a:br>
              <a:rPr sz="1550"/>
            </a:br>
            <a:r>
              <a:rPr lang="en-US" sz="55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wild off · aug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750" y="2322909"/>
            <a:ext cx="14795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01 · aug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0600" y="2507655"/>
            <a:ext cx="1479550" cy="539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182230"/>
                </a:solidFill>
                <a:latin typeface="Arial"/>
                <a:cs typeface="Arial"/>
              </a:rPr>
              <a:t>33.91%</a:t>
            </a:r>
            <a:br>
              <a:rPr sz="1550"/>
            </a:br>
            <a:r>
              <a:rPr lang="en-US" sz="55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wild on · aug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0600" y="2322909"/>
            <a:ext cx="14795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11 · wild + aug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4000" y="1021159"/>
            <a:ext cx="3898900" cy="4953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4000" y="1021159"/>
            <a:ext cx="3898900" cy="495300"/>
          </a:xfrm>
          <a:prstGeom prst="rect">
            <a:avLst/>
          </a:prstGeom>
          <a:noFill/>
        </p:spPr>
        <p:txBody>
          <a:bodyPr wrap="square" lIns="95250" rIns="95250" tIns="107950" bIns="107950" anchor="t"/>
          <a:lstStyle/>
          <a:p>
            <a:pPr algn="l">
              <a:lnSpc>
                <a:spcPts val="96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基座</a:t>
            </a:r>
            <a:br>
              <a:rPr sz="800"/>
            </a:br>
            <a:r>
              <a:rPr lang="zh-CN" sz="5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V2-1 export，同一初始化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6400" y="1021159"/>
            <a:ext cx="3898900" cy="4953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6400" y="1021159"/>
            <a:ext cx="3898900" cy="495300"/>
          </a:xfrm>
          <a:prstGeom prst="rect">
            <a:avLst/>
          </a:prstGeom>
          <a:noFill/>
        </p:spPr>
        <p:txBody>
          <a:bodyPr wrap="square" lIns="95250" rIns="95250" tIns="107950" bIns="107950" anchor="t"/>
          <a:lstStyle/>
          <a:p>
            <a:pPr algn="l">
              <a:lnSpc>
                <a:spcPts val="96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训练方式</a:t>
            </a:r>
            <a:br>
              <a:rPr sz="800"/>
            </a:br>
            <a:r>
              <a:rPr lang="en-US" sz="550" dirty="0">
                <a:solidFill>
                  <a:srgbClr val="687386"/>
                </a:solidFill>
                <a:latin typeface="Microsoft YaHei"/>
                <a:cs typeface="Microsoft YaHei"/>
              </a:rPr>
              <a:t>LoRA continuation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4000" y="1579959"/>
            <a:ext cx="3898900" cy="4953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4000" y="1579959"/>
            <a:ext cx="3898900" cy="495300"/>
          </a:xfrm>
          <a:prstGeom prst="rect">
            <a:avLst/>
          </a:prstGeom>
          <a:noFill/>
        </p:spPr>
        <p:txBody>
          <a:bodyPr wrap="square" lIns="95250" rIns="95250" tIns="107950" bIns="107950" anchor="t"/>
          <a:lstStyle/>
          <a:p>
            <a:pPr algn="l">
              <a:lnSpc>
                <a:spcPts val="96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设备</a:t>
            </a:r>
            <a:br>
              <a:rPr sz="800"/>
            </a:br>
            <a:r>
              <a:rPr lang="en-US" sz="55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H800 PCIe 80GB · single GPU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6400" y="1579959"/>
            <a:ext cx="3898900" cy="4953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6400" y="1579959"/>
            <a:ext cx="3898900" cy="495300"/>
          </a:xfrm>
          <a:prstGeom prst="rect">
            <a:avLst/>
          </a:prstGeom>
          <a:noFill/>
        </p:spPr>
        <p:txBody>
          <a:bodyPr wrap="square" lIns="95250" rIns="95250" tIns="107950" bIns="107950" anchor="t"/>
          <a:lstStyle/>
          <a:p>
            <a:pPr algn="l">
              <a:lnSpc>
                <a:spcPts val="960"/>
              </a:lnSpc>
            </a:pPr>
            <a:r>
              <a:rPr lang="en-US" sz="650" b="1" dirty="0">
                <a:solidFill>
                  <a:srgbClr val="182230"/>
                </a:solidFill>
                <a:latin typeface="Microsoft YaHei"/>
                <a:cs typeface="Microsoft YaHei"/>
              </a:rPr>
              <a:t>Probe</a:t>
            </a:r>
            <a:br>
              <a:rPr sz="800"/>
            </a:br>
            <a:r>
              <a:rPr lang="en-US" sz="55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250 steps × 8 runs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4000" y="2138759"/>
            <a:ext cx="3898900" cy="4953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4000" y="2138759"/>
            <a:ext cx="3898900" cy="495300"/>
          </a:xfrm>
          <a:prstGeom prst="rect">
            <a:avLst/>
          </a:prstGeom>
          <a:noFill/>
        </p:spPr>
        <p:txBody>
          <a:bodyPr wrap="square" lIns="95250" rIns="95250" tIns="107950" bIns="107950" anchor="t"/>
          <a:lstStyle/>
          <a:p>
            <a:pPr algn="l">
              <a:lnSpc>
                <a:spcPts val="960"/>
              </a:lnSpc>
            </a:pPr>
            <a:r>
              <a:rPr lang="en-US" sz="650" b="1" dirty="0">
                <a:solidFill>
                  <a:srgbClr val="182230"/>
                </a:solidFill>
                <a:latin typeface="Microsoft YaHei"/>
                <a:cs typeface="Microsoft YaHei"/>
              </a:rPr>
              <a:t>Final</a:t>
            </a:r>
            <a:br>
              <a:rPr sz="800"/>
            </a:br>
            <a:r>
              <a:rPr lang="en-US" sz="55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1,400 steps · A control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6400" y="2138759"/>
            <a:ext cx="3898900" cy="4953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6400" y="2138759"/>
            <a:ext cx="3898900" cy="495300"/>
          </a:xfrm>
          <a:prstGeom prst="rect">
            <a:avLst/>
          </a:prstGeom>
          <a:noFill/>
        </p:spPr>
        <p:txBody>
          <a:bodyPr wrap="square" lIns="95250" rIns="95250" tIns="107950" bIns="107950" anchor="t"/>
          <a:lstStyle/>
          <a:p>
            <a:pPr algn="l">
              <a:lnSpc>
                <a:spcPts val="96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主判据</a:t>
            </a:r>
            <a:br>
              <a:rPr sz="800"/>
            </a:br>
            <a:r>
              <a:rPr lang="zh-CN" sz="55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两 dev macro exact + validity 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4000" y="2710259"/>
            <a:ext cx="7861300" cy="276225"/>
          </a:xfrm>
          <a:prstGeom prst="rect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064000" y="2710259"/>
            <a:ext cx="0" cy="276225"/>
          </a:xfrm>
          <a:prstGeom prst="line">
            <a:avLst/>
          </a:prstGeom>
          <a:ln w="25400">
            <a:solidFill>
              <a:srgbClr val="B7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64000" y="2710259"/>
            <a:ext cx="78613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E2AD48"/>
                </a:solidFill>
                <a:latin typeface="Microsoft YaHei"/>
                <a:ea typeface="Noto Sans SC"/>
                <a:cs typeface="Microsoft YaHei"/>
              </a:rPr>
              <a:t>统计结论：</a:t>
            </a:r>
            <a:r>
              <a:rPr lang="zh-CN" sz="650" dirty="0">
                <a:solidFill>
                  <a:srgbClr val="E2AD48"/>
                </a:solidFill>
                <a:latin typeface="Microsoft YaHei"/>
                <a:ea typeface="Noto Sans SC"/>
                <a:cs typeface="Microsoft YaHei"/>
              </a:rPr>
              <a:t>只有两个 seed 且顺序未完全平衡，所以选择 control，但不宣称显著或普适最优。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probe_analysis.json；probe_paired_summary.md；configs/probe_*.yaml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66700" y="3669109"/>
            <a:ext cx="11658600" cy="0"/>
          </a:xfrm>
          <a:prstGeom prst="line">
            <a:avLst/>
          </a:prstGeom>
          <a:ln w="6350">
            <a:solidFill>
              <a:srgbClr val="93A0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6700" y="1033859"/>
            <a:ext cx="0" cy="2635250"/>
          </a:xfrm>
          <a:prstGeom prst="line">
            <a:avLst/>
          </a:prstGeom>
          <a:ln w="6350">
            <a:solidFill>
              <a:srgbClr val="93A0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25450" y="1884759"/>
            <a:ext cx="1512193" cy="12065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64643" y="2107009"/>
            <a:ext cx="1512193" cy="98425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03836" y="2329259"/>
            <a:ext cx="1512193" cy="7620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3029" y="1960959"/>
            <a:ext cx="1512193" cy="11303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82222" y="2138759"/>
            <a:ext cx="1512193" cy="9525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21415" y="1713309"/>
            <a:ext cx="1512193" cy="137795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60608" y="1554559"/>
            <a:ext cx="1512193" cy="1536700"/>
          </a:xfrm>
          <a:prstGeom prst="rect">
            <a:avLst/>
          </a:prstGeom>
          <a:solidFill>
            <a:srgbClr val="08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47302" y="146050"/>
            <a:ext cx="190698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11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CHECKPOINT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七个 checkpoint 的完整 development 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450" y="3142059"/>
            <a:ext cx="1512193" cy="3219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40"/>
              </a:lnSpc>
            </a:pPr>
            <a:r>
              <a:rPr lang="en-US" sz="700" b="1" dirty="0">
                <a:solidFill>
                  <a:srgbClr val="182230"/>
                </a:solidFill>
                <a:latin typeface="Arial"/>
                <a:cs typeface="Arial"/>
              </a:rPr>
              <a:t>34.70%</a:t>
            </a:r>
            <a:r>
              <a:rPr lang="en-US" sz="500" dirty="0">
                <a:solidFill>
                  <a:srgbClr val="687386"/>
                </a:solidFill>
                <a:latin typeface="Microsoft YaHei"/>
                <a:cs typeface="Microsoft YaHei"/>
              </a:rPr>
              <a:t>step 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4643" y="3142059"/>
            <a:ext cx="1512193" cy="3219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40"/>
              </a:lnSpc>
            </a:pPr>
            <a:r>
              <a:rPr lang="en-US" sz="700" b="1" dirty="0">
                <a:solidFill>
                  <a:srgbClr val="182230"/>
                </a:solidFill>
                <a:latin typeface="Arial"/>
                <a:cs typeface="Arial"/>
              </a:rPr>
              <a:t>33.91%</a:t>
            </a:r>
            <a:r>
              <a:rPr lang="en-US" sz="500" dirty="0">
                <a:solidFill>
                  <a:srgbClr val="687386"/>
                </a:solidFill>
                <a:latin typeface="Microsoft YaHei"/>
                <a:cs typeface="Microsoft YaHei"/>
              </a:rPr>
              <a:t>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836" y="3142059"/>
            <a:ext cx="1512193" cy="3219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40"/>
              </a:lnSpc>
            </a:pPr>
            <a:r>
              <a:rPr lang="en-US" sz="700" b="1" dirty="0">
                <a:solidFill>
                  <a:srgbClr val="182230"/>
                </a:solidFill>
                <a:latin typeface="Arial"/>
                <a:cs typeface="Arial"/>
              </a:rPr>
              <a:t>33.05%</a:t>
            </a:r>
            <a:r>
              <a:rPr lang="en-US" sz="500" dirty="0">
                <a:solidFill>
                  <a:srgbClr val="687386"/>
                </a:solidFill>
                <a:latin typeface="Microsoft YaHei"/>
                <a:cs typeface="Microsoft YaHei"/>
              </a:rPr>
              <a:t>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3029" y="3142059"/>
            <a:ext cx="1512193" cy="3219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40"/>
              </a:lnSpc>
            </a:pPr>
            <a:r>
              <a:rPr lang="en-US" sz="700" b="1" dirty="0">
                <a:solidFill>
                  <a:srgbClr val="182230"/>
                </a:solidFill>
                <a:latin typeface="Arial"/>
                <a:cs typeface="Arial"/>
              </a:rPr>
              <a:t>34.44%</a:t>
            </a:r>
            <a:r>
              <a:rPr lang="en-US" sz="500" dirty="0">
                <a:solidFill>
                  <a:srgbClr val="687386"/>
                </a:solidFill>
                <a:latin typeface="Microsoft YaHei"/>
                <a:cs typeface="Microsoft YaHei"/>
              </a:rPr>
              <a:t>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2222" y="3142059"/>
            <a:ext cx="1512193" cy="3219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40"/>
              </a:lnSpc>
            </a:pPr>
            <a:r>
              <a:rPr lang="en-US" sz="700" b="1" dirty="0">
                <a:solidFill>
                  <a:srgbClr val="182230"/>
                </a:solidFill>
                <a:latin typeface="Arial"/>
                <a:cs typeface="Arial"/>
              </a:rPr>
              <a:t>33.78%</a:t>
            </a:r>
            <a:r>
              <a:rPr lang="en-US" sz="500" dirty="0">
                <a:solidFill>
                  <a:srgbClr val="687386"/>
                </a:solidFill>
                <a:latin typeface="Microsoft YaHei"/>
                <a:cs typeface="Microsoft YaHei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1415" y="3142059"/>
            <a:ext cx="1512193" cy="3219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40"/>
              </a:lnSpc>
            </a:pPr>
            <a:r>
              <a:rPr lang="en-US" sz="700" b="1" dirty="0">
                <a:solidFill>
                  <a:srgbClr val="182230"/>
                </a:solidFill>
                <a:latin typeface="Arial"/>
                <a:cs typeface="Arial"/>
              </a:rPr>
              <a:t>35.37%</a:t>
            </a:r>
            <a:r>
              <a:rPr lang="en-US" sz="500" dirty="0">
                <a:solidFill>
                  <a:srgbClr val="687386"/>
                </a:solidFill>
                <a:latin typeface="Microsoft YaHei"/>
                <a:cs typeface="Microsoft YaHei"/>
              </a:rPr>
              <a:t>1200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608" y="3142059"/>
            <a:ext cx="1512193" cy="3219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40"/>
              </a:lnSpc>
            </a:pPr>
            <a:r>
              <a:rPr lang="en-US" sz="700" b="1" dirty="0">
                <a:solidFill>
                  <a:srgbClr val="087F72"/>
                </a:solidFill>
                <a:latin typeface="Arial"/>
                <a:cs typeface="Arial"/>
              </a:rPr>
              <a:t>35.97%</a:t>
            </a:r>
            <a:r>
              <a:rPr lang="en-US" sz="500" dirty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rPr>
              <a:t>1400 · SELECTED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" y="3758009"/>
            <a:ext cx="5740400" cy="276225"/>
          </a:xfrm>
          <a:prstGeom prst="rect">
            <a:avLst/>
          </a:prstGeom>
          <a:solidFill>
            <a:srgbClr val="E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66700" y="3758009"/>
            <a:ext cx="0" cy="276225"/>
          </a:xfrm>
          <a:prstGeom prst="line">
            <a:avLst/>
          </a:prstGeom>
          <a:ln w="2540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6700" y="3758009"/>
            <a:ext cx="57404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选择规则：</a:t>
            </a:r>
            <a:r>
              <a:rPr lang="zh-CN" sz="65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两个 development 面板取 macro exact，且 valid rate 不触发回归闸门。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4900" y="3758009"/>
            <a:ext cx="5740400" cy="276225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184900" y="3758009"/>
            <a:ext cx="0" cy="276225"/>
          </a:xfrm>
          <a:prstGeom prst="line">
            <a:avLst/>
          </a:prstGeom>
          <a:ln w="25400">
            <a:solidFill>
              <a:srgbClr val="245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84900" y="3758009"/>
            <a:ext cx="57404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冻结输出：</a:t>
            </a:r>
            <a:r>
              <a:rPr lang="zh-CN" sz="65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checkpoint-1400、模型 hash、prompt 和 generation config 一起进入后训练比较。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final_checkpoint_selection.json；final_checkpoint_eval_summary.csv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334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66700" y="1078309"/>
            <a:ext cx="3810000" cy="2444750"/>
          </a:xfrm>
          <a:prstGeom prst="rect">
            <a:avLst/>
          </a:prstGeom>
          <a:solidFill>
            <a:srgbClr val="182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66700" y="1078309"/>
            <a:ext cx="3810000" cy="0"/>
          </a:xfrm>
          <a:prstGeom prst="line">
            <a:avLst/>
          </a:prstGeom>
          <a:ln w="38100">
            <a:solidFill>
              <a:srgbClr val="6A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91000" y="1078309"/>
            <a:ext cx="3810000" cy="2444750"/>
          </a:xfrm>
          <a:prstGeom prst="rect">
            <a:avLst/>
          </a:prstGeom>
          <a:solidFill>
            <a:srgbClr val="182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191000" y="1078309"/>
            <a:ext cx="3810000" cy="0"/>
          </a:xfrm>
          <a:prstGeom prst="line">
            <a:avLst/>
          </a:prstGeom>
          <a:ln w="3810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5300" y="1078309"/>
            <a:ext cx="3810000" cy="2444750"/>
          </a:xfrm>
          <a:prstGeom prst="rect">
            <a:avLst/>
          </a:prstGeom>
          <a:solidFill>
            <a:srgbClr val="182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115300" y="1078309"/>
            <a:ext cx="3810000" cy="0"/>
          </a:xfrm>
          <a:prstGeom prst="line">
            <a:avLst/>
          </a:prstGeom>
          <a:ln w="38100">
            <a:solidFill>
              <a:srgbClr val="66C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17212D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FFFFFF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12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77D4CA"/>
                </a:solidFill>
                <a:latin typeface="Arial"/>
                <a:cs typeface="Arial"/>
              </a:rPr>
              <a:t>POST-TRAINING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后训练和解码的受控对照结果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1644055"/>
            <a:ext cx="3505200" cy="6045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35.97%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100" y="2518271"/>
            <a:ext cx="495002" cy="190500"/>
          </a:xfrm>
          <a:prstGeom prst="rect">
            <a:avLst/>
          </a:prstGeom>
          <a:noFill/>
          <a:ln w="6350">
            <a:solidFill>
              <a:srgbClr val="667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" y="2518271"/>
            <a:ext cx="495002" cy="266700"/>
          </a:xfrm>
          <a:prstGeom prst="rect">
            <a:avLst/>
          </a:prstGeom>
          <a:noFill/>
        </p:spPr>
        <p:txBody>
          <a:bodyPr wrap="none" lIns="63500" rIns="63500" tIns="44450" bIns="4445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CFD7DE"/>
                </a:solidFill>
                <a:latin typeface="Arial"/>
                <a:cs typeface="Arial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1300559"/>
            <a:ext cx="350520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Checkpoint-1400 · Greedy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2171105"/>
            <a:ext cx="3505200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B7C1CB"/>
                </a:solidFill>
                <a:latin typeface="Microsoft YaHei"/>
                <a:ea typeface="Noto Sans SC"/>
                <a:cs typeface="Microsoft YaHei"/>
              </a:rPr>
              <a:t>最终权重基准。单候选快，但局部字符歧义容易过早提交。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644055"/>
            <a:ext cx="3505200" cy="6045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80"/>
              </a:lnSpc>
            </a:pPr>
            <a:r>
              <a:rPr lang="en-US" sz="2400" b="1" dirty="0">
                <a:solidFill>
                  <a:srgbClr val="E5634F"/>
                </a:solidFill>
                <a:latin typeface="Arial"/>
                <a:cs typeface="Arial"/>
              </a:rPr>
              <a:t>35.24%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518271"/>
            <a:ext cx="513755" cy="190500"/>
          </a:xfrm>
          <a:prstGeom prst="rect">
            <a:avLst/>
          </a:prstGeom>
          <a:noFill/>
          <a:ln w="6350">
            <a:solidFill>
              <a:srgbClr val="E56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518271"/>
            <a:ext cx="513755" cy="266700"/>
          </a:xfrm>
          <a:prstGeom prst="rect">
            <a:avLst/>
          </a:prstGeom>
          <a:noFill/>
        </p:spPr>
        <p:txBody>
          <a:bodyPr wrap="none" lIns="63500" rIns="63500" tIns="44450" bIns="4445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FF9C8D"/>
                </a:solidFill>
                <a:latin typeface="Arial"/>
                <a:cs typeface="Arial"/>
              </a:rPr>
              <a:t>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1300559"/>
            <a:ext cx="350520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Hard replay · 300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171105"/>
            <a:ext cx="3505200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B7C1CB"/>
                </a:solidFill>
                <a:latin typeface="Microsoft YaHei"/>
                <a:ea typeface="Noto Sans SC"/>
                <a:cs typeface="Microsoft YaHei"/>
              </a:rPr>
              <a:t>相对 final −0.73pp，并伴随 validity 回退；“更难样本”没有转化成收益。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700" y="1644055"/>
            <a:ext cx="3505200" cy="6045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80"/>
              </a:lnSpc>
            </a:pPr>
            <a:r>
              <a:rPr lang="en-US" sz="2400" b="1" dirty="0">
                <a:solidFill>
                  <a:srgbClr val="087F72"/>
                </a:solidFill>
                <a:latin typeface="Arial"/>
                <a:cs typeface="Arial"/>
              </a:rPr>
              <a:t>42.07%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7700" y="2518271"/>
            <a:ext cx="478433" cy="190500"/>
          </a:xfrm>
          <a:prstGeom prst="rect">
            <a:avLst/>
          </a:prstGeom>
          <a:noFill/>
          <a:ln w="6350">
            <a:solidFill>
              <a:srgbClr val="66C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7700" y="2518271"/>
            <a:ext cx="478433" cy="266700"/>
          </a:xfrm>
          <a:prstGeom prst="rect">
            <a:avLst/>
          </a:prstGeom>
          <a:noFill/>
        </p:spPr>
        <p:txBody>
          <a:bodyPr wrap="none" lIns="63500" rIns="63500" tIns="44450" bIns="4445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7ED6CD"/>
                </a:solidFill>
                <a:latin typeface="Arial"/>
                <a:cs typeface="Arial"/>
              </a:rPr>
              <a:t>ADOPTED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7700" y="1300559"/>
            <a:ext cx="350520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FFFFFF"/>
                </a:solidFill>
                <a:latin typeface="Microsoft YaHei"/>
                <a:cs typeface="Microsoft YaHei"/>
              </a:rPr>
              <a:t>Beam4 / Return4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7700" y="2171105"/>
            <a:ext cx="3505200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B7C1CB"/>
                </a:solidFill>
                <a:latin typeface="Microsoft YaHei"/>
                <a:ea typeface="Noto Sans SC"/>
                <a:cs typeface="Microsoft YaHei"/>
              </a:rPr>
              <a:t>相对 greedy +6.10pp；两个 development 面板 paired cluster CI 均高于 0。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700" y="3624659"/>
            <a:ext cx="5740400" cy="276225"/>
          </a:xfrm>
          <a:prstGeom prst="rect">
            <a:avLst/>
          </a:prstGeom>
          <a:solidFill>
            <a:srgbClr val="34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66700" y="3624659"/>
            <a:ext cx="0" cy="276225"/>
          </a:xfrm>
          <a:prstGeom prst="line">
            <a:avLst/>
          </a:prstGeom>
          <a:ln w="2540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6700" y="3624659"/>
            <a:ext cx="57404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Chem-light rerank：</a:t>
            </a:r>
            <a:r>
              <a:rPr lang="zh-CN" sz="650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39.55%，相对原始 beam −2.52pp，拒绝。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900" y="3624659"/>
            <a:ext cx="5740400" cy="276225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184900" y="3624659"/>
            <a:ext cx="0" cy="276225"/>
          </a:xfrm>
          <a:prstGeom prst="line">
            <a:avLst/>
          </a:prstGeom>
          <a:ln w="2540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84900" y="3624659"/>
            <a:ext cx="57404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方法学价值：</a:t>
            </a:r>
            <a:r>
              <a:rPr lang="zh-CN" sz="650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失败实验也公开，复杂度从不自动等于创新。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58392"/>
                </a:solidFill>
                <a:latin typeface="Microsoft YaHei"/>
                <a:ea typeface="Noto Sans SC"/>
                <a:cs typeface="Microsoft YaHei"/>
              </a:rPr>
              <a:t>final_vs_hard_replay.json；generation_policy_beam_selection.json；generation_policy_selection.json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21159"/>
            <a:ext cx="3994150" cy="14097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6700" y="1021159"/>
            <a:ext cx="3994150" cy="0"/>
          </a:xfrm>
          <a:prstGeom prst="line">
            <a:avLst/>
          </a:prstGeom>
          <a:ln w="3810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349750" y="1021159"/>
            <a:ext cx="3994150" cy="14097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349750" y="1021159"/>
            <a:ext cx="3994150" cy="0"/>
          </a:xfrm>
          <a:prstGeom prst="line">
            <a:avLst/>
          </a:prstGeom>
          <a:ln w="38100">
            <a:solidFill>
              <a:srgbClr val="9BCF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66700" y="2519759"/>
            <a:ext cx="3994150" cy="14097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66700" y="2519759"/>
            <a:ext cx="3994150" cy="0"/>
          </a:xfrm>
          <a:prstGeom prst="line">
            <a:avLst/>
          </a:prstGeom>
          <a:ln w="38100">
            <a:solidFill>
              <a:srgbClr val="E2A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49750" y="2519759"/>
            <a:ext cx="3994150" cy="14097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349750" y="2519759"/>
            <a:ext cx="3994150" cy="0"/>
          </a:xfrm>
          <a:prstGeom prst="line">
            <a:avLst/>
          </a:prstGeom>
          <a:ln w="38100">
            <a:solidFill>
              <a:srgbClr val="6B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496300" y="1021159"/>
            <a:ext cx="3429000" cy="28765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lide13-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250" y="1091009"/>
            <a:ext cx="3213100" cy="27368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13 /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LOCKED FINAL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Locked 论文图结果：exact 与 valid 分开解释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800" y="1402159"/>
            <a:ext cx="3663950" cy="6134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40"/>
              </a:lnSpc>
            </a:pPr>
            <a:r>
              <a:rPr lang="en-US" sz="2450" b="1" dirty="0">
                <a:solidFill>
                  <a:srgbClr val="FFFFFF"/>
                </a:solidFill>
                <a:latin typeface="Arial"/>
                <a:cs typeface="Arial"/>
              </a:rPr>
              <a:t>22.92%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" y="1891109"/>
            <a:ext cx="36639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FFFFFF"/>
                </a:solidFill>
                <a:latin typeface="Microsoft YaHei"/>
                <a:cs typeface="Microsoft YaHei"/>
              </a:rPr>
              <a:t>Wild canonical exact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" y="2075855"/>
            <a:ext cx="3663950" cy="1583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1"/>
              </a:lnSpc>
            </a:pPr>
            <a:r>
              <a:rPr lang="zh-CN" sz="550" dirty="0">
                <a:solidFill>
                  <a:srgbClr val="B2BDC7"/>
                </a:solidFill>
                <a:latin typeface="Microsoft YaHei"/>
                <a:ea typeface="Noto Sans SC"/>
                <a:cs typeface="Microsoft YaHei"/>
              </a:rPr>
              <a:t>301 图 / 301 分子 / 62 篇论文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4850" y="1402159"/>
            <a:ext cx="3663950" cy="6134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40"/>
              </a:lnSpc>
            </a:pPr>
            <a:r>
              <a:rPr lang="en-US" sz="2450" b="1" dirty="0">
                <a:solidFill>
                  <a:srgbClr val="FFFFFF"/>
                </a:solidFill>
                <a:latin typeface="Arial"/>
                <a:cs typeface="Arial"/>
              </a:rPr>
              <a:t>84.72%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850" y="1891109"/>
            <a:ext cx="36639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FFFFFF"/>
                </a:solidFill>
                <a:latin typeface="Microsoft YaHei"/>
                <a:cs typeface="Microsoft YaHei"/>
              </a:rPr>
              <a:t>Wild valid SMILES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4850" y="2075855"/>
            <a:ext cx="3663950" cy="1583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1"/>
              </a:lnSpc>
            </a:pPr>
            <a:r>
              <a:rPr lang="zh-CN" sz="550" dirty="0">
                <a:solidFill>
                  <a:srgbClr val="B2BDC7"/>
                </a:solidFill>
                <a:latin typeface="Microsoft YaHei"/>
                <a:ea typeface="Noto Sans SC"/>
                <a:cs typeface="Microsoft YaHei"/>
              </a:rPr>
              <a:t>大量输出化学上有效，但键级/位置仍可能错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00" y="2900759"/>
            <a:ext cx="3663950" cy="6134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40"/>
              </a:lnSpc>
            </a:pPr>
            <a:r>
              <a:rPr lang="en-US" sz="2450" b="1" dirty="0">
                <a:solidFill>
                  <a:srgbClr val="FFFFFF"/>
                </a:solidFill>
                <a:latin typeface="Arial"/>
                <a:cs typeface="Arial"/>
              </a:rPr>
              <a:t>13.43%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800" y="3389709"/>
            <a:ext cx="36639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FFFFFF"/>
                </a:solidFill>
                <a:latin typeface="Microsoft YaHei"/>
                <a:cs typeface="Microsoft YaHei"/>
              </a:rPr>
              <a:t>Scaffold novel exact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800" y="3574455"/>
            <a:ext cx="3663950" cy="1583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1"/>
              </a:lnSpc>
            </a:pPr>
            <a:r>
              <a:rPr lang="zh-CN" sz="550" dirty="0">
                <a:solidFill>
                  <a:srgbClr val="B2BDC7"/>
                </a:solidFill>
                <a:latin typeface="Microsoft YaHei"/>
                <a:ea typeface="Noto Sans SC"/>
                <a:cs typeface="Microsoft YaHei"/>
              </a:rPr>
              <a:t>134 个训练未见骨架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4850" y="2900759"/>
            <a:ext cx="3663950" cy="6134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40"/>
              </a:lnSpc>
            </a:pPr>
            <a:r>
              <a:rPr lang="en-US" sz="2450" b="1" dirty="0">
                <a:solidFill>
                  <a:srgbClr val="FFFFFF"/>
                </a:solidFill>
                <a:latin typeface="Arial"/>
                <a:cs typeface="Arial"/>
              </a:rPr>
              <a:t>75.37%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4850" y="3389709"/>
            <a:ext cx="36639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en-US" sz="850" b="1" dirty="0">
                <a:solidFill>
                  <a:srgbClr val="FFFFFF"/>
                </a:solidFill>
                <a:latin typeface="Microsoft YaHei"/>
                <a:cs typeface="Microsoft YaHei"/>
              </a:rPr>
              <a:t>Scaffold valid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4850" y="3574455"/>
            <a:ext cx="3663950" cy="1583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1"/>
              </a:lnSpc>
            </a:pPr>
            <a:r>
              <a:rPr lang="zh-CN" sz="550" dirty="0">
                <a:solidFill>
                  <a:srgbClr val="B2BDC7"/>
                </a:solidFill>
                <a:latin typeface="Microsoft YaHei"/>
                <a:ea typeface="Noto Sans SC"/>
                <a:cs typeface="Microsoft YaHei"/>
              </a:rPr>
              <a:t>新骨架 + 论文域移是最难组合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700" y="4012009"/>
            <a:ext cx="8077200" cy="276225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66700" y="4012009"/>
            <a:ext cx="0" cy="276225"/>
          </a:xfrm>
          <a:prstGeom prst="line">
            <a:avLst/>
          </a:prstGeom>
          <a:ln w="2540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6700" y="4012009"/>
            <a:ext cx="80772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E5634F"/>
                </a:solidFill>
                <a:latin typeface="Microsoft YaHei"/>
                <a:ea typeface="Noto Sans SC"/>
                <a:cs typeface="Microsoft YaHei"/>
              </a:rPr>
              <a:t>Symbolic 轨道：</a:t>
            </a:r>
            <a:r>
              <a:rPr lang="zh-CN" sz="650" dirty="0">
                <a:solidFill>
                  <a:srgbClr val="E5634F"/>
                </a:solidFill>
                <a:latin typeface="Microsoft YaHei"/>
                <a:ea typeface="Noto Sans SC"/>
                <a:cs typeface="Microsoft YaHei"/>
              </a:rPr>
              <a:t>460 条 exact 0%、nonempty 100%；它需要专用标签协议和 decoder，不混进 canonical 主分数。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V3/evidence/FINAL_RESULTS.json；locked test 结果不回流训练、prompt、beam 或候选排序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21159"/>
            <a:ext cx="11658600" cy="3397250"/>
          </a:xfrm>
          <a:prstGeom prst="rect">
            <a:avLst/>
          </a:prstGeom>
          <a:solidFill>
            <a:srgbClr val="E7EBEF"/>
          </a:solidFill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14-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084659"/>
            <a:ext cx="11531600" cy="32702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14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" y="533400"/>
            <a:ext cx="932815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MOLTRACE OCSR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" y="679450"/>
            <a:ext cx="932815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MolTrace Agent 的六步可审计工作流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4550" y="558800"/>
            <a:ext cx="2190750" cy="462359"/>
          </a:xfrm>
          <a:prstGeom prst="rect">
            <a:avLst/>
          </a:prstGeom>
          <a:solidFill>
            <a:srgbClr val="E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734550" y="558800"/>
            <a:ext cx="0" cy="462359"/>
          </a:xfrm>
          <a:prstGeom prst="line">
            <a:avLst/>
          </a:prstGeom>
          <a:ln w="2540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34550" y="558800"/>
            <a:ext cx="2190750" cy="462359"/>
          </a:xfrm>
          <a:prstGeom prst="rect">
            <a:avLst/>
          </a:prstGeom>
          <a:noFill/>
        </p:spPr>
        <p:txBody>
          <a:bodyPr wrap="squar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六步 trace：</a:t>
            </a:r>
            <a:r>
              <a:rPr lang="zh-CN" sz="65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输入契约 → 视觉质检 → 候选生成 →</a:t>
            </a:r>
            <a:br>
              <a:rPr sz="650"/>
            </a:br>
            <a:r>
              <a:rPr lang="zh-CN" sz="650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RDKit 校验 → 一致性排序 → 证据汇总。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真实浏览器验收：1440×1050 与 390×844 均无横向溢出；4 个候选、6 步 trace 正常渲染；Node tests 5/5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334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lide15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86259"/>
            <a:ext cx="1951534" cy="1587500"/>
          </a:xfrm>
          <a:prstGeom prst="rect">
            <a:avLst/>
          </a:prstGeom>
        </p:spPr>
      </p:pic>
      <p:pic>
        <p:nvPicPr>
          <p:cNvPr id="4" name="Picture 3" descr="slide15-de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584" y="1186259"/>
            <a:ext cx="1951534" cy="1587500"/>
          </a:xfrm>
          <a:prstGeom prst="rect">
            <a:avLst/>
          </a:prstGeom>
        </p:spPr>
      </p:pic>
      <p:pic>
        <p:nvPicPr>
          <p:cNvPr id="5" name="Picture 4" descr="slide15-de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467" y="1186259"/>
            <a:ext cx="1951633" cy="1587500"/>
          </a:xfrm>
          <a:prstGeom prst="rect">
            <a:avLst/>
          </a:prstGeom>
        </p:spPr>
      </p:pic>
      <p:pic>
        <p:nvPicPr>
          <p:cNvPr id="6" name="Picture 5" descr="slide15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50" y="1186259"/>
            <a:ext cx="1951534" cy="1587500"/>
          </a:xfrm>
          <a:prstGeom prst="rect">
            <a:avLst/>
          </a:prstGeom>
        </p:spPr>
      </p:pic>
      <p:pic>
        <p:nvPicPr>
          <p:cNvPr id="7" name="Picture 6" descr="slide15-de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334" y="1186259"/>
            <a:ext cx="1951534" cy="158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56217" y="1186259"/>
            <a:ext cx="1869083" cy="1587500"/>
          </a:xfrm>
          <a:prstGeom prst="rect">
            <a:avLst/>
          </a:prstGeom>
          <a:solidFill>
            <a:srgbClr val="15212B"/>
          </a:solidFill>
          <a:ln w="6350">
            <a:solidFill>
              <a:srgbClr val="394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17212D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FFFFFF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dirty="0">
                <a:solidFill>
                  <a:srgbClr val="9FAAB7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15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77D4CA"/>
                </a:solidFill>
                <a:latin typeface="Arial"/>
                <a:cs typeface="Arial"/>
              </a:rPr>
              <a:t>FRONTEND +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Agent 前后端架构和运行模式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1383109"/>
            <a:ext cx="93266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6FD2C7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1713309"/>
            <a:ext cx="1640384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en-US" sz="900" b="1" dirty="0">
                <a:solidFill>
                  <a:srgbClr val="FFFFFF"/>
                </a:solidFill>
                <a:latin typeface="Microsoft YaHei"/>
                <a:cs typeface="Microsoft YaHei"/>
              </a:rPr>
              <a:t>Browser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1906290"/>
            <a:ext cx="1640384" cy="3743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拖放、预览、质量门、参数、历史、JSON 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8884" y="1383109"/>
            <a:ext cx="93266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6FD2C7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8884" y="1713309"/>
            <a:ext cx="1640384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en-US" sz="900" b="1" dirty="0">
                <a:solidFill>
                  <a:srgbClr val="FFFFFF"/>
                </a:solidFill>
                <a:latin typeface="Microsoft YaHei"/>
                <a:cs typeface="Microsoft YaHei"/>
              </a:rPr>
              <a:t>Node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8884" y="1906290"/>
            <a:ext cx="1640384" cy="3743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零 npm 运行依赖；大小限制、隐私与状态探针。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6767" y="1383109"/>
            <a:ext cx="93266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6FD2C7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6767" y="1713309"/>
            <a:ext cx="1640483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en-US" sz="900" b="1" dirty="0">
                <a:solidFill>
                  <a:srgbClr val="FFFFFF"/>
                </a:solidFill>
                <a:latin typeface="Microsoft YaHei"/>
                <a:cs typeface="Microsoft YaHei"/>
              </a:rPr>
              <a:t>Adapter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6767" y="1906290"/>
            <a:ext cx="1640483" cy="2879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固定调用已有</a:t>
            </a:r>
            <a:br>
              <a:rPr sz="700"/>
            </a:b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infer_ocsr_transformers.py。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750" y="1383109"/>
            <a:ext cx="93266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6FD2C7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750" y="1713309"/>
            <a:ext cx="1640384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en-US" sz="900" b="1" dirty="0">
                <a:solidFill>
                  <a:srgbClr val="FFFFFF"/>
                </a:solidFill>
                <a:latin typeface="Microsoft YaHei"/>
                <a:cs typeface="Microsoft YaHei"/>
              </a:rPr>
              <a:t>V3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750" y="1906290"/>
            <a:ext cx="1640384" cy="3743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beam4/return4，可选轻量 TTA，多候选召回。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2634" y="1383109"/>
            <a:ext cx="93266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6FD2C7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2634" y="1713309"/>
            <a:ext cx="1640384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en-US" sz="900" b="1" dirty="0">
                <a:solidFill>
                  <a:srgbClr val="FFFFFF"/>
                </a:solidFill>
                <a:latin typeface="Microsoft YaHei"/>
                <a:cs typeface="Microsoft YaHei"/>
              </a:rPr>
              <a:t>RDKit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2634" y="1906290"/>
            <a:ext cx="1640384" cy="3743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解析、canonical、片段、dummy 与结构惩罚。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70517" y="1383109"/>
            <a:ext cx="93266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6FD2C7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0517" y="1713309"/>
            <a:ext cx="1640483" cy="2079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0"/>
              </a:lnSpc>
            </a:pPr>
            <a:r>
              <a:rPr lang="en-US" sz="900" b="1" dirty="0">
                <a:solidFill>
                  <a:srgbClr val="FFFFFF"/>
                </a:solidFill>
                <a:latin typeface="Microsoft YaHei"/>
                <a:cs typeface="Microsoft YaHei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0517" y="1906290"/>
            <a:ext cx="1640483" cy="3743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AAB5C0"/>
                </a:solidFill>
                <a:latin typeface="Microsoft YaHei"/>
                <a:ea typeface="Noto Sans SC"/>
                <a:cs typeface="Microsoft YaHei"/>
              </a:rPr>
              <a:t>候选、投票、分数、选择理由、边界和耗时。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6700" y="2900759"/>
            <a:ext cx="3835400" cy="279400"/>
          </a:xfrm>
          <a:prstGeom prst="rect">
            <a:avLst/>
          </a:prstGeom>
          <a:solidFill>
            <a:srgbClr val="1A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700" y="2900759"/>
            <a:ext cx="3835400" cy="391160"/>
          </a:xfrm>
          <a:prstGeom prst="rect">
            <a:avLst/>
          </a:prstGeom>
          <a:noFill/>
        </p:spPr>
        <p:txBody>
          <a:bodyPr wrap="none" lIns="101600" rIns="101600" tIns="88900" bIns="8890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74D2C8"/>
                </a:solidFill>
                <a:latin typeface="Microsoft YaHei"/>
                <a:cs typeface="Microsoft YaHei"/>
              </a:rPr>
              <a:t>GPU MODEL</a:t>
            </a:r>
            <a:r>
              <a:rPr lang="zh-CN" sz="600" dirty="0">
                <a:solidFill>
                  <a:srgbClr val="C6D0D9"/>
                </a:solidFill>
                <a:latin typeface="Microsoft YaHei"/>
                <a:ea typeface="Noto Sans SC"/>
                <a:cs typeface="Microsoft YaHei"/>
              </a:rPr>
              <a:t> 设置 V3_MODEL_DIR 后运行真实模型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8300" y="2900759"/>
            <a:ext cx="3835400" cy="279400"/>
          </a:xfrm>
          <a:prstGeom prst="rect">
            <a:avLst/>
          </a:prstGeom>
          <a:solidFill>
            <a:srgbClr val="1A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78300" y="2900759"/>
            <a:ext cx="3835400" cy="391160"/>
          </a:xfrm>
          <a:prstGeom prst="rect">
            <a:avLst/>
          </a:prstGeom>
          <a:noFill/>
        </p:spPr>
        <p:txBody>
          <a:bodyPr wrap="none" lIns="101600" rIns="101600" tIns="88900" bIns="8890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74D2C8"/>
                </a:solidFill>
                <a:latin typeface="Microsoft YaHei"/>
                <a:cs typeface="Microsoft YaHei"/>
              </a:rPr>
              <a:t>GUIDED DEMO</a:t>
            </a:r>
            <a:r>
              <a:rPr lang="zh-CN" sz="600" dirty="0">
                <a:solidFill>
                  <a:srgbClr val="C6D0D9"/>
                </a:solidFill>
                <a:latin typeface="Microsoft YaHei"/>
                <a:ea typeface="Noto Sans SC"/>
                <a:cs typeface="Microsoft YaHei"/>
              </a:rPr>
              <a:t> 仅内置咖啡因样例使用已知标签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9900" y="2900759"/>
            <a:ext cx="3835400" cy="279400"/>
          </a:xfrm>
          <a:prstGeom prst="rect">
            <a:avLst/>
          </a:prstGeom>
          <a:solidFill>
            <a:srgbClr val="1A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9900" y="2900759"/>
            <a:ext cx="3835400" cy="391160"/>
          </a:xfrm>
          <a:prstGeom prst="rect">
            <a:avLst/>
          </a:prstGeom>
          <a:noFill/>
        </p:spPr>
        <p:txBody>
          <a:bodyPr wrap="none" lIns="101600" rIns="101600" tIns="88900" bIns="88900" anchor="t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74D2C8"/>
                </a:solidFill>
                <a:latin typeface="Microsoft YaHei"/>
                <a:cs typeface="Microsoft YaHei"/>
              </a:rPr>
              <a:t>NEEDS MODEL</a:t>
            </a:r>
            <a:r>
              <a:rPr lang="zh-CN" sz="600" dirty="0">
                <a:solidFill>
                  <a:srgbClr val="C6D0D9"/>
                </a:solidFill>
                <a:latin typeface="Microsoft YaHei"/>
                <a:ea typeface="Noto Sans SC"/>
                <a:cs typeface="Microsoft YaHei"/>
              </a:rPr>
              <a:t> 任意上传图在无模型时拒绝伪造结果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700" y="3275409"/>
            <a:ext cx="11658600" cy="276225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66700" y="3275409"/>
            <a:ext cx="0" cy="276225"/>
          </a:xfrm>
          <a:prstGeom prst="line">
            <a:avLst/>
          </a:prstGeom>
          <a:ln w="2540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6700" y="3275409"/>
            <a:ext cx="11658600" cy="386715"/>
          </a:xfrm>
          <a:prstGeom prst="rect">
            <a:avLst/>
          </a:prstGeom>
          <a:noFill/>
        </p:spPr>
        <p:txBody>
          <a:bodyPr wrap="none" lIns="95250" rIns="95250" tIns="76200" bIns="76200" anchor="t"/>
          <a:lstStyle/>
          <a:p>
            <a:pPr algn="l">
              <a:lnSpc>
                <a:spcPts val="975"/>
              </a:lnSpc>
            </a:pPr>
            <a:r>
              <a:rPr lang="zh-CN" sz="650" b="1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隐私：</a:t>
            </a:r>
            <a:r>
              <a:rPr lang="zh-CN" sz="650" dirty="0">
                <a:solidFill>
                  <a:srgbClr val="DBE3EA"/>
                </a:solidFill>
                <a:latin typeface="Microsoft YaHei"/>
                <a:ea typeface="Noto Sans SC"/>
                <a:cs typeface="Microsoft YaHei"/>
              </a:rPr>
              <a:t>默认不持久化原图；真实推理只写系统临时目录，子进程退出即删除；历史仅保留指纹和结果摘要。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58392"/>
                </a:solidFill>
                <a:latin typeface="Microsoft YaHei"/>
                <a:ea typeface="Noto Sans SC"/>
                <a:cs typeface="Microsoft YaHei"/>
              </a:rPr>
              <a:t>源码：V3/agent_demo/；API：/api/health、/api/model、/api/agent/run、/api/validate、/api/history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21159"/>
            <a:ext cx="5759450" cy="127228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6700" y="1021159"/>
            <a:ext cx="5759450" cy="0"/>
          </a:xfrm>
          <a:prstGeom prst="line">
            <a:avLst/>
          </a:prstGeom>
          <a:ln w="317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65850" y="1021159"/>
            <a:ext cx="5759450" cy="127228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165850" y="1021159"/>
            <a:ext cx="5759450" cy="0"/>
          </a:xfrm>
          <a:prstGeom prst="line">
            <a:avLst/>
          </a:prstGeom>
          <a:ln w="317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16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RELEASE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最终提交材料与公开地址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2750" y="1438275"/>
            <a:ext cx="5467350" cy="2794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750" y="1438275"/>
            <a:ext cx="5467350" cy="391160"/>
          </a:xfrm>
          <a:prstGeom prst="rect">
            <a:avLst/>
          </a:prstGeom>
          <a:noFill/>
        </p:spPr>
        <p:txBody>
          <a:bodyPr wrap="none" lIns="82550" rIns="82550" tIns="82550" bIns="82550" anchor="t"/>
          <a:lstStyle/>
          <a:p>
            <a:pPr algn="l">
              <a:lnSpc>
                <a:spcPts val="900"/>
              </a:lnSpc>
            </a:pPr>
            <a:r>
              <a:rPr lang="en-US" sz="600" b="1" dirty="0">
                <a:solidFill>
                  <a:srgbClr val="A7E8E1"/>
                </a:solidFill>
                <a:latin typeface="Consolas"/>
                <a:cs typeface="Consolas"/>
              </a:rPr>
              <a:t>github.com/2658183739/-PaddleOCR-VL-1.5-OCSR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750" y="1192609"/>
            <a:ext cx="5467350" cy="219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35"/>
              </a:lnSpc>
            </a:pPr>
            <a:r>
              <a:rPr lang="zh-CN" sz="9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GitHub · 完整开源项目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750" y="1806575"/>
            <a:ext cx="5467350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训练/推理/评测脚本、QC、runbook、报告、PPT、MolTrace Agent 前后端与测试。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1900" y="1438275"/>
            <a:ext cx="5467350" cy="3937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1900" y="1438275"/>
            <a:ext cx="5467350" cy="393700"/>
          </a:xfrm>
          <a:prstGeom prst="rect">
            <a:avLst/>
          </a:prstGeom>
          <a:noFill/>
        </p:spPr>
        <p:txBody>
          <a:bodyPr wrap="square" lIns="82550" rIns="82550" tIns="82550" bIns="82550" anchor="t"/>
          <a:lstStyle/>
          <a:p>
            <a:pPr algn="l">
              <a:lnSpc>
                <a:spcPts val="900"/>
              </a:lnSpc>
            </a:pPr>
            <a:r>
              <a:rPr lang="en-US" sz="600" b="1" dirty="0">
                <a:solidFill>
                  <a:srgbClr val="A7E8E1"/>
                </a:solidFill>
                <a:latin typeface="Consolas"/>
                <a:cs typeface="Consolas"/>
              </a:rPr>
              <a:t>huggingface.co/L2658183739/PaddleOCR-VL-1.5-OCSR</a:t>
            </a:r>
            <a:br>
              <a:rPr sz="600"/>
            </a:br>
            <a:r>
              <a:rPr lang="en-US" sz="600" b="1" dirty="0">
                <a:solidFill>
                  <a:srgbClr val="A7E8E1"/>
                </a:solidFill>
                <a:latin typeface="Consolas"/>
                <a:cs typeface="Consolas"/>
              </a:rPr>
              <a:t>revision e496110ec222c1a70ebca287990c07dae47a2daa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1900" y="1192609"/>
            <a:ext cx="5467350" cy="219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35"/>
              </a:lnSpc>
            </a:pPr>
            <a:r>
              <a:rPr lang="zh-CN" sz="9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Hugging Face · 模型发布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1900" y="1920875"/>
            <a:ext cx="5467350" cy="2015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34"/>
              </a:lnSpc>
            </a:pPr>
            <a:r>
              <a:rPr lang="zh-CN" sz="7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可加载模型目录、模型卡、权重与 tokenizer；本地 ZIP 额外附 README 和 SHA256SUMS。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700" y="2395041"/>
            <a:ext cx="3843834" cy="6985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700" y="2395041"/>
            <a:ext cx="3843834" cy="698500"/>
          </a:xfrm>
          <a:prstGeom prst="rect">
            <a:avLst/>
          </a:prstGeom>
          <a:noFill/>
        </p:spPr>
        <p:txBody>
          <a:bodyPr wrap="square" lIns="88900" rIns="88900" tIns="101600" bIns="10160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数据构建报告</a:t>
            </a:r>
            <a:br>
              <a:rPr sz="800"/>
            </a:br>
            <a:r>
              <a:rPr lang="zh-CN" sz="6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总报告 + 专项评测报告 DOCX/MD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4034" y="2395041"/>
            <a:ext cx="3843834" cy="6985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034" y="2395041"/>
            <a:ext cx="3843834" cy="698500"/>
          </a:xfrm>
          <a:prstGeom prst="rect">
            <a:avLst/>
          </a:prstGeom>
          <a:noFill/>
        </p:spPr>
        <p:txBody>
          <a:bodyPr wrap="square" lIns="88900" rIns="88900" tIns="101600" bIns="10160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答辩 PPT</a:t>
            </a:r>
            <a:br>
              <a:rPr sz="800"/>
            </a:br>
            <a:r>
              <a:rPr lang="zh-CN" sz="6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18 页 HTML + 可编辑 PPTX + 审计物料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1367" y="2395041"/>
            <a:ext cx="3843834" cy="6985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1367" y="2395041"/>
            <a:ext cx="3843834" cy="698500"/>
          </a:xfrm>
          <a:prstGeom prst="rect">
            <a:avLst/>
          </a:prstGeom>
          <a:noFill/>
        </p:spPr>
        <p:txBody>
          <a:bodyPr wrap="square" lIns="88900" rIns="88900" tIns="101600" bIns="10160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评测集压缩包</a:t>
            </a:r>
            <a:br>
              <a:rPr sz="800"/>
            </a:br>
            <a:r>
              <a:rPr lang="en-US" sz="600" dirty="0">
                <a:solidFill>
                  <a:srgbClr val="687386"/>
                </a:solidFill>
                <a:latin typeface="Microsoft YaHei"/>
                <a:cs typeface="Microsoft YaHei"/>
              </a:rPr>
              <a:t>V3_evaluation_dataset_complete_20260719.zip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700" y="3157041"/>
            <a:ext cx="3843834" cy="6985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6700" y="3157041"/>
            <a:ext cx="3843834" cy="698500"/>
          </a:xfrm>
          <a:prstGeom prst="rect">
            <a:avLst/>
          </a:prstGeom>
          <a:noFill/>
        </p:spPr>
        <p:txBody>
          <a:bodyPr wrap="square" lIns="88900" rIns="88900" tIns="101600" bIns="10160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模型权重包</a:t>
            </a:r>
            <a:br>
              <a:rPr sz="800"/>
            </a:br>
            <a:r>
              <a:rPr lang="en-US" sz="600" dirty="0">
                <a:solidFill>
                  <a:srgbClr val="687386"/>
                </a:solidFill>
                <a:latin typeface="Microsoft YaHei"/>
                <a:cs typeface="Microsoft YaHei"/>
              </a:rPr>
              <a:t>paddleocr_weights_V3_final.zip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4034" y="3157041"/>
            <a:ext cx="3843834" cy="6985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4034" y="3157041"/>
            <a:ext cx="3843834" cy="698500"/>
          </a:xfrm>
          <a:prstGeom prst="rect">
            <a:avLst/>
          </a:prstGeom>
          <a:noFill/>
        </p:spPr>
        <p:txBody>
          <a:bodyPr wrap="square" lIns="88900" rIns="88900" tIns="101600" bIns="10160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人工审核声明</a:t>
            </a:r>
            <a:br>
              <a:rPr sz="800"/>
            </a:br>
            <a:r>
              <a:rPr lang="en-US" sz="600" dirty="0">
                <a:solidFill>
                  <a:srgbClr val="687386"/>
                </a:solidFill>
                <a:latin typeface="Microsoft YaHei"/>
                <a:cs typeface="Microsoft YaHei"/>
              </a:rPr>
              <a:t>Owner attestation + 4 labels SHA256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1367" y="3157041"/>
            <a:ext cx="3843834" cy="698500"/>
          </a:xfrm>
          <a:prstGeom prst="rect">
            <a:avLst/>
          </a:prstGeom>
          <a:noFill/>
          <a:ln w="635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1367" y="3157041"/>
            <a:ext cx="3843834" cy="698500"/>
          </a:xfrm>
          <a:prstGeom prst="rect">
            <a:avLst/>
          </a:prstGeom>
          <a:noFill/>
        </p:spPr>
        <p:txBody>
          <a:bodyPr wrap="square" lIns="88900" rIns="88900" tIns="101600" bIns="101600" anchor="t"/>
          <a:lstStyle/>
          <a:p>
            <a:pPr algn="l">
              <a:lnSpc>
                <a:spcPts val="960"/>
              </a:lnSpc>
            </a:pPr>
            <a:r>
              <a:rPr lang="zh-CN" sz="7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许可边界</a:t>
            </a:r>
            <a:br>
              <a:rPr sz="800"/>
            </a:br>
            <a:r>
              <a:rPr lang="zh-CN" sz="600" dirty="0">
                <a:solidFill>
                  <a:srgbClr val="687386"/>
                </a:solidFill>
                <a:latin typeface="Microsoft YaHei"/>
                <a:ea typeface="Noto Sans SC"/>
                <a:cs typeface="Microsoft YaHei"/>
              </a:rPr>
              <a:t>Apache-2.0/NOTICE；受限训练原图不重分发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GitHub commit 与最终压缩包 SHA256 在发布完成后写入最终交付清单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368300"/>
            <a:ext cx="12192000" cy="0"/>
          </a:xfrm>
          <a:prstGeom prst="line">
            <a:avLst/>
          </a:prstGeom>
          <a:ln w="635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6700" y="1021159"/>
            <a:ext cx="5759450" cy="5524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1630759"/>
            <a:ext cx="5759450" cy="5524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2240359"/>
            <a:ext cx="5759450" cy="5524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700" y="2849959"/>
            <a:ext cx="5759450" cy="5524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700" y="3459559"/>
            <a:ext cx="5759450" cy="5524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700" y="4069159"/>
            <a:ext cx="5759450" cy="5524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5850" y="1021159"/>
            <a:ext cx="5759450" cy="360045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solidFill>
            <a:srgbClr val="17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000" y="92075"/>
            <a:ext cx="177800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Georgia"/>
                <a:cs typeface="Georgia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950" y="130175"/>
            <a:ext cx="336947" cy="1016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ts val="720"/>
              </a:lnSpc>
            </a:pPr>
            <a:r>
              <a:rPr lang="en-US" sz="600" b="1" dirty="0">
                <a:solidFill>
                  <a:srgbClr val="182230"/>
                </a:solidFill>
                <a:latin typeface="Microsoft YaHei"/>
                <a:cs typeface="Microsoft YaHei"/>
              </a:rPr>
              <a:t>OCSR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250" y="3175"/>
            <a:ext cx="4826000" cy="462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20"/>
              </a:lnSpc>
            </a:pP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数据构建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评测设计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训练策略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实验结果</a:t>
            </a:r>
            <a:r>
              <a:rPr lang="zh-CN" sz="600" dirty="0">
                <a:solidFill>
                  <a:srgbClr val="647084"/>
                </a:solidFill>
                <a:latin typeface="Microsoft YaHei"/>
                <a:ea typeface="Noto Sans SC"/>
                <a:cs typeface="Microsoft YaHei"/>
              </a:rPr>
              <a:t>Agent 系统</a:t>
            </a:r>
            <a:r>
              <a:rPr lang="zh-CN" sz="60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开源交付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43730" y="146050"/>
            <a:ext cx="194270" cy="10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0"/>
              </a:lnSpc>
            </a:pPr>
            <a:r>
              <a:rPr lang="en-US" sz="500" b="1" dirty="0">
                <a:solidFill>
                  <a:srgbClr val="8B95A3"/>
                </a:solidFill>
                <a:latin typeface="Arial"/>
                <a:cs typeface="Arial"/>
              </a:rPr>
              <a:t>17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" y="533400"/>
            <a:ext cx="116586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CONCLUSIONS AND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700" y="679450"/>
            <a:ext cx="11658600" cy="3361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91"/>
              </a:lnSpc>
            </a:pPr>
            <a:r>
              <a:rPr lang="zh-CN" sz="15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结论、已完成工作和剩余限制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" y="1021159"/>
            <a:ext cx="101699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900" y="1084659"/>
            <a:ext cx="488315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V2-1 先完成 OCSR task adaptation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0050" y="1021159"/>
            <a:ext cx="45720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350"/>
              </a:lnSpc>
            </a:pPr>
            <a:r>
              <a:rPr lang="zh-CN" sz="550" b="1" dirty="0">
                <a:solidFill>
                  <a:srgbClr val="087F72"/>
                </a:solidFill>
                <a:latin typeface="Arial"/>
                <a:ea typeface="Noto Sans SC"/>
                <a:cs typeface="Arial"/>
              </a:rPr>
              <a:t>保留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600" y="1630759"/>
            <a:ext cx="101699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900" y="1694259"/>
            <a:ext cx="488315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00 control 在两 seed 探索中最稳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0050" y="1630759"/>
            <a:ext cx="45720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350"/>
              </a:lnSpc>
            </a:pPr>
            <a:r>
              <a:rPr lang="zh-CN" sz="550" b="1" dirty="0">
                <a:solidFill>
                  <a:srgbClr val="087F72"/>
                </a:solidFill>
                <a:latin typeface="Arial"/>
                <a:ea typeface="Noto Sans SC"/>
                <a:cs typeface="Arial"/>
              </a:rPr>
              <a:t>采用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600" y="2240359"/>
            <a:ext cx="101699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900" y="2303859"/>
            <a:ext cx="488315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Checkpoint-1400 达到 development 峰值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0050" y="2240359"/>
            <a:ext cx="45720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350"/>
              </a:lnSpc>
            </a:pPr>
            <a:r>
              <a:rPr lang="zh-CN" sz="550" b="1" dirty="0">
                <a:solidFill>
                  <a:srgbClr val="087F72"/>
                </a:solidFill>
                <a:latin typeface="Arial"/>
                <a:ea typeface="Noto Sans SC"/>
                <a:cs typeface="Arial"/>
              </a:rPr>
              <a:t>采用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00" y="2849959"/>
            <a:ext cx="101699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900" y="2913459"/>
            <a:ext cx="488315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Hard replay 相对 final −0.73pp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0050" y="2849959"/>
            <a:ext cx="45720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350"/>
              </a:lnSpc>
            </a:pPr>
            <a:r>
              <a:rPr lang="zh-CN" sz="550" b="1" dirty="0">
                <a:solidFill>
                  <a:srgbClr val="087F72"/>
                </a:solidFill>
                <a:latin typeface="Arial"/>
                <a:ea typeface="Noto Sans SC"/>
                <a:cs typeface="Arial"/>
              </a:rPr>
              <a:t>拒绝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600" y="3459559"/>
            <a:ext cx="101699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900" y="3523059"/>
            <a:ext cx="488315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Beam4 +6.10pp，chem-light −2.52pp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0050" y="3459559"/>
            <a:ext cx="45720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350"/>
              </a:lnSpc>
            </a:pPr>
            <a:r>
              <a:rPr lang="zh-CN" sz="550" b="1" dirty="0">
                <a:solidFill>
                  <a:srgbClr val="087F72"/>
                </a:solidFill>
                <a:latin typeface="Arial"/>
                <a:ea typeface="Noto Sans SC"/>
                <a:cs typeface="Arial"/>
              </a:rPr>
              <a:t>一取一拒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600" y="4069159"/>
            <a:ext cx="101699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en-US" sz="600" b="1" dirty="0">
                <a:solidFill>
                  <a:srgbClr val="087F72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900" y="4132659"/>
            <a:ext cx="488315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0"/>
              </a:lnSpc>
            </a:pPr>
            <a:r>
              <a:rPr lang="zh-CN" sz="650" b="1" dirty="0">
                <a:solidFill>
                  <a:srgbClr val="182230"/>
                </a:solidFill>
                <a:latin typeface="Microsoft YaHei"/>
                <a:ea typeface="Noto Sans SC"/>
                <a:cs typeface="Microsoft YaHei"/>
              </a:rPr>
              <a:t>Locked wild 只运行一次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0050" y="4069159"/>
            <a:ext cx="457200" cy="5530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350"/>
              </a:lnSpc>
            </a:pPr>
            <a:r>
              <a:rPr lang="zh-CN" sz="550" b="1" dirty="0">
                <a:solidFill>
                  <a:srgbClr val="087F72"/>
                </a:solidFill>
                <a:latin typeface="Arial"/>
                <a:ea typeface="Noto Sans SC"/>
                <a:cs typeface="Arial"/>
              </a:rPr>
              <a:t>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250" y="1173559"/>
            <a:ext cx="5454650" cy="1964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5"/>
              </a:lnSpc>
            </a:pPr>
            <a:r>
              <a:rPr lang="zh-CN" sz="850" b="1" dirty="0">
                <a:solidFill>
                  <a:srgbClr val="81D6CD"/>
                </a:solidFill>
                <a:latin typeface="Microsoft YaHei"/>
                <a:ea typeface="Noto Sans SC"/>
                <a:cs typeface="Microsoft YaHei"/>
              </a:rPr>
              <a:t>必须保留的边界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18250" y="1358305"/>
            <a:ext cx="0" cy="123428"/>
          </a:xfrm>
          <a:prstGeom prst="line">
            <a:avLst/>
          </a:prstGeom>
          <a:ln w="190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18250" y="1358305"/>
            <a:ext cx="5454650" cy="172799"/>
          </a:xfrm>
          <a:prstGeom prst="rect">
            <a:avLst/>
          </a:prstGeom>
          <a:noFill/>
        </p:spPr>
        <p:txBody>
          <a:bodyPr wrap="none" lIns="88900" rIns="0" tIns="0" bIns="0" anchor="t"/>
          <a:lstStyle/>
          <a:p>
            <a:pPr algn="l">
              <a:lnSpc>
                <a:spcPts val="972"/>
              </a:lnSpc>
            </a:pPr>
            <a:r>
              <a:rPr lang="zh-CN" sz="600" dirty="0">
                <a:solidFill>
                  <a:srgbClr val="C3CCD5"/>
                </a:solidFill>
                <a:latin typeface="Microsoft YaHei"/>
                <a:ea typeface="Noto Sans SC"/>
                <a:cs typeface="Microsoft YaHei"/>
              </a:rPr>
              <a:t>Private-photo locked test 仍为 0，不能把算法退化写成自采。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18250" y="1557933"/>
            <a:ext cx="0" cy="123428"/>
          </a:xfrm>
          <a:prstGeom prst="line">
            <a:avLst/>
          </a:prstGeom>
          <a:ln w="190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18250" y="1557933"/>
            <a:ext cx="5454650" cy="172799"/>
          </a:xfrm>
          <a:prstGeom prst="rect">
            <a:avLst/>
          </a:prstGeom>
          <a:noFill/>
        </p:spPr>
        <p:txBody>
          <a:bodyPr wrap="none" lIns="88900" rIns="0" tIns="0" bIns="0" anchor="t"/>
          <a:lstStyle/>
          <a:p>
            <a:pPr algn="l">
              <a:lnSpc>
                <a:spcPts val="972"/>
              </a:lnSpc>
            </a:pPr>
            <a:r>
              <a:rPr lang="zh-CN" sz="600" dirty="0">
                <a:solidFill>
                  <a:srgbClr val="C3CCD5"/>
                </a:solidFill>
                <a:latin typeface="Microsoft YaHei"/>
                <a:ea typeface="Noto Sans SC"/>
                <a:cs typeface="Microsoft YaHei"/>
              </a:rPr>
              <a:t>2×2 只有两个 seed，不支持显著或普适最优声明。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18250" y="1757561"/>
            <a:ext cx="0" cy="123428"/>
          </a:xfrm>
          <a:prstGeom prst="line">
            <a:avLst/>
          </a:prstGeom>
          <a:ln w="190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8250" y="1757561"/>
            <a:ext cx="5454650" cy="172799"/>
          </a:xfrm>
          <a:prstGeom prst="rect">
            <a:avLst/>
          </a:prstGeom>
          <a:noFill/>
        </p:spPr>
        <p:txBody>
          <a:bodyPr wrap="none" lIns="88900" rIns="0" tIns="0" bIns="0" anchor="t"/>
          <a:lstStyle/>
          <a:p>
            <a:pPr algn="l">
              <a:lnSpc>
                <a:spcPts val="972"/>
              </a:lnSpc>
            </a:pPr>
            <a:r>
              <a:rPr lang="zh-CN" sz="600" dirty="0">
                <a:solidFill>
                  <a:srgbClr val="C3CCD5"/>
                </a:solidFill>
                <a:latin typeface="Microsoft YaHei"/>
                <a:ea typeface="Noto Sans SC"/>
                <a:cs typeface="Microsoft YaHei"/>
              </a:rPr>
              <a:t>Owner attestation 不是独立双人盲审。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18250" y="1957189"/>
            <a:ext cx="0" cy="123428"/>
          </a:xfrm>
          <a:prstGeom prst="line">
            <a:avLst/>
          </a:prstGeom>
          <a:ln w="190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18250" y="1957189"/>
            <a:ext cx="5454650" cy="172799"/>
          </a:xfrm>
          <a:prstGeom prst="rect">
            <a:avLst/>
          </a:prstGeom>
          <a:noFill/>
        </p:spPr>
        <p:txBody>
          <a:bodyPr wrap="none" lIns="88900" rIns="0" tIns="0" bIns="0" anchor="t"/>
          <a:lstStyle/>
          <a:p>
            <a:pPr algn="l">
              <a:lnSpc>
                <a:spcPts val="972"/>
              </a:lnSpc>
            </a:pPr>
            <a:r>
              <a:rPr lang="zh-CN" sz="600" dirty="0">
                <a:solidFill>
                  <a:srgbClr val="C3CCD5"/>
                </a:solidFill>
                <a:latin typeface="Microsoft YaHei"/>
                <a:ea typeface="Noto Sans SC"/>
                <a:cs typeface="Microsoft YaHei"/>
              </a:rPr>
              <a:t>训练清单的样本级许可字段覆盖不足，公共仓不重分发原图。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18250" y="2156817"/>
            <a:ext cx="0" cy="123428"/>
          </a:xfrm>
          <a:prstGeom prst="line">
            <a:avLst/>
          </a:prstGeom>
          <a:ln w="19050">
            <a:solidFill>
              <a:srgbClr val="E56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18250" y="2156817"/>
            <a:ext cx="5454650" cy="172799"/>
          </a:xfrm>
          <a:prstGeom prst="rect">
            <a:avLst/>
          </a:prstGeom>
          <a:noFill/>
        </p:spPr>
        <p:txBody>
          <a:bodyPr wrap="none" lIns="88900" rIns="0" tIns="0" bIns="0" anchor="t"/>
          <a:lstStyle/>
          <a:p>
            <a:pPr algn="l">
              <a:lnSpc>
                <a:spcPts val="972"/>
              </a:lnSpc>
            </a:pPr>
            <a:r>
              <a:rPr lang="zh-CN" sz="600" dirty="0">
                <a:solidFill>
                  <a:srgbClr val="C3CCD5"/>
                </a:solidFill>
                <a:latin typeface="Microsoft YaHei"/>
                <a:ea typeface="Noto Sans SC"/>
                <a:cs typeface="Microsoft YaHei"/>
              </a:rPr>
              <a:t>22.92% wild exact 与 13.43% scaffold exact 表明真实域问题尚未解决。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700" y="6658670"/>
            <a:ext cx="116586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zh-CN" sz="400" dirty="0">
                <a:solidFill>
                  <a:srgbClr val="7A8491"/>
                </a:solidFill>
                <a:latin typeface="Microsoft YaHei"/>
                <a:ea typeface="Noto Sans SC"/>
                <a:cs typeface="Microsoft YaHei"/>
              </a:rPr>
              <a:t>下一步：4+ seed confirmatory、授权实拍 locked、多尺度视觉增强、专用 symbolic decoder、模型常驻服务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0" y="0"/>
            <a:ext cx="2667000" cy="6858000"/>
          </a:xfrm>
          <a:prstGeom prst="rect">
            <a:avLst/>
          </a:prstGeom>
          <a:solidFill>
            <a:srgbClr val="0E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603250"/>
            <a:ext cx="4064000" cy="133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0"/>
              </a:lnSpc>
            </a:pPr>
            <a:r>
              <a:rPr lang="en-US" sz="550" b="1" dirty="0">
                <a:solidFill>
                  <a:srgbClr val="087F72"/>
                </a:solidFill>
                <a:latin typeface="Arial"/>
                <a:cs typeface="Arial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984250"/>
            <a:ext cx="8915400" cy="8818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472"/>
              </a:lnSpc>
            </a:pPr>
            <a:r>
              <a:rPr lang="zh-CN" sz="31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谢谢。</a:t>
            </a:r>
            <a:br>
              <a:rPr sz="3100"/>
            </a:br>
            <a:r>
              <a:rPr lang="zh-CN" sz="3100" b="1" dirty="0">
                <a:solidFill>
                  <a:srgbClr val="FFFFFF"/>
                </a:solidFill>
                <a:latin typeface="Microsoft YaHei"/>
                <a:ea typeface="Noto Sans SC"/>
                <a:cs typeface="Microsoft YaHei"/>
              </a:rPr>
              <a:t>请开始质询。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955006"/>
            <a:ext cx="4064000" cy="48601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2"/>
              </a:lnSpc>
            </a:pPr>
            <a:r>
              <a:rPr lang="zh-CN" sz="950" dirty="0">
                <a:solidFill>
                  <a:srgbClr val="C4CED8"/>
                </a:solidFill>
                <a:latin typeface="Microsoft YaHei"/>
                <a:ea typeface="Noto Sans SC"/>
                <a:cs typeface="Microsoft YaHei"/>
              </a:rPr>
              <a:t>每个数字都能回到 JSON/CSV/config/log/hash；每个限制都保留在报告、模型卡和数据卡中。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" y="6658670"/>
            <a:ext cx="4064000" cy="923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20"/>
              </a:lnSpc>
            </a:pPr>
            <a:r>
              <a:rPr lang="en-US" sz="400" dirty="0">
                <a:solidFill>
                  <a:srgbClr val="7A8491"/>
                </a:solidFill>
                <a:latin typeface="Microsoft YaHei"/>
                <a:ea typeface="Microsoft YaHei"/>
                <a:cs typeface="Microsoft YaHei"/>
              </a:rPr>
              <a:t>GitHub: github.com/2658183739/-PaddleOCR-VL-1.5-OCSR · HF: huggingface.co/L2658183739/PaddleOCR-VL-1.5-OCSR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810750" y="1193800"/>
            <a:ext cx="2095500" cy="0"/>
          </a:xfrm>
          <a:prstGeom prst="line">
            <a:avLst/>
          </a:prstGeom>
          <a:ln w="6350">
            <a:solidFill>
              <a:srgbClr val="344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810750" y="508000"/>
            <a:ext cx="2095500" cy="685800"/>
          </a:xfrm>
          <a:prstGeom prst="rect">
            <a:avLst/>
          </a:prstGeom>
          <a:noFill/>
        </p:spPr>
        <p:txBody>
          <a:bodyPr wrap="square" lIns="0" rIns="0" tIns="133350" bIns="13335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78D4CA"/>
                </a:solidFill>
                <a:latin typeface="Arial"/>
                <a:cs typeface="Arial"/>
              </a:rPr>
              <a:t>22,762</a:t>
            </a:r>
            <a:br>
              <a:rPr sz="800"/>
            </a:br>
            <a:r>
              <a:rPr lang="en-US" sz="500" dirty="0">
                <a:solidFill>
                  <a:srgbClr val="A9B5BF"/>
                </a:solidFill>
                <a:latin typeface="Microsoft YaHei"/>
                <a:cs typeface="Microsoft YaHei"/>
              </a:rPr>
              <a:t>V3 strict training records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10750" y="1879600"/>
            <a:ext cx="2095500" cy="0"/>
          </a:xfrm>
          <a:prstGeom prst="line">
            <a:avLst/>
          </a:prstGeom>
          <a:ln w="6350">
            <a:solidFill>
              <a:srgbClr val="344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10750" y="1193800"/>
            <a:ext cx="2095500" cy="685800"/>
          </a:xfrm>
          <a:prstGeom prst="rect">
            <a:avLst/>
          </a:prstGeom>
          <a:noFill/>
        </p:spPr>
        <p:txBody>
          <a:bodyPr wrap="square" lIns="0" rIns="0" tIns="133350" bIns="13335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78D4CA"/>
                </a:solidFill>
                <a:latin typeface="Arial"/>
                <a:cs typeface="Arial"/>
              </a:rPr>
              <a:t>753 + 754</a:t>
            </a:r>
            <a:br>
              <a:rPr sz="800"/>
            </a:br>
            <a:r>
              <a:rPr lang="en-US" sz="500" dirty="0">
                <a:solidFill>
                  <a:srgbClr val="A9B5BF"/>
                </a:solidFill>
                <a:latin typeface="Microsoft YaHei"/>
                <a:cs typeface="Microsoft YaHei"/>
              </a:rPr>
              <a:t>development panels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10750" y="2565400"/>
            <a:ext cx="2095500" cy="0"/>
          </a:xfrm>
          <a:prstGeom prst="line">
            <a:avLst/>
          </a:prstGeom>
          <a:ln w="6350">
            <a:solidFill>
              <a:srgbClr val="344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810750" y="1879600"/>
            <a:ext cx="2095500" cy="685800"/>
          </a:xfrm>
          <a:prstGeom prst="rect">
            <a:avLst/>
          </a:prstGeom>
          <a:noFill/>
        </p:spPr>
        <p:txBody>
          <a:bodyPr wrap="square" lIns="0" rIns="0" tIns="133350" bIns="13335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78D4CA"/>
                </a:solidFill>
                <a:latin typeface="Arial"/>
                <a:ea typeface="Arial"/>
                <a:cs typeface="Arial"/>
              </a:rPr>
              <a:t>301 · 62 papers</a:t>
            </a:r>
            <a:br>
              <a:rPr sz="800"/>
            </a:br>
            <a:r>
              <a:rPr lang="en-US" sz="500" dirty="0">
                <a:solidFill>
                  <a:srgbClr val="A9B5BF"/>
                </a:solidFill>
                <a:latin typeface="Microsoft YaHei"/>
                <a:cs typeface="Microsoft YaHei"/>
              </a:rPr>
              <a:t>locked wild 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10750" y="3251200"/>
            <a:ext cx="2095500" cy="0"/>
          </a:xfrm>
          <a:prstGeom prst="line">
            <a:avLst/>
          </a:prstGeom>
          <a:ln w="6350">
            <a:solidFill>
              <a:srgbClr val="344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810750" y="2565400"/>
            <a:ext cx="2095500" cy="685800"/>
          </a:xfrm>
          <a:prstGeom prst="rect">
            <a:avLst/>
          </a:prstGeom>
          <a:noFill/>
        </p:spPr>
        <p:txBody>
          <a:bodyPr wrap="square" lIns="0" rIns="0" tIns="133350" bIns="13335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78D4CA"/>
                </a:solidFill>
                <a:latin typeface="Arial"/>
                <a:ea typeface="Arial"/>
                <a:cs typeface="Arial"/>
              </a:rPr>
              <a:t>42.07% → 22.92%</a:t>
            </a:r>
            <a:br>
              <a:rPr sz="800"/>
            </a:br>
            <a:r>
              <a:rPr lang="en-US" sz="500" dirty="0">
                <a:solidFill>
                  <a:srgbClr val="A9B5BF"/>
                </a:solidFill>
                <a:latin typeface="Microsoft YaHei"/>
                <a:ea typeface="Microsoft YaHei"/>
                <a:cs typeface="Microsoft YaHei"/>
              </a:rPr>
              <a:t>development selection → locked reality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10750" y="4216400"/>
            <a:ext cx="2095500" cy="0"/>
          </a:xfrm>
          <a:prstGeom prst="line">
            <a:avLst/>
          </a:prstGeom>
          <a:ln w="6350">
            <a:solidFill>
              <a:srgbClr val="344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10750" y="3251200"/>
            <a:ext cx="2095500" cy="965200"/>
          </a:xfrm>
          <a:prstGeom prst="rect">
            <a:avLst/>
          </a:prstGeom>
          <a:noFill/>
        </p:spPr>
        <p:txBody>
          <a:bodyPr wrap="square" lIns="0" rIns="0" tIns="133350" bIns="133350" anchor="t"/>
          <a:lstStyle/>
          <a:p>
            <a:pPr algn="l">
              <a:lnSpc>
                <a:spcPts val="1860"/>
              </a:lnSpc>
            </a:pPr>
            <a:r>
              <a:rPr lang="en-US" sz="1550" b="1" dirty="0">
                <a:solidFill>
                  <a:srgbClr val="78D4CA"/>
                </a:solidFill>
                <a:latin typeface="Arial"/>
                <a:cs typeface="Arial"/>
              </a:rPr>
              <a:t>Agent + GitHub +</a:t>
            </a:r>
            <a:br>
              <a:rPr sz="800"/>
            </a:br>
            <a:r>
              <a:rPr lang="en-US" sz="1550" b="1" dirty="0">
                <a:solidFill>
                  <a:srgbClr val="78D4CA"/>
                </a:solidFill>
                <a:latin typeface="Arial"/>
                <a:cs typeface="Arial"/>
              </a:rPr>
              <a:t>HF</a:t>
            </a:r>
            <a:br>
              <a:rPr sz="800"/>
            </a:br>
            <a:r>
              <a:rPr lang="zh-CN" sz="500" dirty="0">
                <a:solidFill>
                  <a:srgbClr val="A9B5BF"/>
                </a:solidFill>
                <a:latin typeface="Microsoft YaHei"/>
                <a:ea typeface="Noto Sans SC"/>
                <a:cs typeface="Microsoft YaHei"/>
              </a:rPr>
              <a:t>可运行、可审计、可复核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