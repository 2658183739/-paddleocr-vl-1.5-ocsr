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915bb1d6e94a47" /><Relationship Type="http://schemas.openxmlformats.org/officeDocument/2006/relationships/extended-properties" Target="/docProps/app.xml" Id="R229c50fc8a874ee8" /><Relationship Type="http://schemas.openxmlformats.org/officeDocument/2006/relationships/officeDocument" Target="/ppt/presentation.xml" Id="R60bbeb60286a4b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54161bdb054e24"/>
    <p:sldMasterId xmlns:r="http://schemas.openxmlformats.org/officeDocument/2006/relationships" id="2147483660" r:id="Rccdf5f23d12b4c34"/>
  </p:sldMasterIdLst>
  <p:notesMasterIdLst>
    <p:notesMasterId xmlns:r="http://schemas.openxmlformats.org/officeDocument/2006/relationships" r:id="R0710fdc53a72422a"/>
  </p:notesMasterIdLst>
  <p:sldIdLst>
    <p:sldId xmlns:r="http://schemas.openxmlformats.org/officeDocument/2006/relationships" id="256" r:id="Rac83f558dbd24964"/>
    <p:sldId xmlns:r="http://schemas.openxmlformats.org/officeDocument/2006/relationships" id="257" r:id="R3689db0873ff4bbf"/>
    <p:sldId xmlns:r="http://schemas.openxmlformats.org/officeDocument/2006/relationships" id="258" r:id="Ra66d546fec434fa2"/>
    <p:sldId xmlns:r="http://schemas.openxmlformats.org/officeDocument/2006/relationships" id="259" r:id="R240b083b06ad432d"/>
    <p:sldId xmlns:r="http://schemas.openxmlformats.org/officeDocument/2006/relationships" id="260" r:id="Ree87d893b0c944d4"/>
    <p:sldId xmlns:r="http://schemas.openxmlformats.org/officeDocument/2006/relationships" id="261" r:id="Rb3c3096dc8ba46e9"/>
    <p:sldId xmlns:r="http://schemas.openxmlformats.org/officeDocument/2006/relationships" id="262" r:id="R4d1095f0aaeb418d"/>
    <p:sldId xmlns:r="http://schemas.openxmlformats.org/officeDocument/2006/relationships" id="263" r:id="R0398e304f6464c99"/>
    <p:sldId xmlns:r="http://schemas.openxmlformats.org/officeDocument/2006/relationships" id="264" r:id="Rd622b032da544bc4"/>
    <p:sldId xmlns:r="http://schemas.openxmlformats.org/officeDocument/2006/relationships" id="265" r:id="R2e0b8f1867144e82"/>
    <p:sldId xmlns:r="http://schemas.openxmlformats.org/officeDocument/2006/relationships" id="266" r:id="Rcb791e3eaf2f493d"/>
    <p:sldId xmlns:r="http://schemas.openxmlformats.org/officeDocument/2006/relationships" id="267" r:id="Rdb7a39d083ba4566"/>
    <p:sldId xmlns:r="http://schemas.openxmlformats.org/officeDocument/2006/relationships" id="268" r:id="R14769ee2bc184f59"/>
    <p:sldId xmlns:r="http://schemas.openxmlformats.org/officeDocument/2006/relationships" id="269" r:id="R4b47c9c1c9e2485b"/>
    <p:sldId xmlns:r="http://schemas.openxmlformats.org/officeDocument/2006/relationships" id="270" r:id="Rbc4a2b3f2bb24c84"/>
    <p:sldId xmlns:r="http://schemas.openxmlformats.org/officeDocument/2006/relationships" id="271" r:id="R4c6215710bd84b62"/>
    <p:sldId xmlns:r="http://schemas.openxmlformats.org/officeDocument/2006/relationships" id="272" r:id="Rbfc74574c31e4e3a"/>
    <p:sldId xmlns:r="http://schemas.openxmlformats.org/officeDocument/2006/relationships" id="273" r:id="Rcd65c966365e46e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f3375d1afc426e" /><Relationship Type="http://schemas.openxmlformats.org/officeDocument/2006/relationships/slideMaster" Target="/ppt/slideMasters/slideMaster1.xml" Id="R7354161bdb054e24" /><Relationship Type="http://schemas.openxmlformats.org/officeDocument/2006/relationships/slideMaster" Target="/ppt/slideMasters/slideMaster2.xml" Id="Rccdf5f23d12b4c34" /><Relationship Type="http://schemas.openxmlformats.org/officeDocument/2006/relationships/notesMaster" Target="/ppt/notesMasters/notesMaster1.xml" Id="R0710fdc53a72422a" /><Relationship Type="http://schemas.openxmlformats.org/officeDocument/2006/relationships/presProps" Target="/ppt/presProps.xml" Id="Rd59f70ca8c09412b" /><Relationship Type="http://schemas.openxmlformats.org/officeDocument/2006/relationships/viewProps" Target="/ppt/viewProps.xml" Id="R72f9839e0cba4338" /><Relationship Type="http://schemas.openxmlformats.org/officeDocument/2006/relationships/tableStyles" Target="/ppt/tableStyles.xml" Id="R2be50179b0084be4" /><Relationship Type="http://schemas.openxmlformats.org/officeDocument/2006/relationships/slide" Target="/ppt/slides/slide1.xml" Id="Rac83f558dbd24964" /><Relationship Type="http://schemas.openxmlformats.org/officeDocument/2006/relationships/slide" Target="/ppt/slides/slide2.xml" Id="R3689db0873ff4bbf" /><Relationship Type="http://schemas.openxmlformats.org/officeDocument/2006/relationships/slide" Target="/ppt/slides/slide3.xml" Id="Ra66d546fec434fa2" /><Relationship Type="http://schemas.openxmlformats.org/officeDocument/2006/relationships/slide" Target="/ppt/slides/slide4.xml" Id="R240b083b06ad432d" /><Relationship Type="http://schemas.openxmlformats.org/officeDocument/2006/relationships/slide" Target="/ppt/slides/slide5.xml" Id="Ree87d893b0c944d4" /><Relationship Type="http://schemas.openxmlformats.org/officeDocument/2006/relationships/slide" Target="/ppt/slides/slide6.xml" Id="Rb3c3096dc8ba46e9" /><Relationship Type="http://schemas.openxmlformats.org/officeDocument/2006/relationships/slide" Target="/ppt/slides/slide7.xml" Id="R4d1095f0aaeb418d" /><Relationship Type="http://schemas.openxmlformats.org/officeDocument/2006/relationships/slide" Target="/ppt/slides/slide8.xml" Id="R0398e304f6464c99" /><Relationship Type="http://schemas.openxmlformats.org/officeDocument/2006/relationships/slide" Target="/ppt/slides/slide9.xml" Id="Rd622b032da544bc4" /><Relationship Type="http://schemas.openxmlformats.org/officeDocument/2006/relationships/slide" Target="/ppt/slides/slide10.xml" Id="R2e0b8f1867144e82" /><Relationship Type="http://schemas.openxmlformats.org/officeDocument/2006/relationships/slide" Target="/ppt/slides/slide11.xml" Id="Rcb791e3eaf2f493d" /><Relationship Type="http://schemas.openxmlformats.org/officeDocument/2006/relationships/slide" Target="/ppt/slides/slide12.xml" Id="Rdb7a39d083ba4566" /><Relationship Type="http://schemas.openxmlformats.org/officeDocument/2006/relationships/slide" Target="/ppt/slides/slide13.xml" Id="R14769ee2bc184f59" /><Relationship Type="http://schemas.openxmlformats.org/officeDocument/2006/relationships/slide" Target="/ppt/slides/slide14.xml" Id="R4b47c9c1c9e2485b" /><Relationship Type="http://schemas.openxmlformats.org/officeDocument/2006/relationships/slide" Target="/ppt/slides/slide15.xml" Id="Rbc4a2b3f2bb24c84" /><Relationship Type="http://schemas.openxmlformats.org/officeDocument/2006/relationships/slide" Target="/ppt/slides/slide16.xml" Id="R4c6215710bd84b62" /><Relationship Type="http://schemas.openxmlformats.org/officeDocument/2006/relationships/slide" Target="/ppt/slides/slide17.xml" Id="Rbfc74574c31e4e3a" /><Relationship Type="http://schemas.openxmlformats.org/officeDocument/2006/relationships/slide" Target="/ppt/slides/slide18.xml" Id="Rcd65c966365e46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dc40707421440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f7147651604b60" /><Relationship Type="http://schemas.openxmlformats.org/officeDocument/2006/relationships/notesMaster" Target="/ppt/notesMasters/notesMaster1.xml" Id="R367e82fc27c44d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ed305289fa47a7" /><Relationship Type="http://schemas.openxmlformats.org/officeDocument/2006/relationships/notesMaster" Target="/ppt/notesMasters/notesMaster1.xml" Id="Rdb9f2b07831b45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7dc58c99c647d1" /><Relationship Type="http://schemas.openxmlformats.org/officeDocument/2006/relationships/notesMaster" Target="/ppt/notesMasters/notesMaster1.xml" Id="R455f1d7d88d144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a9d2ed5cf64985" /><Relationship Type="http://schemas.openxmlformats.org/officeDocument/2006/relationships/notesMaster" Target="/ppt/notesMasters/notesMaster1.xml" Id="Re1c57813f9d34a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5e10d85d7b46cf" /><Relationship Type="http://schemas.openxmlformats.org/officeDocument/2006/relationships/notesMaster" Target="/ppt/notesMasters/notesMaster1.xml" Id="Raae3e227607344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50f0cec3034974" /><Relationship Type="http://schemas.openxmlformats.org/officeDocument/2006/relationships/notesMaster" Target="/ppt/notesMasters/notesMaster1.xml" Id="R18110a1b014f42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d5080651284c82" /><Relationship Type="http://schemas.openxmlformats.org/officeDocument/2006/relationships/notesMaster" Target="/ppt/notesMasters/notesMaster1.xml" Id="R725f3cc797cd46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38ed6d7b244508" /><Relationship Type="http://schemas.openxmlformats.org/officeDocument/2006/relationships/notesMaster" Target="/ppt/notesMasters/notesMaster1.xml" Id="Rf471db4083e04f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4f0b0346f74e41" /><Relationship Type="http://schemas.openxmlformats.org/officeDocument/2006/relationships/notesMaster" Target="/ppt/notesMasters/notesMaster1.xml" Id="R499e6c560a9a44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a74c9079164133" /><Relationship Type="http://schemas.openxmlformats.org/officeDocument/2006/relationships/notesMaster" Target="/ppt/notesMasters/notesMaster1.xml" Id="R020f5852c8ad4d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213b4f56e347d8" /><Relationship Type="http://schemas.openxmlformats.org/officeDocument/2006/relationships/notesMaster" Target="/ppt/notesMasters/notesMaster1.xml" Id="Rde0f6203375540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469653d7a342e5" /><Relationship Type="http://schemas.openxmlformats.org/officeDocument/2006/relationships/notesMaster" Target="/ppt/notesMasters/notesMaster1.xml" Id="R0e72f6e75b0f41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25087af07c4e90" /><Relationship Type="http://schemas.openxmlformats.org/officeDocument/2006/relationships/notesMaster" Target="/ppt/notesMasters/notesMaster1.xml" Id="R121ed3ee8c1645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43a9bba5e245a2" /><Relationship Type="http://schemas.openxmlformats.org/officeDocument/2006/relationships/notesMaster" Target="/ppt/notesMasters/notesMaster1.xml" Id="R8abaf19d01264ae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6368de95c84960" /><Relationship Type="http://schemas.openxmlformats.org/officeDocument/2006/relationships/notesMaster" Target="/ppt/notesMasters/notesMaster1.xml" Id="Ra2c001861ee2432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d81a848d8394bb0" /><Relationship Type="http://schemas.openxmlformats.org/officeDocument/2006/relationships/notesMaster" Target="/ppt/notesMasters/notesMaster1.xml" Id="R97bde42fb3c1403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a3171c622054e1f" /><Relationship Type="http://schemas.openxmlformats.org/officeDocument/2006/relationships/notesMaster" Target="/ppt/notesMasters/notesMaster1.xml" Id="R785c4abaf1b4411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e6d1ffe9d74dc0" /><Relationship Type="http://schemas.openxmlformats.org/officeDocument/2006/relationships/notesMaster" Target="/ppt/notesMasters/notesMaster1.xml" Id="R440c7ed4cf2e43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今天我将向各位汇报我们最新完成的一个重要项目——面向PaddleOCR的多源藏文场景文字识别训练数据集的构建成果。这个项目旨在解决当前通用OCR模型在处理藏文等小语种复杂场景时识别精度低的痛点。接下来，我将详细介绍我们的数据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首先来看项目的背景与数据集概览。我们的核心目标是解决通用OCR在藏文场景识别率低的问题。为此，我们构建了一个包含8000张真实场景图片的数据集，覆盖四大藏区，并严格按9:1划分训练集和验证集。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我们的数据集有四大核心优势：地域多样性、场景真实性、文本丰富性和格式统一性。这不仅保证了数据质量，更让后续的模型训练能无缝衔接，具备高泛化能力。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首先来看项目的背景与数据集概览。我们的核心目标是解决通用OCR在藏文场景识别率低的问题。为此，我们构建了一个包含8000张真实场景图片的数据集，覆盖四大藏区，并严格按9:1划分训练集和验证集。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我们的数据集有四大核心优势：地域多样性、场景真实性、文本丰富性和格式统一性。这不仅保证了数据质量，更让后续的模型训练能无缝衔接，具备高泛化能力。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首先来看项目的背景与数据集概览。我们的核心目标是解决通用OCR在藏文场景识别率低的问题。为此，我们构建了一个包含8000张真实场景图片的数据集，覆盖四大藏区，并严格按9:1划分训练集和验证集。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我们的数据集有四大核心优势：地域多样性、场景真实性、文本丰富性和格式统一性。这不仅保证了数据质量，更让后续的模型训练能无缝衔接，具备高泛化能力。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首先来看项目的背景与数据集概览。我们的核心目标是解决通用OCR在藏文场景识别率低的问题。为此，我们构建了一个包含8000张真实场景图片的数据集，覆盖四大藏区，并严格按9:1划分训练集和验证集。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我们的数据集有四大核心优势：地域多样性、场景真实性、文本丰富性和格式统一性。这不仅保证了数据质量，更让后续的模型训练能无缝衔接，具备高泛化能力。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首先来看项目的背景与数据集概览。我们的核心目标是解决通用OCR在藏文场景识别率低的问题。为此，我们构建了一个包含8000张真实场景图片的数据集，覆盖四大藏区，并严格按9:1划分训练集和验证集。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我们的数据集有四大核心优势：地域多样性、场景真实性、文本丰富性和格式统一性。这不仅保证了数据质量，更让后续的模型训练能无缝衔接，具备高泛化能力。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首先来看项目的背景与数据集概览。我们的核心目标是解决通用OCR在藏文场景识别率低的问题。为此，我们构建了一个包含8000张真实场景图片的数据集，覆盖四大藏区，并严格按9:1划分训练集和验证集。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我们的数据集有四大核心优势：地域多样性、场景真实性、文本丰富性和格式统一性。这不仅保证了数据质量，更让后续的模型训练能无缝衔接，具备高泛化能力。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首先来看项目的背景与数据集概览。我们的核心目标是解决通用OCR在藏文场景识别率低的问题。为此，我们构建了一个包含8000张真实场景图片的数据集，覆盖四大藏区，并严格按9:1划分训练集和验证集。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我们的数据集有四大核心优势：地域多样性、场景真实性、文本丰富性和格式统一性。这不仅保证了数据质量，更让后续的模型训练能无缝衔接，具备高泛化能力。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首先来看项目的背景与数据集概览。我们的核心目标是解决通用OCR在藏文场景识别率低的问题。为此，我们构建了一个包含8000张真实场景图片的数据集，覆盖四大藏区，并严格按9:1划分训练集和验证集。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我们的数据集有四大核心优势：地域多样性、场景真实性、文本丰富性和格式统一性。这不仅保证了数据质量，更让后续的模型训练能无缝衔接，具备高泛化能力。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首先来看项目的背景与数据集概览。我们的核心目标是解决通用OCR在藏文场景识别率低的问题。为此，我们构建了一个包含8000张真实场景图片的数据集，覆盖四大藏区，并严格按9:1划分训练集和验证集。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我们的数据集有四大核心优势：地域多样性、场景真实性、文本丰富性和格式统一性。这不仅保证了数据质量，更让后续的模型训练能无缝衔接，具备高泛化能力。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首先来看项目的背景与数据集概览。我们的核心目标是解决通用OCR在藏文场景识别率低的问题。为此，我们构建了一个包含8000张真实场景图片的数据集，覆盖四大藏区，并严格按9:1划分训练集和验证集。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我们的数据集有四大核心优势：地域多样性、场景真实性、文本丰富性和格式统一性。这不仅保证了数据质量，更让后续的模型训练能无缝衔接，具备高泛化能力。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首先来看项目的背景与数据集概览。我们的核心目标是解决通用OCR在藏文场景识别率低的问题。为此，我们构建了一个包含8000张真实场景图片的数据集，覆盖四大藏区，并严格按9:1划分训练集和验证集。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我们的数据集有四大核心优势：地域多样性、场景真实性、文本丰富性和格式统一性。这不仅保证了数据质量，更让后续的模型训练能无缝衔接，具备高泛化能力。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首先来看项目的背景与数据集概览。我们的核心目标是解决通用OCR在藏文场景识别率低的问题。为此，我们构建了一个包含8000张真实场景图片的数据集，覆盖四大藏区，并严格按9:1划分训练集和验证集。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我们的数据集有四大核心优势：地域多样性、场景真实性、文本丰富性和格式统一性。这不仅保证了数据质量，更让后续的模型训练能无缝衔接，具备高泛化能力。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首先来看项目的背景与数据集概览。我们的核心目标是解决通用OCR在藏文场景识别率低的问题。为此，我们构建了一个包含8000张真实场景图片的数据集，覆盖四大藏区，并严格按9:1划分训练集和验证集。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我们的数据集有四大核心优势：地域多样性、场景真实性、文本丰富性和格式统一性。这不仅保证了数据质量，更让后续的模型训练能无缝衔接，具备高泛化能力。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首先来看项目的背景与数据集概览。我们的核心目标是解决通用OCR在藏文场景识别率低的问题。为此，我们构建了一个包含8000张真实场景图片的数据集，覆盖四大藏区，并严格按9:1划分训练集和验证集。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我们的数据集有四大核心优势：地域多样性、场景真实性、文本丰富性和格式统一性。这不仅保证了数据质量，更让后续的模型训练能无缝衔接，具备高泛化能力。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首先来看项目的背景与数据集概览。我们的核心目标是解决通用OCR在藏文场景识别率低的问题。为此，我们构建了一个包含8000张真实场景图片的数据集，覆盖四大藏区，并严格按9:1划分训练集和验证集。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我们的数据集有四大核心优势：地域多样性、场景真实性、文本丰富性和格式统一性。这不仅保证了数据质量，更让后续的模型训练能无缝衔接，具备高泛化能力。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首先来看项目的背景与数据集概览。我们的核心目标是解决通用OCR在藏文场景识别率低的问题。为此，我们构建了一个包含8000张真实场景图片的数据集，覆盖四大藏区，并严格按9:1划分训练集和验证集。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我们的数据集有四大核心优势：地域多样性、场景真实性、文本丰富性和格式统一性。这不仅保证了数据质量，更让后续的模型训练能无缝衔接，具备高泛化能力。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我要感谢所有支持本研究的个人和机构。现在，我非常乐意回答大家的任何问题。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0430b7498a4d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f7c787909f4f2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b85f17799d442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3096f023744b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d8b88af67742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ae8f86a7e4b4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ae70212de4412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17d6d95a0d4d3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7576977510436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d9da67c01e498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ab6c493ed9412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e165f3f7dad44dd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E13AC56-0E16-4377-A437-0A7799A07C2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F5722DB2-2537-4047-90A5-E1ACB833ED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F0FF0041-8041-443B-ACF7-02DA1A81D5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E3E98384-931D-4F8A-9CBA-9772408F28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BB594554-B61D-4006-8B65-91D995A3AC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C7AEF394-0A36-40F6-A893-5BB6124AEB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4760FB12-DC84-44C3-9B57-48163D4D31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6764206A-370D-4906-8348-F24BAD6324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E0DCE812-DCAA-4116-9C48-271BBB793D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11D501EF-3CCF-4FB3-BB9C-E9A7CD96D7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51E871A8-E459-4C16-BB9A-8139BDF4D2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51EC65CD-21CD-45D9-B9AB-208EF22BBF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9E6FBAB-D371-4D72-8A8C-C4FFD7FFD7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5527B334-2501-4A6A-8985-193AB82007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BDE38539-6A9B-4F78-99BD-E3FCE08BC8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D10CEFA0-603E-4CD5-9694-7976E7D4B9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3942065C-1E65-453C-A628-E8D8A79F99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997CE81E-39EA-4725-8040-C53119B42C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735D270-2E4C-4A15-B0A1-2A11292F79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AFE595F7-64F9-448E-BBB5-BD17188480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FA69EF3B-09E1-42F0-813D-0E80168E7E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68B35FF4-5146-422F-8F6E-F7BF74A94B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29C0985B-FA40-4EB4-9E8E-9B9BF434A7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7B9EFA9C-3D30-4143-8810-4F17283289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28AF90F7-39DD-4A5A-B929-ED26AE48877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0BC325AD-8A61-4A47-9A53-F39EECB7B28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602C47D3-E2CB-45FE-BF73-8513C3231F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5DF62-4E51-4B0D-8133-98AB12FE90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91672C0C-636F-42DD-BD12-955644465B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125D8C9C-753A-406A-A729-F88ADA056F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F5682B48-8235-4688-A7B9-23051FCB9A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14A91056-9464-4096-AB52-4BC02007BC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33A7B1CE-5329-4F29-88A5-9FA00EF0ED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33327E2C-5191-45FD-A43F-5FBA60C371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DEE4535F-9433-4C66-846A-16C1786841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B5F841D6-275E-4D5F-886B-47B2B41DC7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C25694B3-CF03-4F6C-9213-DF8FB93624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CCC5C616-B70F-471A-9109-1B00B6B16C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2ECE5DAE-687A-40BD-8644-9B22225C2B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25962F5E-B190-434D-A178-39BCDA151D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749274C4-51C9-4E32-BA36-068C6BF129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3C2243E4-6428-45A1-8CCA-93DD9A2469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1070C9FF-B15A-4EC5-A7A6-EEB808FB16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F0E7E458-2E4D-47E5-9C30-A96973B6468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991C4C0B-26A5-4C09-B58E-C12B59226C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DF03E04-27F3-456D-A0E9-E9F7E98009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9733E41A-4F94-4E35-A61F-80C5825151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B10A718-AE49-40CB-8A13-7D32ED8B3F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22B7E4BA-B84B-4A49-881B-D5690F3FD6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A1FDE2F8-1363-4C10-BCC4-F3D925D92E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BC9B6D-D38B-4FDE-9D2D-72C1FB2847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801E9F16-C845-4DE1-9AEB-3DB6D1361B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F1B87BBA-BD60-441D-930B-8208F085A4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C18DD3FE-DC81-48E3-BF3E-4A1DC89F16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DBED52EE-0FEE-4B01-BCE8-4E85E85C0B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8C4F092-7621-4B2A-882E-4FAD6450E0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3D370E8D-4AE9-4FA9-A2F8-5D0602FF24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B21E1940-D8FC-4137-A460-8D8335DFC0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ea0480eaf74197" /><Relationship Type="http://schemas.openxmlformats.org/officeDocument/2006/relationships/slideLayout" Target="/ppt/slideLayouts/slideLayout1.xml" Id="R6fb13c17a2ce4dc4" /><Relationship Type="http://schemas.openxmlformats.org/officeDocument/2006/relationships/slideLayout" Target="/ppt/slideLayouts/slideLayout2.xml" Id="Rfb1b533345584552" /><Relationship Type="http://schemas.openxmlformats.org/officeDocument/2006/relationships/slideLayout" Target="/ppt/slideLayouts/slideLayout3.xml" Id="Rf01414c9c55e44b2" /><Relationship Type="http://schemas.openxmlformats.org/officeDocument/2006/relationships/slideLayout" Target="/ppt/slideLayouts/slideLayout4.xml" Id="Rbc60815aa65a44a8" /><Relationship Type="http://schemas.openxmlformats.org/officeDocument/2006/relationships/slideLayout" Target="/ppt/slideLayouts/slideLayout5.xml" Id="Rd1c92d5cb3034bee" /><Relationship Type="http://schemas.openxmlformats.org/officeDocument/2006/relationships/slideLayout" Target="/ppt/slideLayouts/slideLayout6.xml" Id="R1550c85528884c59" /><Relationship Type="http://schemas.openxmlformats.org/officeDocument/2006/relationships/slideLayout" Target="/ppt/slideLayouts/slideLayout7.xml" Id="R9f711735b6624a64" /><Relationship Type="http://schemas.openxmlformats.org/officeDocument/2006/relationships/slideLayout" Target="/ppt/slideLayouts/slideLayout8.xml" Id="R8adfb0e77fb7467f" /><Relationship Type="http://schemas.openxmlformats.org/officeDocument/2006/relationships/slideLayout" Target="/ppt/slideLayouts/slideLayout9.xml" Id="R2037980a009f4431" /><Relationship Type="http://schemas.openxmlformats.org/officeDocument/2006/relationships/slideLayout" Target="/ppt/slideLayouts/slideLayout10.xml" Id="R717260ee20b24d68" /><Relationship Type="http://schemas.openxmlformats.org/officeDocument/2006/relationships/slideLayout" Target="/ppt/slideLayouts/slideLayout11.xml" Id="R1c7528493cc9467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6804430d6fe41b2" /><Relationship Type="http://schemas.openxmlformats.org/officeDocument/2006/relationships/slideLayout" Target="/ppt/slideLayouts/slideLayout12.xml" Id="Ra63124a7b635403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36A6513A-2430-4827-9746-109EC151C4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5E8E4177-262D-4EAA-AE48-5BAFB72C73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C994008A-3F60-4E45-920C-04BC4ED247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38EA35E8-8A5D-4E84-B770-72D9A8998B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7959D0CF-8027-4BC5-A3F6-D0754DAC8E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b13c17a2ce4dc4"/>
    <p:sldLayoutId xmlns:r="http://schemas.openxmlformats.org/officeDocument/2006/relationships" id="2147483650" r:id="Rfb1b533345584552"/>
    <p:sldLayoutId xmlns:r="http://schemas.openxmlformats.org/officeDocument/2006/relationships" id="2147483651" r:id="Rf01414c9c55e44b2"/>
    <p:sldLayoutId xmlns:r="http://schemas.openxmlformats.org/officeDocument/2006/relationships" id="2147483652" r:id="Rbc60815aa65a44a8"/>
    <p:sldLayoutId xmlns:r="http://schemas.openxmlformats.org/officeDocument/2006/relationships" id="2147483653" r:id="Rd1c92d5cb3034bee"/>
    <p:sldLayoutId xmlns:r="http://schemas.openxmlformats.org/officeDocument/2006/relationships" id="2147483654" r:id="R1550c85528884c59"/>
    <p:sldLayoutId xmlns:r="http://schemas.openxmlformats.org/officeDocument/2006/relationships" id="2147483655" r:id="R9f711735b6624a64"/>
    <p:sldLayoutId xmlns:r="http://schemas.openxmlformats.org/officeDocument/2006/relationships" id="2147483656" r:id="R8adfb0e77fb7467f"/>
    <p:sldLayoutId xmlns:r="http://schemas.openxmlformats.org/officeDocument/2006/relationships" id="2147483657" r:id="R2037980a009f4431"/>
    <p:sldLayoutId xmlns:r="http://schemas.openxmlformats.org/officeDocument/2006/relationships" id="2147483658" r:id="R717260ee20b24d68"/>
    <p:sldLayoutId xmlns:r="http://schemas.openxmlformats.org/officeDocument/2006/relationships" id="2147483659" r:id="R1c7528493cc9467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63124a7b635403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e2e751d4daa436a" /><Relationship Type="http://schemas.openxmlformats.org/officeDocument/2006/relationships/image" Target="/ppt/media/image.png" Id="R3dc7ebfd66724e75" /><Relationship Type="http://schemas.openxmlformats.org/officeDocument/2006/relationships/notesSlide" Target="/ppt/notesSlides/notesSlide1.xml" Id="Rf715f321439d43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2cb3220319a4f99" /><Relationship Type="http://schemas.openxmlformats.org/officeDocument/2006/relationships/image" Target="/ppt/media/image2.png" Id="Ra46863a1f921490d" /><Relationship Type="http://schemas.openxmlformats.org/officeDocument/2006/relationships/notesSlide" Target="/ppt/notesSlides/notesSlide2.xml" Id="Rdbb9a1a6940e49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7c14554235947c6" /><Relationship Type="http://schemas.openxmlformats.org/officeDocument/2006/relationships/image" Target="/ppt/media/image3.png" Id="R09ee76d197e0431a" /><Relationship Type="http://schemas.openxmlformats.org/officeDocument/2006/relationships/notesSlide" Target="/ppt/notesSlides/notesSlide3.xml" Id="Rea7b29d061e74f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4a8a1dfafee49a4" /><Relationship Type="http://schemas.openxmlformats.org/officeDocument/2006/relationships/image" Target="/ppt/media/image4.png" Id="R606cdf7b0df64a61" /><Relationship Type="http://schemas.openxmlformats.org/officeDocument/2006/relationships/image" Target="/ppt/media/image.jpeg" Id="R7dd65e72a9374ccb" /><Relationship Type="http://schemas.openxmlformats.org/officeDocument/2006/relationships/image" Target="/ppt/media/image5.png" Id="Rc18aa51de2ee4d78" /><Relationship Type="http://schemas.openxmlformats.org/officeDocument/2006/relationships/notesSlide" Target="/ppt/notesSlides/notesSlide4.xml" Id="Ref91a32ca69045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79efd311a494b27" /><Relationship Type="http://schemas.openxmlformats.org/officeDocument/2006/relationships/image" Target="/ppt/media/image6.png" Id="Re5f50172d33845e1" /><Relationship Type="http://schemas.openxmlformats.org/officeDocument/2006/relationships/notesSlide" Target="/ppt/notesSlides/notesSlide5.xml" Id="R0b84ce47435441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f43a2b9a23f46a7" /><Relationship Type="http://schemas.openxmlformats.org/officeDocument/2006/relationships/image" Target="/ppt/media/image7.png" Id="R4b183e3a52de4ef2" /><Relationship Type="http://schemas.openxmlformats.org/officeDocument/2006/relationships/notesSlide" Target="/ppt/notesSlides/notesSlide6.xml" Id="Rc4385e192f9144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8ed05a7c23f4ed5" /><Relationship Type="http://schemas.openxmlformats.org/officeDocument/2006/relationships/image" Target="/ppt/media/image8.png" Id="Rf6064c62d0bf4867" /><Relationship Type="http://schemas.openxmlformats.org/officeDocument/2006/relationships/notesSlide" Target="/ppt/notesSlides/notesSlide7.xml" Id="R8682e374dc2a4d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e56bcebe8e14126" /><Relationship Type="http://schemas.openxmlformats.org/officeDocument/2006/relationships/notesSlide" Target="/ppt/notesSlides/notesSlide8.xml" Id="R253dbf51e14045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2dfad007d514e79" /><Relationship Type="http://schemas.openxmlformats.org/officeDocument/2006/relationships/notesSlide" Target="/ppt/notesSlides/notesSlide9.xml" Id="Rabda4f1c349f47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c0d2912578c4a8a" /><Relationship Type="http://schemas.openxmlformats.org/officeDocument/2006/relationships/notesSlide" Target="/ppt/notesSlides/notesSlide10.xml" Id="R44f9acf389404e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ecfe2a98cdc4fac" /><Relationship Type="http://schemas.openxmlformats.org/officeDocument/2006/relationships/notesSlide" Target="/ppt/notesSlides/notesSlide11.xml" Id="R8f1574853ae947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bcbb7e5eb56487e" /><Relationship Type="http://schemas.openxmlformats.org/officeDocument/2006/relationships/notesSlide" Target="/ppt/notesSlides/notesSlide12.xml" Id="Ra28c8d789a2b4c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b48aabfe7934cf1" /><Relationship Type="http://schemas.openxmlformats.org/officeDocument/2006/relationships/image" Target="/ppt/media/image9.png" Id="R71de4ad165724269" /><Relationship Type="http://schemas.openxmlformats.org/officeDocument/2006/relationships/image" Target="/ppt/media/image10.png" Id="R588d2a4284434a86" /><Relationship Type="http://schemas.openxmlformats.org/officeDocument/2006/relationships/image" Target="/ppt/media/image11.png" Id="Ref5d6943124c4e5f" /><Relationship Type="http://schemas.openxmlformats.org/officeDocument/2006/relationships/image" Target="/ppt/media/image12.png" Id="Re6e9969eb18045ec" /><Relationship Type="http://schemas.openxmlformats.org/officeDocument/2006/relationships/image" Target="/ppt/media/image2.jpeg" Id="R15df1c409c634902" /><Relationship Type="http://schemas.openxmlformats.org/officeDocument/2006/relationships/image" Target="/ppt/media/image3.jpeg" Id="R08e3325b884d4a7d" /><Relationship Type="http://schemas.openxmlformats.org/officeDocument/2006/relationships/notesSlide" Target="/ppt/notesSlides/notesSlide13.xml" Id="R864de9a334be44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e03609bb90d4ec4" /><Relationship Type="http://schemas.openxmlformats.org/officeDocument/2006/relationships/image" Target="/ppt/media/image9.png" Id="Rc4836d5761b24189" /><Relationship Type="http://schemas.openxmlformats.org/officeDocument/2006/relationships/image" Target="/ppt/media/image4.jpeg" Id="Rf57c900c5b8b482f" /><Relationship Type="http://schemas.openxmlformats.org/officeDocument/2006/relationships/image" Target="/ppt/media/image13.png" Id="R6e4e6a63d7674a91" /><Relationship Type="http://schemas.openxmlformats.org/officeDocument/2006/relationships/image" Target="/ppt/media/image14.png" Id="R4d7dd7b86cff4d6b" /><Relationship Type="http://schemas.openxmlformats.org/officeDocument/2006/relationships/image" Target="/ppt/media/image15.png" Id="R920fda5a85aa4d53" /><Relationship Type="http://schemas.openxmlformats.org/officeDocument/2006/relationships/image" Target="/ppt/media/image16.png" Id="Rc79a491de0224811" /><Relationship Type="http://schemas.openxmlformats.org/officeDocument/2006/relationships/image" Target="/ppt/media/image5.jpeg" Id="Rfec5841e88614b65" /><Relationship Type="http://schemas.openxmlformats.org/officeDocument/2006/relationships/image" Target="/ppt/media/image6.jpeg" Id="R951204a13cc741aa" /><Relationship Type="http://schemas.openxmlformats.org/officeDocument/2006/relationships/image" Target="/ppt/media/image17.png" Id="R7b1c1d7a8dc94fc3" /><Relationship Type="http://schemas.openxmlformats.org/officeDocument/2006/relationships/image" Target="/ppt/media/image7.jpeg" Id="Rf795ffa38365477a" /><Relationship Type="http://schemas.openxmlformats.org/officeDocument/2006/relationships/notesSlide" Target="/ppt/notesSlides/notesSlide14.xml" Id="R64da4388e8d24f0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621241de75f417a" /><Relationship Type="http://schemas.openxmlformats.org/officeDocument/2006/relationships/image" Target="/ppt/media/image9.png" Id="R3951b7a081e94e2f" /><Relationship Type="http://schemas.openxmlformats.org/officeDocument/2006/relationships/image" Target="/ppt/media/image18.png" Id="R1c721bcf6af1470c" /><Relationship Type="http://schemas.openxmlformats.org/officeDocument/2006/relationships/image" Target="/ppt/media/image19.png" Id="R6d0ddee13d6047ce" /><Relationship Type="http://schemas.openxmlformats.org/officeDocument/2006/relationships/image" Target="/ppt/media/image20.png" Id="Rc01722fb4a2f4c96" /><Relationship Type="http://schemas.openxmlformats.org/officeDocument/2006/relationships/image" Target="/ppt/media/image8.jpeg" Id="Rc6e85b2770a94dd2" /><Relationship Type="http://schemas.openxmlformats.org/officeDocument/2006/relationships/notesSlide" Target="/ppt/notesSlides/notesSlide15.xml" Id="R385b696ec0f845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b96e57777ed4e94" /><Relationship Type="http://schemas.openxmlformats.org/officeDocument/2006/relationships/image" Target="/ppt/media/image9.png" Id="Rf19d2149f025432e" /><Relationship Type="http://schemas.openxmlformats.org/officeDocument/2006/relationships/image" Target="/ppt/media/image18.png" Id="Rafa7e27eeea949f3" /><Relationship Type="http://schemas.openxmlformats.org/officeDocument/2006/relationships/image" Target="/ppt/media/image19.png" Id="Rfe0696009c594535" /><Relationship Type="http://schemas.openxmlformats.org/officeDocument/2006/relationships/image" Target="/ppt/media/image20.png" Id="Ra42e18188f0e420f" /><Relationship Type="http://schemas.openxmlformats.org/officeDocument/2006/relationships/image" Target="/ppt/media/image8.jpeg" Id="R8b72ee1eb6e749ef" /><Relationship Type="http://schemas.openxmlformats.org/officeDocument/2006/relationships/notesSlide" Target="/ppt/notesSlides/notesSlide16.xml" Id="Rb4b404b0e6104f6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e0e2b1be5be4810" /><Relationship Type="http://schemas.openxmlformats.org/officeDocument/2006/relationships/image" Target="/ppt/media/image9.png" Id="Redf71c5c5e134161" /><Relationship Type="http://schemas.openxmlformats.org/officeDocument/2006/relationships/notesSlide" Target="/ppt/notesSlides/notesSlide17.xml" Id="Re837082a7117427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3c251c8cee84894" /><Relationship Type="http://schemas.openxmlformats.org/officeDocument/2006/relationships/notesSlide" Target="/ppt/notesSlides/notesSlide18.xml" Id="R88bf817d62b74a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7ebfd66724e75"/>
          <a:srcRect xmlns:a="http://schemas.openxmlformats.org/drawingml/2006/main" l="126" t="0" r="1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"/>
            <a:ext cx="12192000" cy="68752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9903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0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863a1f921490d"/>
          <a:srcRect xmlns:a="http://schemas.openxmlformats.org/drawingml/2006/main" l="438" t="0" r="4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655320"/>
            <a:ext cx="12296615" cy="6202679"/>
          </a:xfrm>
          <a:prstGeom xmlns:a="http://schemas.openxmlformats.org/drawingml/2006/main" prst="rect">
            <a:avLst/>
          </a:prstGeom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75305F1C-DE41-4231-A2C9-E1FBA9AF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006"/>
            <a:ext cx="12296614" cy="620268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18C698DE-BFF4-4D78-B411-EF4BC09A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5664200"/>
            <a:ext cx="698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 i="0" u="non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项目全景与关键证据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227A07F8-F649-4164-97FC-F3FE8C1C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5106504"/>
            <a:ext cx="736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200" b="0">
                <a:solidFill>
                  <a:srgbClr val="50555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 u="none">
                <a:solidFill>
                  <a:srgbClr val="50555F"/>
                </a:solidFill>
                <a:latin typeface="Noto Sans SC"/>
                <a:ea typeface="Noto Sans SC"/>
                <a:cs typeface="Noto Sans SC"/>
              </a:rPr>
              <a:t>围绕单图到 canonical SMILES，V3 把数据治理、受控训练、一次性 locked test 与可审计 Agent 串成同一条证据链。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A9803823-8D70-8791-40E1-B5962272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55880"/>
            <a:ext cx="1229741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B196A772-90C0-4F34-5379-D4FFE594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998" y="158749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受控实验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7E4BC8B1-E0C7-3095-5E15-C2366022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003" y="158749"/>
            <a:ext cx="147574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Agent系统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0DC77744-1A7D-75F9-1DCF-81385A2A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613" y="160079"/>
            <a:ext cx="159131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开源交付</a:t>
            </a: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56C24849-1475-3F10-22B2-2456936C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14" y="14935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训练路线</a:t>
            </a:r>
          </a:p>
        </p:txBody>
      </p:sp>
      <p:sp>
        <p:nvSpPr>
          <p:cNvPr id="66" name="文本框 65">
            <a:extLst xmlns:a="http://schemas.openxmlformats.org/drawingml/2006/main">
              <a:ext uri="{FF2B5EF4-FFF2-40B4-BE49-F238E27FC236}">
                <a16:creationId xmlns:a16="http://schemas.microsoft.com/office/drawing/2014/main" id="{E2C3D076-FDCE-7C1B-5D17-89AD488A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05" y="14300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数据构建</a:t>
            </a:r>
          </a:p>
        </p:txBody>
      </p:sp>
      <p:sp>
        <p:nvSpPr>
          <p:cNvPr id="68" name="文本框 67">
            <a:extLst xmlns:a="http://schemas.openxmlformats.org/drawingml/2006/main">
              <a:ext uri="{FF2B5EF4-FFF2-40B4-BE49-F238E27FC236}">
                <a16:creationId xmlns:a16="http://schemas.microsoft.com/office/drawing/2014/main" id="{DA08EBD6-9B2F-EB25-742E-4A7CC174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738" y="149358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冻结评测</a:t>
            </a:r>
          </a:p>
        </p:txBody>
      </p:sp>
    </p:spTree>
    <p:extLst>
      <p:ext uri="{BB962C8B-B14F-4D97-AF65-F5344CB8AC3E}">
        <p14:creationId xmlns:p14="http://schemas.microsoft.com/office/powerpoint/2010/main" val="875606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A6BFFA76-F669-ABEB-9166-16D02643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55880"/>
            <a:ext cx="1229741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B57D6534-EA13-2574-599F-134CF454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998" y="158749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受控实验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A79264F2-86F8-2C8D-64D3-97B4420A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003" y="158749"/>
            <a:ext cx="147574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Agent系统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141A062D-B220-2E5F-18F7-0D86AA6D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613" y="160079"/>
            <a:ext cx="159131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开源交付</a:t>
            </a: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7561C8D0-BEF3-BDBC-55C4-9983CF70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14" y="14935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训练路线</a:t>
            </a:r>
          </a:p>
        </p:txBody>
      </p:sp>
      <p:sp>
        <p:nvSpPr>
          <p:cNvPr id="66" name="文本框 65">
            <a:extLst xmlns:a="http://schemas.openxmlformats.org/drawingml/2006/main">
              <a:ext uri="{FF2B5EF4-FFF2-40B4-BE49-F238E27FC236}">
                <a16:creationId xmlns:a16="http://schemas.microsoft.com/office/drawing/2014/main" id="{CF9F45E7-BF81-5C14-EF19-0109B1AC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05" y="14300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数据构建</a:t>
            </a:r>
          </a:p>
        </p:txBody>
      </p:sp>
      <p:sp>
        <p:nvSpPr>
          <p:cNvPr id="68" name="文本框 67">
            <a:extLst xmlns:a="http://schemas.openxmlformats.org/drawingml/2006/main">
              <a:ext uri="{FF2B5EF4-FFF2-40B4-BE49-F238E27FC236}">
                <a16:creationId xmlns:a16="http://schemas.microsoft.com/office/drawing/2014/main" id="{F30EF897-AB78-30A2-4BE6-A2E4CAF7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738" y="149358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冻结评测</a:t>
            </a:r>
          </a:p>
        </p:txBody>
      </p:sp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9A03134-E08E-C3E6-E337-53A22F21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" y="1029136"/>
            <a:ext cx="5080000" cy="147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4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40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证据链闭环</a:t>
            </a:r>
          </a:p>
        </p:txBody>
      </p:sp>
      <p:pic>
        <p:nvPicPr>
          <p:cNvPr id="10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e76d197e0431a"/>
          <a:stretch xmlns:a="http://schemas.openxmlformats.org/drawingml/2006/main"/>
        </p:blipFill>
        <p:spPr>
          <a:xfrm xmlns:a="http://schemas.openxmlformats.org/drawingml/2006/main">
            <a:off x="3026410" y="1019682"/>
            <a:ext cx="7544352" cy="3360666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3443B47-29BD-EBCE-3EF9-0DC17281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2" y="3807122"/>
            <a:ext cx="9841404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200" b="0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先冻结任务与统计单位，再构建严格训练混合和分角色评测；所有 checkpoint、hard replay、beam 与 rerank 决策只读取 development，locked test 在策略冻结后运行一次。</a:t>
            </a:r>
          </a:p>
        </p:txBody>
      </p:sp>
      <p:cxnSp>
        <p:nvCxnSpPr>
          <p:cNvPr id="104" name="Connector 6"/>
          <p:cNvCxnSpPr/>
          <p:nvPr/>
        </p:nvCxnSpPr>
        <p:spPr>
          <a:xfrm xmlns:a="http://schemas.openxmlformats.org/drawingml/2006/main" rot="-3893">
            <a:off x="575314" y="5108873"/>
            <a:ext cx="112141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B994409-DDE1-0E3A-71B8-A438CB71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" y="5369223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5A0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50D3A01-E052-A192-D62F-E7EE0520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" y="5369223"/>
            <a:ext cx="241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01 / 数据构建</a:t>
            </a:r>
          </a:p>
        </p:txBody>
      </p:sp>
      <p:sp>
        <p:nvSpPr>
          <p:cNvPr id="8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EC7951A-843E-488D-88CB-F9EA9B50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" y="6004223"/>
            <a:ext cx="254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100" b="0">
                <a:solidFill>
                  <a:srgbClr val="50555F"/>
                </a:solidFill>
                <a:latin typeface="Noto Sans SC"/>
                <a:ea typeface="Noto Sans SC"/>
                <a:cs typeface="Noto Sans SC"/>
              </a:defRPr>
            </a:pPr>
            <a:r>
              <a:rPr sz="1100" b="0" i="0" u="none">
                <a:solidFill>
                  <a:srgbClr val="50555F"/>
                </a:solidFill>
                <a:latin typeface="Noto Sans SC"/>
                <a:ea typeface="Noto Sans SC"/>
                <a:cs typeface="Noto Sans SC"/>
              </a:rPr>
              <a:t>七部分混合按可信度、覆盖和吞噬风险配比；22,762 条 strict 记录进入 final control。</a:t>
            </a:r>
          </a:p>
        </p:txBody>
      </p:sp>
      <p:cxnSp>
        <p:nvCxnSpPr>
          <p:cNvPr id="108" name="Connector 10"/>
          <p:cNvCxnSpPr/>
          <p:nvPr/>
        </p:nvCxnSpPr>
        <p:spPr>
          <a:xfrm xmlns:a="http://schemas.openxmlformats.org/drawingml/2006/main" rot="5371352">
            <a:off x="2581910" y="6124899"/>
            <a:ext cx="1524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4DF885E2-6FE0-34B8-32EE-794AE752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910" y="5369223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5A0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CF0B830-F9FA-D15E-0FDF-FEC583F6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410" y="5369223"/>
            <a:ext cx="241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02 / 评测冻结</a:t>
            </a:r>
          </a:p>
        </p:txBody>
      </p:sp>
      <p:sp>
        <p:nvSpPr>
          <p:cNvPr id="12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58608783-0BB5-ACE7-FEC4-0ECEE756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910" y="6004223"/>
            <a:ext cx="254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100" b="0">
                <a:solidFill>
                  <a:srgbClr val="50555F"/>
                </a:solidFill>
                <a:latin typeface="Noto Sans SC"/>
                <a:ea typeface="Noto Sans SC"/>
                <a:cs typeface="Noto Sans SC"/>
              </a:defRPr>
            </a:pPr>
            <a:r>
              <a:rPr sz="1100" b="0" i="0" u="none">
                <a:solidFill>
                  <a:srgbClr val="50555F"/>
                </a:solidFill>
                <a:latin typeface="Noto Sans SC"/>
                <a:ea typeface="Noto Sans SC"/>
                <a:cs typeface="Noto Sans SC"/>
              </a:rPr>
              <a:t>753 + 754 条 development 负责选择；301 分子、62 篇论文的 locked wild 只负责最终回答。</a:t>
            </a:r>
          </a:p>
        </p:txBody>
      </p:sp>
      <p:cxnSp>
        <p:nvCxnSpPr>
          <p:cNvPr id="112" name="Connector 14"/>
          <p:cNvCxnSpPr/>
          <p:nvPr/>
        </p:nvCxnSpPr>
        <p:spPr>
          <a:xfrm xmlns:a="http://schemas.openxmlformats.org/drawingml/2006/main" rot="5371352">
            <a:off x="5629910" y="6124899"/>
            <a:ext cx="1524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96A7F80A-B3FE-5117-4117-7D455E66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910" y="5369223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5A0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872AD4BF-395E-083F-988D-77133239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410" y="5369223"/>
            <a:ext cx="241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03 / 训练与后训练</a:t>
            </a:r>
          </a:p>
        </p:txBody>
      </p:sp>
      <p:sp>
        <p:nvSpPr>
          <p:cNvPr id="16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3EB4B512-243A-FD87-CF8D-482BC110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910" y="6004223"/>
            <a:ext cx="254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100" b="0">
                <a:solidFill>
                  <a:srgbClr val="50555F"/>
                </a:solidFill>
                <a:latin typeface="Noto Sans SC"/>
                <a:ea typeface="Noto Sans SC"/>
                <a:cs typeface="Noto Sans SC"/>
              </a:defRPr>
            </a:pPr>
            <a:r>
              <a:rPr sz="1100" b="0" i="0" u="none">
                <a:solidFill>
                  <a:srgbClr val="50555F"/>
                </a:solidFill>
                <a:latin typeface="Noto Sans SC"/>
                <a:ea typeface="Noto Sans SC"/>
                <a:cs typeface="Noto Sans SC"/>
              </a:rPr>
              <a:t>V2-1 LoRA continuation，经 2x2 消融、checkpoint gate、hard replay gate 与 decoder 对照逐步冻结。</a:t>
            </a:r>
          </a:p>
        </p:txBody>
      </p:sp>
      <p:cxnSp>
        <p:nvCxnSpPr>
          <p:cNvPr id="116" name="Connector 18"/>
          <p:cNvCxnSpPr/>
          <p:nvPr/>
        </p:nvCxnSpPr>
        <p:spPr>
          <a:xfrm xmlns:a="http://schemas.openxmlformats.org/drawingml/2006/main" rot="5371352">
            <a:off x="8550910" y="6124899"/>
            <a:ext cx="1524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4E4B9038-164F-D7CE-C6F9-4BB3FB5C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10" y="5369223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5A0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6B208C20-C345-585C-46F0-4AC01B0E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4410" y="5369223"/>
            <a:ext cx="241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04 / Agent 与发布</a:t>
            </a:r>
          </a:p>
        </p:txBody>
      </p:sp>
      <p:sp>
        <p:nvSpPr>
          <p:cNvPr id="20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6DA4FD1-BDC3-F658-660B-1F6FD481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10" y="6004223"/>
            <a:ext cx="241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100" b="0">
                <a:solidFill>
                  <a:srgbClr val="50555F"/>
                </a:solidFill>
                <a:latin typeface="Noto Sans SC"/>
                <a:ea typeface="Noto Sans SC"/>
                <a:cs typeface="Noto Sans SC"/>
              </a:defRPr>
            </a:pPr>
            <a:r>
              <a:rPr sz="1100" b="0" i="0" u="none">
                <a:solidFill>
                  <a:srgbClr val="50555F"/>
                </a:solidFill>
                <a:latin typeface="Noto Sans SC"/>
                <a:ea typeface="Noto Sans SC"/>
                <a:cs typeface="Noto Sans SC"/>
              </a:rPr>
              <a:t>MolTrace 前后端公开候选、RDKit 校验和选择理由；代码、模型、报告与 PPT 同步发布。</a:t>
            </a:r>
          </a:p>
        </p:txBody>
      </p:sp>
    </p:spTree>
    <p:extLst>
      <p:ext uri="{BB962C8B-B14F-4D97-AF65-F5344CB8AC3E}">
        <p14:creationId xmlns:p14="http://schemas.microsoft.com/office/powerpoint/2010/main" val="107116392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41556E45-20B9-90A2-BDD4-09EBB04E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55880"/>
            <a:ext cx="1229741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C172E013-EA3A-8A3D-72E2-97730559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998" y="158749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受控实验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D46759F7-835E-0A45-8174-99F33B3F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003" y="158749"/>
            <a:ext cx="147574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Agent系统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C4AC6C7C-8793-39BD-065A-E43C7DD9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613" y="160079"/>
            <a:ext cx="159131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开源交付</a:t>
            </a: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6773D414-F5D6-5A47-D153-190D55B2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14" y="14935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训练路线</a:t>
            </a:r>
          </a:p>
        </p:txBody>
      </p:sp>
      <p:sp>
        <p:nvSpPr>
          <p:cNvPr id="66" name="文本框 65">
            <a:extLst xmlns:a="http://schemas.openxmlformats.org/drawingml/2006/main">
              <a:ext uri="{FF2B5EF4-FFF2-40B4-BE49-F238E27FC236}">
                <a16:creationId xmlns:a16="http://schemas.microsoft.com/office/drawing/2014/main" id="{64D4A7A0-DF7A-A87F-EFDA-E8CD1891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05" y="14300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数据构建</a:t>
            </a:r>
          </a:p>
        </p:txBody>
      </p:sp>
      <p:sp>
        <p:nvSpPr>
          <p:cNvPr id="68" name="文本框 67">
            <a:extLst xmlns:a="http://schemas.openxmlformats.org/drawingml/2006/main">
              <a:ext uri="{FF2B5EF4-FFF2-40B4-BE49-F238E27FC236}">
                <a16:creationId xmlns:a16="http://schemas.microsoft.com/office/drawing/2014/main" id="{B8E815DB-28EC-F713-C86A-FF510C5E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738" y="149358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冻结评测</a:t>
            </a:r>
          </a:p>
        </p:txBody>
      </p:sp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D196529B-09AC-75B2-7419-917729D9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006"/>
            <a:ext cx="12192000" cy="6115994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 rotWithShape="1">
            <a:gsLst>
              <a:gs pos="0">
                <a:srgbClr val="000000">
                  <a:alpha val="80000"/>
                </a:srgbClr>
              </a:gs>
              <a:gs pos="50000">
                <a:srgbClr val="0A0F1E">
                  <a:alpha val="70000"/>
                </a:srgbClr>
              </a:gs>
              <a:gs pos="100000">
                <a:srgbClr val="000000">
                  <a:alpha val="40000"/>
                </a:srgbClr>
              </a:gs>
            </a:gsLst>
            <a:lin ang="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94" name="Connector 6"/>
          <p:cNvCxnSpPr/>
          <p:nvPr/>
        </p:nvCxnSpPr>
        <p:spPr>
          <a:xfrm xmlns:a="http://schemas.openxmlformats.org/drawingml/2006/main" rot="-7044">
            <a:off x="406407" y="2996256"/>
            <a:ext cx="61976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" name="Connector 7"/>
          <p:cNvCxnSpPr/>
          <p:nvPr/>
        </p:nvCxnSpPr>
        <p:spPr>
          <a:xfrm xmlns:a="http://schemas.openxmlformats.org/drawingml/2006/main" rot="-7044">
            <a:off x="406407" y="3910656"/>
            <a:ext cx="61976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" name="Connector 8"/>
          <p:cNvCxnSpPr/>
          <p:nvPr/>
        </p:nvCxnSpPr>
        <p:spPr>
          <a:xfrm xmlns:a="http://schemas.openxmlformats.org/drawingml/2006/main" rot="-7044">
            <a:off x="406407" y="4812356"/>
            <a:ext cx="61976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C6C2BBD-14D7-07DD-406D-3A1A8A31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2113606"/>
            <a:ext cx="2133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4000" b="1">
                <a:solidFill>
                  <a:srgbClr val="FFFFFF"/>
                </a:solidFill>
                <a:latin typeface="ChillDuanSans WideSemiBold"/>
                <a:ea typeface="ChillDuanSans WideSemiBold"/>
                <a:cs typeface="ChillDuanSans WideSemiBold"/>
              </a:defRPr>
            </a:pPr>
            <a:r>
              <a:rPr sz="4000" b="1" i="0" u="none">
                <a:solidFill>
                  <a:srgbClr val="FFFFFF"/>
                </a:solidFill>
                <a:latin typeface="ChillDuanSans WideSemiBold"/>
                <a:ea typeface="ChillDuanSans WideSemiBold"/>
                <a:cs typeface="ChillDuanSans WideSemiBold"/>
              </a:rPr>
              <a:t>22,762</a:t>
            </a:r>
          </a:p>
        </p:txBody>
      </p:sp>
      <p:sp>
        <p:nvSpPr>
          <p:cNvPr id="7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ECA95FC-1928-93C9-E983-DC1C1CC0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0" y="2266006"/>
            <a:ext cx="165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1" i="0" u="non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strict 训练记录</a:t>
            </a:r>
          </a:p>
        </p:txBody>
      </p:sp>
      <p:sp>
        <p:nvSpPr>
          <p:cNvPr id="8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FC85BB3C-FB55-94A1-9561-E87857B2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66006"/>
            <a:ext cx="2032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100" b="0">
                <a:solidFill>
                  <a:srgbClr val="C8C8C8"/>
                </a:solidFill>
                <a:latin typeface="Noto Sans SC"/>
                <a:ea typeface="Noto Sans SC"/>
                <a:cs typeface="Noto Sans SC"/>
              </a:defRPr>
            </a:pPr>
            <a:r>
              <a:rPr sz="1100" b="0" i="0" u="none">
                <a:solidFill>
                  <a:srgbClr val="C8C8C8"/>
                </a:solidFill>
                <a:latin typeface="Noto Sans SC"/>
                <a:ea typeface="Noto Sans SC"/>
                <a:cs typeface="Noto Sans SC"/>
              </a:rPr>
              <a:t>由 23,047 条 clean weighted 输入过滤多片段、symbolic、不收敛和 held-out 重叠后得到。</a:t>
            </a:r>
          </a:p>
        </p:txBody>
      </p:sp>
      <p:sp>
        <p:nvSpPr>
          <p:cNvPr id="9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4144A2F2-17B4-5B4A-D2FC-852FA476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091506"/>
            <a:ext cx="2133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4000" b="1">
                <a:solidFill>
                  <a:srgbClr val="FFFFFF"/>
                </a:solidFill>
                <a:latin typeface="ChillDuanSans WideSemiBold"/>
                <a:ea typeface="ChillDuanSans WideSemiBold"/>
                <a:cs typeface="ChillDuanSans WideSemiBold"/>
              </a:defRPr>
            </a:pPr>
            <a:r>
              <a:rPr sz="4000" b="1" i="0" u="none">
                <a:solidFill>
                  <a:srgbClr val="FFFFFF"/>
                </a:solidFill>
                <a:latin typeface="ChillDuanSans WideSemiBold"/>
                <a:ea typeface="ChillDuanSans WideSemiBold"/>
                <a:cs typeface="ChillDuanSans WideSemiBold"/>
              </a:rPr>
              <a:t>1,507</a:t>
            </a:r>
          </a:p>
        </p:txBody>
      </p:sp>
      <p:sp>
        <p:nvSpPr>
          <p:cNvPr id="10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060AAD5A-2E79-E58E-7670-BA0A9C54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0" y="3282006"/>
            <a:ext cx="165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1" i="0" u="non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development 样本</a:t>
            </a:r>
          </a:p>
        </p:txBody>
      </p:sp>
      <p:sp>
        <p:nvSpPr>
          <p:cNvPr id="11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3DD0AEE3-5CE7-82AD-CA1D-A90D7579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82006"/>
            <a:ext cx="2032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100" b="0">
                <a:solidFill>
                  <a:srgbClr val="C8C8C8"/>
                </a:solidFill>
                <a:latin typeface="Noto Sans SC"/>
                <a:ea typeface="Noto Sans SC"/>
                <a:cs typeface="Noto Sans SC"/>
              </a:defRPr>
            </a:pPr>
            <a:r>
              <a:rPr sz="1100" b="0" i="0" u="none">
                <a:solidFill>
                  <a:srgbClr val="C8C8C8"/>
                </a:solidFill>
                <a:latin typeface="Noto Sans SC"/>
                <a:ea typeface="Noto Sans SC"/>
                <a:cs typeface="Noto Sans SC"/>
              </a:rPr>
              <a:t>Core 753 + Region 754，专门承担 checkpoint、数据因素和 decoder 选择责任。</a:t>
            </a:r>
          </a:p>
        </p:txBody>
      </p:sp>
      <p:sp>
        <p:nvSpPr>
          <p:cNvPr id="12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7328DE5-29C1-3468-22EF-3FE1540B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4044006"/>
            <a:ext cx="2133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4000" b="1">
                <a:solidFill>
                  <a:srgbClr val="FFFFFF"/>
                </a:solidFill>
                <a:latin typeface="ChillDuanSans WideSemiBold"/>
                <a:ea typeface="ChillDuanSans WideSemiBold"/>
                <a:cs typeface="ChillDuanSans WideSemiBold"/>
              </a:defRPr>
            </a:pPr>
            <a:r>
              <a:rPr sz="4000" b="1" i="0" u="none">
                <a:solidFill>
                  <a:srgbClr val="FFFFFF"/>
                </a:solidFill>
                <a:latin typeface="ChillDuanSans WideSemiBold"/>
                <a:ea typeface="ChillDuanSans WideSemiBold"/>
                <a:cs typeface="ChillDuanSans WideSemiBold"/>
              </a:rPr>
              <a:t>301</a:t>
            </a:r>
          </a:p>
        </p:txBody>
      </p:sp>
      <p:sp>
        <p:nvSpPr>
          <p:cNvPr id="13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436D6498-800C-9AC0-997D-CD39A64A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0" y="4234506"/>
            <a:ext cx="165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1" i="0" u="non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locked canonical</a:t>
            </a:r>
          </a:p>
        </p:txBody>
      </p:sp>
      <p:sp>
        <p:nvSpPr>
          <p:cNvPr id="14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9890FB88-4AEE-B37D-8EA6-99556B58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1757" y="4247206"/>
            <a:ext cx="2032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100" b="0">
                <a:solidFill>
                  <a:srgbClr val="C8C8C8"/>
                </a:solidFill>
                <a:latin typeface="Noto Sans SC"/>
                <a:ea typeface="Noto Sans SC"/>
                <a:cs typeface="Noto Sans SC"/>
              </a:defRPr>
            </a:pPr>
            <a:r>
              <a:rPr sz="1100" b="0" i="0" u="none">
                <a:solidFill>
                  <a:srgbClr val="C8C8C8"/>
                </a:solidFill>
                <a:latin typeface="Noto Sans SC"/>
                <a:ea typeface="Noto Sans SC"/>
                <a:cs typeface="Noto Sans SC"/>
              </a:rPr>
              <a:t>来自 62 篇整论文留出；训练与终测在 molecule、structure 和 paper group 上分离。</a:t>
            </a:r>
          </a:p>
        </p:txBody>
      </p:sp>
      <p:pic>
        <p:nvPicPr>
          <p:cNvPr id="106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cdf7b0df64a61"/>
          <a:stretch xmlns:a="http://schemas.openxmlformats.org/drawingml/2006/main"/>
        </p:blipFill>
        <p:spPr>
          <a:xfrm xmlns:a="http://schemas.openxmlformats.org/drawingml/2006/main">
            <a:off x="6735288" y="1773615"/>
            <a:ext cx="5325423" cy="2178582"/>
          </a:xfrm>
          <a:prstGeom xmlns:a="http://schemas.openxmlformats.org/drawingml/2006/main" prst="rect">
            <a:avLst/>
          </a:prstGeom>
          <a:effectLst xmlns:a="http://schemas.openxmlformats.org/drawingml/2006/main">
            <a:softEdge rad="317500"/>
          </a:effectLst>
        </p:spPr>
      </p:pic>
      <p:sp>
        <p:nvSpPr>
          <p:cNvPr id="16" name="AutoShape 2">
            <a:extLst xmlns:a="http://schemas.openxmlformats.org/drawingml/2006/main">
              <a:ext uri="{FF2B5EF4-FFF2-40B4-BE49-F238E27FC236}">
                <a16:creationId xmlns:a16="http://schemas.microsoft.com/office/drawing/2014/main" id="{947403B3-0EBC-1F27-70B4-20375668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70" y="970606"/>
            <a:ext cx="6286486" cy="147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4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40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数据质量门与冻结</a:t>
            </a:r>
          </a:p>
        </p:txBody>
      </p:sp>
      <p:pic>
        <p:nvPicPr>
          <p:cNvPr id="108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65e72a9374ccb"/>
          <a:stretch xmlns:a="http://schemas.openxmlformats.org/drawingml/2006/main"/>
        </p:blipFill>
        <p:spPr>
          <a:xfrm xmlns:a="http://schemas.openxmlformats.org/drawingml/2006/main">
            <a:off x="2006298" y="4916993"/>
            <a:ext cx="818264" cy="1771815"/>
          </a:xfrm>
          <a:prstGeom xmlns:a="http://schemas.openxmlformats.org/drawingml/2006/main" prst="rect">
            <a:avLst/>
          </a:prstGeom>
          <a:effectLst xmlns:a="http://schemas.openxmlformats.org/drawingml/2006/main">
            <a:softEdge rad="127000"/>
          </a:effectLst>
        </p:spPr>
      </p:pic>
      <p:pic>
        <p:nvPicPr>
          <p:cNvPr id="109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aa51de2ee4d78"/>
          <a:stretch xmlns:a="http://schemas.openxmlformats.org/drawingml/2006/main"/>
        </p:blipFill>
        <p:spPr>
          <a:xfrm xmlns:a="http://schemas.openxmlformats.org/drawingml/2006/main">
            <a:off x="4716780" y="5301140"/>
            <a:ext cx="2241250" cy="915177"/>
          </a:xfrm>
          <a:prstGeom xmlns:a="http://schemas.openxmlformats.org/drawingml/2006/main" prst="rect">
            <a:avLst/>
          </a:prstGeom>
          <a:effectLst xmlns:a="http://schemas.openxmlformats.org/drawingml/2006/main">
            <a:softEdge rad="127000"/>
          </a:effectLst>
        </p:spPr>
      </p:pic>
      <p:sp>
        <p:nvSpPr>
          <p:cNvPr id="19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5D28419F-354C-C973-5B7E-05DDA45B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341" y="4946258"/>
            <a:ext cx="3068807" cy="1431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2000" b="0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0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项目 owner 已确认四个 frozen labels 完成离线人工审核；公开证据以 attestation 与 SHA256 绑定，不虚构双盲记录。</a:t>
            </a:r>
          </a:p>
        </p:txBody>
      </p:sp>
    </p:spTree>
    <p:extLst>
      <p:ext uri="{BB962C8B-B14F-4D97-AF65-F5344CB8AC3E}">
        <p14:creationId xmlns:p14="http://schemas.microsoft.com/office/powerpoint/2010/main" val="5451453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4257F6DB-8E61-E86D-6A32-43E3D8EC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55880"/>
            <a:ext cx="1229741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750E7CBB-3438-0E73-590E-DA6A4707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998" y="158749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受控实验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938C10C0-F0E7-EE35-C24E-6B50016D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003" y="158749"/>
            <a:ext cx="147574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Agent系统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B9F17350-A5C5-4746-9C2A-7BAF3912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613" y="160079"/>
            <a:ext cx="159131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开源交付</a:t>
            </a: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7ADDAF25-0895-4D9A-347D-A37E2371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14" y="14935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训练路线</a:t>
            </a:r>
          </a:p>
        </p:txBody>
      </p:sp>
      <p:sp>
        <p:nvSpPr>
          <p:cNvPr id="66" name="文本框 65">
            <a:extLst xmlns:a="http://schemas.openxmlformats.org/drawingml/2006/main">
              <a:ext uri="{FF2B5EF4-FFF2-40B4-BE49-F238E27FC236}">
                <a16:creationId xmlns:a16="http://schemas.microsoft.com/office/drawing/2014/main" id="{5C2DA252-C942-F888-1F9F-F67FD1BC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05" y="14300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数据构建</a:t>
            </a:r>
          </a:p>
        </p:txBody>
      </p:sp>
      <p:sp>
        <p:nvSpPr>
          <p:cNvPr id="68" name="文本框 67">
            <a:extLst xmlns:a="http://schemas.openxmlformats.org/drawingml/2006/main">
              <a:ext uri="{FF2B5EF4-FFF2-40B4-BE49-F238E27FC236}">
                <a16:creationId xmlns:a16="http://schemas.microsoft.com/office/drawing/2014/main" id="{7DBEDB5E-E2DE-6CA4-6FFB-B129E2A4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738" y="149358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冻结评测</a:t>
            </a:r>
          </a:p>
        </p:txBody>
      </p:sp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A01A80F-8DAB-EA1F-A1E2-54D67A1F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03" y="742006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36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七部分训练混合：比例服务于覆盖，不追求平均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8FB5E89-416D-A877-0CBB-C1223024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03" y="1872306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6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01｜七个语义组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B577BB2A-C95D-DD95-806F-DC62AAC0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03" y="2380306"/>
            <a:ext cx="5334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200" b="0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USPTO 5,043 / UOB 4,869：稳定 printed 锚点，保证化学结构与输出协议的基本盘。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30194EAD-F0EC-DFC0-BC34-BB970984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03" y="3142306"/>
            <a:ext cx="5334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200" b="0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real-world 4,329 / MolGrapher 4,000：补入页面退化、真实噪声与结构变化。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6F1B3E2F-FB12-0553-75A1-87038EF4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03" y="3904306"/>
            <a:ext cx="5334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200" b="0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30K clean / abbreviated / large 各约 1,500：定向覆盖缩写、长分子和视觉稀缺模式。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573BE1CE-76A6-D6DB-AD34-3913A3A6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03" y="4793306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6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02｜为什么不是 1:1 平均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551C2D4-57FB-3D4C-5958-7D125C5E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03" y="5428306"/>
            <a:ext cx="5334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  <a:defRPr sz="1200" b="0">
                <a:solidFill>
                  <a:srgbClr val="50555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 u="none">
                <a:solidFill>
                  <a:srgbClr val="50555F"/>
                </a:solidFill>
                <a:latin typeface="Noto Sans SC"/>
                <a:ea typeface="Noto Sans SC"/>
                <a:cs typeface="Noto Sans SC"/>
              </a:rPr>
              <a:t>采样权重同时约束标签可信度、目标域覆盖、独立分子数与重复增强吞噬风险；混合是否有效由同预算 2x2 消融决定，而不是由直觉宣布。</a:t>
            </a:r>
          </a:p>
        </p:txBody>
      </p:sp>
      <p:cxnSp>
        <p:nvCxnSpPr>
          <p:cNvPr id="100" name="Connector 9"/>
          <p:cNvCxnSpPr/>
          <p:nvPr/>
        </p:nvCxnSpPr>
        <p:spPr>
          <a:xfrm xmlns:a="http://schemas.openxmlformats.org/drawingml/2006/main">
            <a:off x="6314303" y="1872306"/>
            <a:ext cx="0" cy="4755322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DCDEE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1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50172d33845e1"/>
          <a:stretch xmlns:a="http://schemas.openxmlformats.org/drawingml/2006/main"/>
        </p:blipFill>
        <p:spPr>
          <a:xfrm xmlns:a="http://schemas.openxmlformats.org/drawingml/2006/main">
            <a:off x="6695303" y="1573505"/>
            <a:ext cx="4826000" cy="2149764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547647CA-2EDF-58D0-0C90-A368C96F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5303" y="4285306"/>
            <a:ext cx="482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200" b="0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配比原则：printed 组提供稳定锚点，真实与 synthetic 组负责扩覆盖，小剂量 30K 支路避免稀缺模式被多数类平均淹没。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16A46D9-A394-B0B6-287E-7A11203B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5303" y="5428306"/>
            <a:ext cx="482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200" b="0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消融结论：00 control 的两 seed 宏平均最高；结论仅限本轮探索预算，不写成普适最优。</a:t>
            </a:r>
          </a:p>
        </p:txBody>
      </p:sp>
    </p:spTree>
    <p:extLst>
      <p:ext uri="{BB962C8B-B14F-4D97-AF65-F5344CB8AC3E}">
        <p14:creationId xmlns:p14="http://schemas.microsoft.com/office/powerpoint/2010/main" val="13421773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EE1BE333-12DF-A27B-64E4-0229312E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55880"/>
            <a:ext cx="1229741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9149E7B9-7DF3-5314-99CE-FBA175DD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998" y="158749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受控实验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412BBCCB-F756-6BEF-1884-CB270201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003" y="158749"/>
            <a:ext cx="147574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Agent系统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8F632035-A515-6A04-232F-2EA64FD4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613" y="160079"/>
            <a:ext cx="159131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开源交付</a:t>
            </a: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76CD1C6C-3B32-E382-B843-E5D0DA2F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14" y="14935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训练路线</a:t>
            </a:r>
          </a:p>
        </p:txBody>
      </p:sp>
      <p:sp>
        <p:nvSpPr>
          <p:cNvPr id="66" name="文本框 65">
            <a:extLst xmlns:a="http://schemas.openxmlformats.org/drawingml/2006/main">
              <a:ext uri="{FF2B5EF4-FFF2-40B4-BE49-F238E27FC236}">
                <a16:creationId xmlns:a16="http://schemas.microsoft.com/office/drawing/2014/main" id="{246062BB-6F4F-8363-DE57-AD01E14E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05" y="14300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数据构建</a:t>
            </a:r>
          </a:p>
        </p:txBody>
      </p:sp>
      <p:sp>
        <p:nvSpPr>
          <p:cNvPr id="68" name="文本框 67">
            <a:extLst xmlns:a="http://schemas.openxmlformats.org/drawingml/2006/main">
              <a:ext uri="{FF2B5EF4-FFF2-40B4-BE49-F238E27FC236}">
                <a16:creationId xmlns:a16="http://schemas.microsoft.com/office/drawing/2014/main" id="{F191CAA5-1ED6-9D0D-BA51-5B4F1407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738" y="149358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冻结评测</a:t>
            </a:r>
          </a:p>
        </p:txBody>
      </p:sp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A34FF51-9550-9A63-35A3-EB9D4882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762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32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32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配比不是拍脑袋：五个可证伪假设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8295002-FF39-186C-C0A7-4641CEEC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0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800" b="1">
                <a:solidFill>
                  <a:srgbClr val="4A90E2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 i="0" u="none">
                <a:solidFill>
                  <a:srgbClr val="4A90E2"/>
                </a:solidFill>
                <a:latin typeface="Noto Sans SC"/>
                <a:ea typeface="Noto Sans SC"/>
                <a:cs typeface="Noto Sans SC"/>
              </a:rPr>
              <a:t>01. 先固定控制组和预算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DEBD8D39-8385-E673-CE88-6F550F79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520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  <a:def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所有 probe 使用同一 V2-1 export、250 steps、effective batch 32、LoRA r=16 和两块 development；只改变 wild 与 augmentation 两个因素。</a:t>
            </a:r>
          </a:p>
        </p:txBody>
      </p:sp>
      <p:sp>
        <p:nvSpPr>
          <p:cNvPr id="5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3D6DEF8-C7F1-5A50-62F6-C75CF92E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2000"/>
            <a:ext cx="5207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约束：重复视图只增加训练暴露，不增加独立分子数；任何候选若造成主面板回归，就不能因局部样例好看而采用。</a:t>
            </a:r>
          </a:p>
        </p:txBody>
      </p:sp>
      <p:sp>
        <p:nvSpPr>
          <p:cNvPr id="6" name="AutoShape 7">
            <a:extLst xmlns:a="http://schemas.openxmlformats.org/drawingml/2006/main">
              <a:ext uri="{FF2B5EF4-FFF2-40B4-BE49-F238E27FC236}">
                <a16:creationId xmlns:a16="http://schemas.microsoft.com/office/drawing/2014/main" id="{2C6BE2EB-2E98-80C5-E072-D9FE5DCB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520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800" b="1">
                <a:solidFill>
                  <a:srgbClr val="4A90E2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 i="0" u="none">
                <a:solidFill>
                  <a:srgbClr val="4A90E2"/>
                </a:solidFill>
                <a:latin typeface="Noto Sans SC"/>
                <a:ea typeface="Noto Sans SC"/>
                <a:cs typeface="Noto Sans SC"/>
              </a:rPr>
              <a:t>02. 再让数据回答是否增益</a:t>
            </a:r>
          </a:p>
        </p:txBody>
      </p:sp>
      <p:sp>
        <p:nvSpPr>
          <p:cNvPr id="7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7CC5BE0-2704-DBDD-EE3E-FB103C08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7000"/>
            <a:ext cx="24765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4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Wild only：测试目标域追加是否改善论文图外推，而不同时混入增强变量。</a:t>
            </a:r>
          </a:p>
        </p:txBody>
      </p:sp>
      <p:sp>
        <p:nvSpPr>
          <p:cNvPr id="8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794FEA7-D928-BF43-8D2A-628CF160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5207000"/>
            <a:ext cx="2413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Aug only：测试退化增强是否提升鲁棒性，同时检查是否损伤 clean printed 锚点。</a:t>
            </a:r>
          </a:p>
        </p:txBody>
      </p:sp>
      <p:cxnSp>
        <p:nvCxnSpPr>
          <p:cNvPr id="100" name="Connector 10"/>
          <p:cNvCxnSpPr/>
          <p:nvPr/>
        </p:nvCxnSpPr>
        <p:spPr>
          <a:xfrm xmlns:a="http://schemas.openxmlformats.org/drawingml/2006/main" rot="5390450">
            <a:off x="4064000" y="3930659"/>
            <a:ext cx="4572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333333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E05AC5B9-8E12-054E-C5B0-AD1B51C7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461000"/>
            <a:ext cx="482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  <a:def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300" b="0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结果：00 control 34.11%，10 wild only 33.28%，01 aug only 33.44%，11 wild + aug 33.91%。两 seed 未完全平衡，因此只作探索性选择。</a:t>
            </a:r>
          </a:p>
        </p:txBody>
      </p:sp>
      <p:pic>
        <p:nvPicPr>
          <p:cNvPr id="102" name="fig2_principles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83e3a52de4ef2"/>
          <a:stretch xmlns:a="http://schemas.openxmlformats.org/drawingml/2006/main"/>
        </p:blipFill>
        <p:spPr>
          <a:xfrm xmlns:a="http://schemas.openxmlformats.org/drawingml/2006/main">
            <a:off x="6538846" y="2297140"/>
            <a:ext cx="5010424" cy="22319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4732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5D3E79E4-6F5F-80AD-BD18-73322B42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55880"/>
            <a:ext cx="1229741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17EDAE20-0872-3DEE-F6BD-F174717F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998" y="158749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受控实验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EAC2C03D-87C4-0913-D635-C3C088B3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003" y="158749"/>
            <a:ext cx="147574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Agent系统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B6C318AF-4762-BF9D-CF89-F08EF0EB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613" y="160079"/>
            <a:ext cx="159131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开源交付</a:t>
            </a: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DB96E8C8-A13C-A2C9-2886-F03A7C81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14" y="14935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训练路线</a:t>
            </a:r>
          </a:p>
        </p:txBody>
      </p:sp>
      <p:sp>
        <p:nvSpPr>
          <p:cNvPr id="66" name="文本框 65">
            <a:extLst xmlns:a="http://schemas.openxmlformats.org/drawingml/2006/main">
              <a:ext uri="{FF2B5EF4-FFF2-40B4-BE49-F238E27FC236}">
                <a16:creationId xmlns:a16="http://schemas.microsoft.com/office/drawing/2014/main" id="{6545DDA2-CA95-22CA-8609-7D3D9280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05" y="14300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数据构建</a:t>
            </a:r>
          </a:p>
        </p:txBody>
      </p:sp>
      <p:sp>
        <p:nvSpPr>
          <p:cNvPr id="68" name="文本框 67">
            <a:extLst xmlns:a="http://schemas.openxmlformats.org/drawingml/2006/main">
              <a:ext uri="{FF2B5EF4-FFF2-40B4-BE49-F238E27FC236}">
                <a16:creationId xmlns:a16="http://schemas.microsoft.com/office/drawing/2014/main" id="{6046FABF-FBDC-73ED-F6F8-544346C6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738" y="149358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冻结评测</a:t>
            </a:r>
          </a:p>
        </p:txBody>
      </p:sp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A57FAB3-53B0-DF60-2D2D-C86F031A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32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32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V2-1 → V3：把有限预算用在可解释增益上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799B4817-D41B-1427-24A4-7AF1D309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800" b="1">
                <a:solidFill>
                  <a:srgbClr val="4A90E2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 i="0" u="none">
                <a:solidFill>
                  <a:srgbClr val="4A90E2"/>
                </a:solidFill>
                <a:latin typeface="Noto Sans SC"/>
                <a:ea typeface="Noto Sans SC"/>
                <a:cs typeface="Noto Sans SC"/>
              </a:rPr>
              <a:t>01 / V2-1 已完成任务适配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0196CD3-3E59-6AD6-62D9-B2B28C37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508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40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i="0" u="none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历史 core 37.03% → 45.89%，region 38.44% → 43.77%，证明模型已学会 OCSR 输出协议；这些历史面板不再冒充未触碰测试集。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34A38D55-3A5D-AD64-A6D3-47622159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60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800" b="1">
                <a:solidFill>
                  <a:srgbClr val="4A90E2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 i="0" u="none">
                <a:solidFill>
                  <a:srgbClr val="4A90E2"/>
                </a:solidFill>
                <a:latin typeface="Noto Sans SC"/>
                <a:ea typeface="Noto Sans SC"/>
                <a:cs typeface="Noto Sans SC"/>
              </a:rPr>
              <a:t>02 / V3 重新冻结数据角色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4B18DB9F-74D1-BD81-876E-54650F7A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08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  <a:def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训练、development、locked wild、scaffold novel 与 symbolic 各自承担不同问题，禁止跨角色混算。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4471F5A-90AE-FF7E-9F23-15918264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508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  <a:def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Final：V2-1 export 上做 1,400-step、3e-5 的 LoRA continuation，以 development 选择 checkpoint-1400。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E631C940-DAD7-D85A-777E-DF76981F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9000"/>
            <a:ext cx="508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  <a:def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Post-training：hard replay、beam4/return4、chem-light rerank 都必须过预设收益/回归闸门。</a:t>
            </a:r>
          </a:p>
        </p:txBody>
      </p:sp>
      <p:cxnSp>
        <p:nvCxnSpPr>
          <p:cNvPr id="100" name="Connector 9"/>
          <p:cNvCxnSpPr/>
          <p:nvPr/>
        </p:nvCxnSpPr>
        <p:spPr>
          <a:xfrm xmlns:a="http://schemas.openxmlformats.org/drawingml/2006/main" rot="5390708">
            <a:off x="3873500" y="3994159"/>
            <a:ext cx="4699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333333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1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64c62d0bf4867"/>
          <a:stretch xmlns:a="http://schemas.openxmlformats.org/drawingml/2006/main"/>
        </p:blipFill>
        <p:spPr>
          <a:xfrm xmlns:a="http://schemas.openxmlformats.org/drawingml/2006/main">
            <a:off x="6540500" y="2316692"/>
            <a:ext cx="4826000" cy="1970617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97EFF9C-575B-5A25-8AC7-89BB675B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397500"/>
            <a:ext cx="482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333"/>
              </a:lnSpc>
              <a:buNone/>
              <a:defRPr sz="1300" b="0">
                <a:solidFill>
                  <a:srgbClr val="787878"/>
                </a:solidFill>
                <a:latin typeface="Noto Sans SC"/>
                <a:ea typeface="Noto Sans SC"/>
                <a:cs typeface="Noto Sans SC"/>
              </a:defRPr>
            </a:pPr>
            <a:r>
              <a:rPr sz="1300" b="0" i="0" u="none">
                <a:solidFill>
                  <a:srgbClr val="787878"/>
                </a:solidFill>
                <a:latin typeface="Noto Sans SC"/>
                <a:ea typeface="Noto Sans SC"/>
                <a:cs typeface="Noto Sans SC"/>
              </a:rPr>
              <a:t>路线选择：不重复学习输出格式，而是把算力用于数据治理、checkpoint、召回和失败边界。</a:t>
            </a:r>
          </a:p>
        </p:txBody>
      </p:sp>
    </p:spTree>
    <p:extLst>
      <p:ext uri="{BB962C8B-B14F-4D97-AF65-F5344CB8AC3E}">
        <p14:creationId xmlns:p14="http://schemas.microsoft.com/office/powerpoint/2010/main" val="25274712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C5517207-7BD9-87D5-60B5-09ADD84F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55880"/>
            <a:ext cx="1229741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5884B023-3C77-0DE7-B6C0-5A69225C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998" y="158749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受控实验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13E3E0C7-6E29-BEDD-031C-08C65090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003" y="158749"/>
            <a:ext cx="147574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Agent系统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54058944-EAF1-B244-FD7D-0C90D4B5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613" y="160079"/>
            <a:ext cx="159131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开源交付</a:t>
            </a: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C8FF776B-C92D-4B8D-FF1D-EB5A0415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14" y="14935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训练路线</a:t>
            </a:r>
          </a:p>
        </p:txBody>
      </p:sp>
      <p:sp>
        <p:nvSpPr>
          <p:cNvPr id="66" name="文本框 65">
            <a:extLst xmlns:a="http://schemas.openxmlformats.org/drawingml/2006/main">
              <a:ext uri="{FF2B5EF4-FFF2-40B4-BE49-F238E27FC236}">
                <a16:creationId xmlns:a16="http://schemas.microsoft.com/office/drawing/2014/main" id="{C33809E4-FC7E-0848-1E26-8356BAF7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05" y="14300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数据构建</a:t>
            </a:r>
          </a:p>
        </p:txBody>
      </p:sp>
      <p:sp>
        <p:nvSpPr>
          <p:cNvPr id="68" name="文本框 67">
            <a:extLst xmlns:a="http://schemas.openxmlformats.org/drawingml/2006/main">
              <a:ext uri="{FF2B5EF4-FFF2-40B4-BE49-F238E27FC236}">
                <a16:creationId xmlns:a16="http://schemas.microsoft.com/office/drawing/2014/main" id="{1BFCECD4-2879-FD0B-60B7-D7D3B126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738" y="149358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冻结评测</a:t>
            </a:r>
          </a:p>
        </p:txBody>
      </p:sp>
      <p:sp>
        <p:nvSpPr>
          <p:cNvPr id="3" name="AutoShape 2">
            <a:extLst xmlns:a="http://schemas.openxmlformats.org/drawingml/2006/main">
              <a:ext uri="{FF2B5EF4-FFF2-40B4-BE49-F238E27FC236}">
                <a16:creationId xmlns:a16="http://schemas.microsoft.com/office/drawing/2014/main" id="{478AE8B7-38AF-5065-67ED-52E67286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32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32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评测集按角色分层，而不是混成一个总分</a:t>
            </a:r>
          </a:p>
        </p:txBody>
      </p:sp>
      <p:sp>
        <p:nvSpPr>
          <p:cNvPr id="5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D3318EA-4F62-FA21-3A74-1795F5A3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6680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1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4">
            <a:extLst xmlns:a="http://schemas.openxmlformats.org/drawingml/2006/main">
              <a:ext uri="{FF2B5EF4-FFF2-40B4-BE49-F238E27FC236}">
                <a16:creationId xmlns:a16="http://schemas.microsoft.com/office/drawing/2014/main" id="{435F92FC-C9A5-1BF2-55E9-AADE4011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20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800" b="1">
                <a:solidFill>
                  <a:srgbClr val="4A90E2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 i="0" u="none">
                <a:solidFill>
                  <a:srgbClr val="4A90E2"/>
                </a:solidFill>
                <a:latin typeface="Noto Sans SC"/>
                <a:ea typeface="Noto Sans SC"/>
                <a:cs typeface="Noto Sans SC"/>
              </a:rPr>
              <a:t>01 / Development</a:t>
            </a:r>
          </a:p>
        </p:txBody>
      </p:sp>
      <p:sp>
        <p:nvSpPr>
          <p:cNvPr id="9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D18482B-EE8A-D64B-69E8-ED69D803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3999"/>
            <a:ext cx="3429000" cy="26062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16666"/>
              </a:lnSpc>
              <a:buNone/>
              <a:defRPr sz="2025" b="1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1,507</a:t>
            </a:r>
          </a:p>
          <a:p xmlns:a="http://schemas.openxmlformats.org/drawingml/2006/main">
            <a:pPr indent="0" algn="l">
              <a:lnSpc>
                <a:spcPct val="116666"/>
              </a:lnSpc>
              <a:buNone/>
              <a:defRPr sz="2025" b="1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Development</a:t>
            </a:r>
          </a:p>
          <a:p xmlns:a="http://schemas.openxmlformats.org/drawingml/2006/main">
            <a:pPr algn="l">
              <a:lnSpc>
                <a:spcPct val="116666"/>
              </a:lnSpc>
              <a:buNone/>
              <a:defRPr sz="2025" b="1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Core 753 · Region 754</a:t>
            </a:r>
          </a:p>
        </p:txBody>
      </p:sp>
      <p:sp>
        <p:nvSpPr>
          <p:cNvPr id="11" name="AutoShape 6">
            <a:extLst xmlns:a="http://schemas.openxmlformats.org/drawingml/2006/main">
              <a:ext uri="{FF2B5EF4-FFF2-40B4-BE49-F238E27FC236}">
                <a16:creationId xmlns:a16="http://schemas.microsoft.com/office/drawing/2014/main" id="{0A50CDE0-D853-B3BA-3979-04351AB4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34290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</a:p>
        </p:txBody>
      </p:sp>
      <p:sp>
        <p:nvSpPr>
          <p:cNvPr id="13" name="AutoShape 9">
            <a:extLst xmlns:a="http://schemas.openxmlformats.org/drawingml/2006/main">
              <a:ext uri="{FF2B5EF4-FFF2-40B4-BE49-F238E27FC236}">
                <a16:creationId xmlns:a16="http://schemas.microsoft.com/office/drawing/2014/main" id="{5AB64B6B-B499-6A5E-1F30-F4B41E6E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20320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800" b="1">
                <a:solidFill>
                  <a:srgbClr val="4A90E2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 i="0" u="none">
                <a:solidFill>
                  <a:srgbClr val="4A90E2"/>
                </a:solidFill>
                <a:latin typeface="Noto Sans SC"/>
                <a:ea typeface="Noto Sans SC"/>
                <a:cs typeface="Noto Sans SC"/>
              </a:rPr>
              <a:t>02 / Locked final</a:t>
            </a:r>
          </a:p>
        </p:txBody>
      </p:sp>
      <p:sp>
        <p:nvSpPr>
          <p:cNvPr id="15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EED45895-63C8-7CD9-60E1-28D449D0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2794000"/>
            <a:ext cx="342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2025" b="1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301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2025" b="1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locked wild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2025" b="1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62 papers</a:t>
            </a:r>
          </a:p>
        </p:txBody>
      </p:sp>
      <p:sp>
        <p:nvSpPr>
          <p:cNvPr id="17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F330E453-4E60-329D-E83E-788F8C87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4191000"/>
            <a:ext cx="342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875" b="1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134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1875" b="1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scaffold novel</a:t>
            </a:r>
          </a:p>
        </p:txBody>
      </p:sp>
      <p:sp>
        <p:nvSpPr>
          <p:cNvPr id="19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B148132-63AA-414E-E4A3-03F11528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5461000"/>
            <a:ext cx="342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460 symbolic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  <a:def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独立文字转写轨道</a:t>
            </a:r>
          </a:p>
        </p:txBody>
      </p:sp>
      <p:sp>
        <p:nvSpPr>
          <p:cNvPr id="21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19E6DCA-8554-8422-394B-F67DC628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20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800" b="1">
                <a:solidFill>
                  <a:srgbClr val="4A90E2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 i="0" u="none">
                <a:solidFill>
                  <a:srgbClr val="4A90E2"/>
                </a:solidFill>
                <a:latin typeface="Noto Sans SC"/>
                <a:ea typeface="Noto Sans SC"/>
                <a:cs typeface="Noto Sans SC"/>
              </a:rPr>
              <a:t>03 / 指标边界</a:t>
            </a:r>
          </a:p>
        </p:txBody>
      </p:sp>
      <p:sp>
        <p:nvSpPr>
          <p:cNvPr id="23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F67E2D63-32D7-5BD8-CC02-4D58C105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200" b="0">
                <a:solidFill>
                  <a:srgbClr val="50555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 u="none">
                <a:solidFill>
                  <a:srgbClr val="50555F"/>
                </a:solidFill>
                <a:latin typeface="Noto Sans SC"/>
                <a:ea typeface="Noto Sans SC"/>
                <a:cs typeface="Noto Sans SC"/>
              </a:rPr>
              <a:t>Canonical exact</a:t>
            </a:r>
          </a:p>
          <a:p xmlns:a="http://schemas.openxmlformats.org/drawingml/2006/main">
            <a:pPr marL="0" indent="0" algn="l">
              <a:lnSpc>
                <a:spcPct val="116666"/>
              </a:lnSpc>
              <a:spcBef>
                <a:spcPts val="800"/>
              </a:spcBef>
              <a:buNone/>
              <a:defRPr sz="1200" b="0">
                <a:solidFill>
                  <a:srgbClr val="50555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 u="none">
                <a:solidFill>
                  <a:srgbClr val="50555F"/>
                </a:solidFill>
                <a:latin typeface="Noto Sans SC"/>
                <a:ea typeface="Noto Sans SC"/>
                <a:cs typeface="Noto Sans SC"/>
              </a:rPr>
              <a:t>结构是否完全一致，是主指标。</a:t>
            </a:r>
          </a:p>
        </p:txBody>
      </p:sp>
      <p:sp>
        <p:nvSpPr>
          <p:cNvPr id="2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36814F13-92F4-91FD-1C81-0F23BF1C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200" b="0">
                <a:solidFill>
                  <a:srgbClr val="50555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 u="none">
                <a:solidFill>
                  <a:srgbClr val="50555F"/>
                </a:solidFill>
                <a:latin typeface="Noto Sans SC"/>
                <a:ea typeface="Noto Sans SC"/>
                <a:cs typeface="Noto Sans SC"/>
              </a:rPr>
              <a:t>Valid / token F1 / edit / Tanimoto</a:t>
            </a:r>
          </a:p>
          <a:p xmlns:a="http://schemas.openxmlformats.org/drawingml/2006/main">
            <a:pPr marL="0" indent="0" algn="l">
              <a:lnSpc>
                <a:spcPct val="116666"/>
              </a:lnSpc>
              <a:spcBef>
                <a:spcPts val="800"/>
              </a:spcBef>
              <a:buNone/>
              <a:defRPr sz="1200" b="0">
                <a:solidFill>
                  <a:srgbClr val="50555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 u="none">
                <a:solidFill>
                  <a:srgbClr val="50555F"/>
                </a:solidFill>
                <a:latin typeface="Noto Sans SC"/>
                <a:ea typeface="Noto Sans SC"/>
                <a:cs typeface="Noto Sans SC"/>
              </a:rPr>
              <a:t>只解释错误性质，不能替代 exact。</a:t>
            </a:r>
          </a:p>
        </p:txBody>
      </p:sp>
      <p:sp>
        <p:nvSpPr>
          <p:cNvPr id="27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663F589E-DCAE-D51B-C527-FD4600CD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969000"/>
            <a:ext cx="3048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300" b="1">
                <a:solidFill>
                  <a:srgbClr val="4A90E2"/>
                </a:solidFill>
                <a:latin typeface="Noto Sans SC"/>
                <a:ea typeface="Noto Sans SC"/>
                <a:cs typeface="Noto Sans SC"/>
              </a:defRPr>
            </a:pPr>
            <a:r>
              <a:rPr sz="1300" b="1" i="0" u="none">
                <a:solidFill>
                  <a:srgbClr val="4A90E2"/>
                </a:solidFill>
                <a:latin typeface="Noto Sans SC"/>
                <a:ea typeface="Noto Sans SC"/>
                <a:cs typeface="Noto Sans SC"/>
              </a:rPr>
              <a:t>原则：development 负责“选”，locked test 只负责最后“答”。</a:t>
            </a:r>
          </a:p>
        </p:txBody>
      </p:sp>
    </p:spTree>
    <p:extLst>
      <p:ext uri="{BB962C8B-B14F-4D97-AF65-F5344CB8AC3E}">
        <p14:creationId xmlns:p14="http://schemas.microsoft.com/office/powerpoint/2010/main" val="350376926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15B097F3-8A86-292C-45C8-1571705B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55880"/>
            <a:ext cx="1229741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ED007423-1C66-C80E-A794-1184954B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998" y="158749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受控实验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FA4227BE-7C2B-69F0-FA1C-0215049A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003" y="158749"/>
            <a:ext cx="147574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Agent系统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4CC30D90-7AF9-88AD-6358-93C34161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613" y="160079"/>
            <a:ext cx="159131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开源交付</a:t>
            </a: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4CE8FC88-978F-3E74-A5DB-C8B7FE92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14" y="14935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训练路线</a:t>
            </a:r>
          </a:p>
        </p:txBody>
      </p:sp>
      <p:sp>
        <p:nvSpPr>
          <p:cNvPr id="66" name="文本框 65">
            <a:extLst xmlns:a="http://schemas.openxmlformats.org/drawingml/2006/main">
              <a:ext uri="{FF2B5EF4-FFF2-40B4-BE49-F238E27FC236}">
                <a16:creationId xmlns:a16="http://schemas.microsoft.com/office/drawing/2014/main" id="{6B1A5137-AB21-D23E-CF79-6CCAF92F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05" y="14300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数据构建</a:t>
            </a:r>
          </a:p>
        </p:txBody>
      </p:sp>
      <p:sp>
        <p:nvSpPr>
          <p:cNvPr id="68" name="文本框 67">
            <a:extLst xmlns:a="http://schemas.openxmlformats.org/drawingml/2006/main">
              <a:ext uri="{FF2B5EF4-FFF2-40B4-BE49-F238E27FC236}">
                <a16:creationId xmlns:a16="http://schemas.microsoft.com/office/drawing/2014/main" id="{CB5D578E-4569-7275-6DC5-8ACE6CAD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738" y="149358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冻结评测</a:t>
            </a:r>
          </a:p>
        </p:txBody>
      </p:sp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7067CC8-5430-7829-C12C-D6BA4CA3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32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32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训练设置：同基座、同预算、可恢复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CAEFB51B-E1CC-6AF5-23D1-CDE35A61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2000" b="1">
                <a:solidFill>
                  <a:srgbClr val="4A90E2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 i="0" u="none">
                <a:solidFill>
                  <a:srgbClr val="4A90E2"/>
                </a:solidFill>
                <a:latin typeface="Noto Sans SC"/>
                <a:ea typeface="Noto Sans SC"/>
                <a:cs typeface="Noto Sans SC"/>
              </a:rPr>
              <a:t>01 / 硬件与软件环境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ACA99030-F3C9-CD91-E76E-B2501931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0000"/>
            <a:ext cx="508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  <a:defRPr sz="16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GPU：NVIDIA H800 PCIe 80GB；final 与 probe 均以单卡运行，beam4/return4 因显存采用 1 worker。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D1032CA4-ABCE-A0A8-3764-1E00307D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6000"/>
            <a:ext cx="508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  <a:defRPr sz="16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软件：Python 3.10、PyTorch 2.1.2+cu118、Transformers 4.55.4、RDKit 2025.9.6。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20AEB62-C43E-28E0-DD53-E41663C0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508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  <a:defRPr sz="16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基座：PaddleOCR-VL-1.5；训练入口为 V2-1 export，避免重复学习 OCSR 输出格式。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14FDB004-5E4A-B714-B28B-25AEFA3F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0"/>
            <a:ext cx="508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  <a:defRPr sz="16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恢复：阶段完成标记、日志、checkpoint hash 与环境快照共同保存，失败不会覆盖已完成结果。</a:t>
            </a:r>
          </a:p>
        </p:txBody>
      </p:sp>
      <p:cxnSp>
        <p:nvCxnSpPr>
          <p:cNvPr id="98" name="Connector 8"/>
          <p:cNvCxnSpPr/>
          <p:nvPr/>
        </p:nvCxnSpPr>
        <p:spPr>
          <a:xfrm xmlns:a="http://schemas.openxmlformats.org/drawingml/2006/main" rot="5390177">
            <a:off x="4000500" y="3994159"/>
            <a:ext cx="4445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333333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1E42B2C2-F445-7F5A-ABA3-1068652F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6510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2000" b="1">
                <a:solidFill>
                  <a:srgbClr val="4A90E2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 i="0" u="none">
                <a:solidFill>
                  <a:srgbClr val="4A90E2"/>
                </a:solidFill>
                <a:latin typeface="Noto Sans SC"/>
                <a:ea typeface="Noto Sans SC"/>
                <a:cs typeface="Noto Sans SC"/>
              </a:rPr>
              <a:t>02 / 三阶段参数</a:t>
            </a:r>
          </a:p>
        </p:txBody>
      </p:sp>
      <p:graphicFrame>
        <p:nvGraphicFramePr>
          <p:cNvPr id="100" name="Table 10"/>
          <p:cNvGraphicFramePr/>
          <p:nvPr/>
        </p:nvGraphicFramePr>
        <p:xfrm>
          <a:off xmlns:a="http://schemas.openxmlformats.org/drawingml/2006/main" x="6604000" y="2540000"/>
          <a:ext xmlns:a="http://schemas.openxmlformats.org/drawingml/2006/main" cx="4826000" cy="317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97000"/>
                <a:gridCol w="1143000"/>
                <a:gridCol w="1143000"/>
                <a:gridCol w="1143000"/>
              </a:tblGrid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阶段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Probe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Final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Hard replay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5000"/>
                      </a:srgbClr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初始化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V2-1 export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V2-1 export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Final ckpt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Steps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250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1,400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300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Learning rate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2e-5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3e-5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8e-6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LoRA rank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16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16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16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Effective batch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32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32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32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FB286747-9E48-B887-CF9D-CCD62258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842000"/>
            <a:ext cx="508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200" b="0">
                <a:solidFill>
                  <a:srgbClr val="8080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 u="none">
                <a:solidFill>
                  <a:srgbClr val="808080"/>
                </a:solidFill>
                <a:latin typeface="Noto Sans SC"/>
                <a:ea typeface="Noto Sans SC"/>
                <a:cs typeface="Noto Sans SC"/>
              </a:rPr>
              <a:t>注：所有阶段 LoRA r=16、per-device batch 8、gradient accumulation 4，有效 batch 32。</a:t>
            </a:r>
          </a:p>
        </p:txBody>
      </p:sp>
    </p:spTree>
    <p:extLst>
      <p:ext uri="{BB962C8B-B14F-4D97-AF65-F5344CB8AC3E}">
        <p14:creationId xmlns:p14="http://schemas.microsoft.com/office/powerpoint/2010/main" val="23350475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73C87EED-E72B-7802-3289-6FC7BBC8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55880"/>
            <a:ext cx="1229741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2AE01087-B2F0-FF8B-3EA7-844017E9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998" y="158749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受控实验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CD848271-2E7C-2FF9-0E0E-557E95AB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003" y="158749"/>
            <a:ext cx="147574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Agent系统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D377236E-8866-A928-2CF1-67F62582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613" y="160079"/>
            <a:ext cx="159131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开源交付</a:t>
            </a: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1ABCED9C-F5C7-DB61-D6D3-1B6C82F4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14" y="14935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训练路线</a:t>
            </a:r>
          </a:p>
        </p:txBody>
      </p:sp>
      <p:sp>
        <p:nvSpPr>
          <p:cNvPr id="66" name="文本框 65">
            <a:extLst xmlns:a="http://schemas.openxmlformats.org/drawingml/2006/main">
              <a:ext uri="{FF2B5EF4-FFF2-40B4-BE49-F238E27FC236}">
                <a16:creationId xmlns:a16="http://schemas.microsoft.com/office/drawing/2014/main" id="{5C6FC71F-8496-E9C6-C4F6-749AE7BB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05" y="14300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数据构建</a:t>
            </a:r>
          </a:p>
        </p:txBody>
      </p:sp>
      <p:sp>
        <p:nvSpPr>
          <p:cNvPr id="68" name="文本框 67">
            <a:extLst xmlns:a="http://schemas.openxmlformats.org/drawingml/2006/main">
              <a:ext uri="{FF2B5EF4-FFF2-40B4-BE49-F238E27FC236}">
                <a16:creationId xmlns:a16="http://schemas.microsoft.com/office/drawing/2014/main" id="{3CA51F98-7BF0-6055-C64D-B939CA7A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738" y="149358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冻结评测</a:t>
            </a:r>
          </a:p>
        </p:txBody>
      </p:sp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05FAB0E-5516-3DB4-C8C6-95C94689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32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32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Checkpoint 与 hard replay：结果决定采用或拒绝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AFDED17-8220-EC3F-17E1-30D3A817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8000"/>
            <a:ext cx="508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2000" b="1">
                <a:solidFill>
                  <a:srgbClr val="4A90E2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 i="0" u="none">
                <a:solidFill>
                  <a:srgbClr val="4A90E2"/>
                </a:solidFill>
                <a:latin typeface="Noto Sans SC"/>
                <a:ea typeface="Noto Sans SC"/>
                <a:cs typeface="Noto Sans SC"/>
              </a:rPr>
              <a:t>01 / Development 闸门</a:t>
            </a:r>
          </a:p>
        </p:txBody>
      </p:sp>
      <p:graphicFrame>
        <p:nvGraphicFramePr>
          <p:cNvPr id="92" name="Table 4"/>
          <p:cNvGraphicFramePr/>
          <p:nvPr/>
        </p:nvGraphicFramePr>
        <p:xfrm>
          <a:off xmlns:a="http://schemas.openxmlformats.org/drawingml/2006/main" x="762000" y="2667000"/>
          <a:ext xmlns:a="http://schemas.openxmlformats.org/drawingml/2006/main" cx="5080000" cy="215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32000"/>
                <a:gridCol w="1524000"/>
                <a:gridCol w="1524000"/>
              </a:tblGrid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阶段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Macro exact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决策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0"/>
                      </a:srgbClr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1" i="0" u="non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Final greedy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1" i="0" u="none">
                          <a:solidFill>
                            <a:srgbClr val="4A90E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35.97%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1" i="0" u="none">
                          <a:solidFill>
                            <a:srgbClr val="4A90E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采用 checkpoint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8000"/>
                      </a:srgbClr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1" i="0" u="non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Hard replay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35.24%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拒绝 -0.73pp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C058CCEB-4480-B0DF-906F-69A35867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508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  <a:defRPr sz="1300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1300" b="0" i="0" u="none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七个 checkpoint 在 core/region 两块 development 上完整评测；选择 macro exact 最高且 validity 不回退的 checkpoint-1400。</a:t>
            </a:r>
          </a:p>
        </p:txBody>
      </p:sp>
      <p:cxnSp>
        <p:nvCxnSpPr>
          <p:cNvPr id="94" name="Connector 6"/>
          <p:cNvCxnSpPr/>
          <p:nvPr/>
        </p:nvCxnSpPr>
        <p:spPr>
          <a:xfrm xmlns:a="http://schemas.openxmlformats.org/drawingml/2006/main" rot="5389582">
            <a:off x="4127500" y="3994160"/>
            <a:ext cx="4191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58D07D89-1F6F-CCE4-878E-EED92F3D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778000"/>
            <a:ext cx="508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2000" b="1">
                <a:solidFill>
                  <a:srgbClr val="4A90E2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 i="0" u="none">
                <a:solidFill>
                  <a:srgbClr val="4A90E2"/>
                </a:solidFill>
                <a:latin typeface="Noto Sans SC"/>
                <a:ea typeface="Noto Sans SC"/>
                <a:cs typeface="Noto Sans SC"/>
              </a:rPr>
              <a:t>02 / 关键发现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A7462BD-79F6-6214-4693-769FAC50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794000"/>
            <a:ext cx="5080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Checkpoint-1400：greedy macro exact 35.97%，模型、prompt、hash 和 generation config 随后进入冻结。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62BB66D-BBCE-DF77-B6DB-D4064594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064000"/>
            <a:ext cx="5080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Hard replay：300 steps、8e-6，macro 35.24%，相对 final 回退 0.73pp，未通过 0.5pp 收益门槛。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919C46A-B53D-FEB5-AE7C-EDDE0F19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334000"/>
            <a:ext cx="5080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决策纪律：困难样本 continuation 不是默认正确；没有统一面板增益就拒绝，不把训练动作包装成创新。</a:t>
            </a:r>
          </a:p>
        </p:txBody>
      </p:sp>
    </p:spTree>
    <p:extLst>
      <p:ext uri="{BB962C8B-B14F-4D97-AF65-F5344CB8AC3E}">
        <p14:creationId xmlns:p14="http://schemas.microsoft.com/office/powerpoint/2010/main" val="308258703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CC245E5D-A2F7-04F6-ECBD-BA819B9B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55880"/>
            <a:ext cx="1229741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5ACB67E0-EEE9-A17A-97F8-87D08F57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998" y="158749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受控实验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6F13A6AE-89AC-A297-E0AF-16824157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003" y="158749"/>
            <a:ext cx="147574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Agent系统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A0CDE094-222D-9720-23C4-A6520247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613" y="160079"/>
            <a:ext cx="159131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开源交付</a:t>
            </a: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E6A72E93-4CAD-6344-28FF-FD6DA889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14" y="14935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训练路线</a:t>
            </a:r>
          </a:p>
        </p:txBody>
      </p:sp>
      <p:sp>
        <p:nvSpPr>
          <p:cNvPr id="66" name="文本框 65">
            <a:extLst xmlns:a="http://schemas.openxmlformats.org/drawingml/2006/main">
              <a:ext uri="{FF2B5EF4-FFF2-40B4-BE49-F238E27FC236}">
                <a16:creationId xmlns:a16="http://schemas.microsoft.com/office/drawing/2014/main" id="{568A790D-EF79-35D7-BA13-35B14D84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05" y="14300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数据构建</a:t>
            </a:r>
          </a:p>
        </p:txBody>
      </p:sp>
      <p:sp>
        <p:nvSpPr>
          <p:cNvPr id="68" name="文本框 67">
            <a:extLst xmlns:a="http://schemas.openxmlformats.org/drawingml/2006/main">
              <a:ext uri="{FF2B5EF4-FFF2-40B4-BE49-F238E27FC236}">
                <a16:creationId xmlns:a16="http://schemas.microsoft.com/office/drawing/2014/main" id="{9FC27C2D-1894-0F02-BF8A-CCFC5759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738" y="149358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冻结评测</a:t>
            </a:r>
          </a:p>
        </p:txBody>
      </p:sp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0240DA8-7285-D9CB-C6B5-47044008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32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32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Decoder 对照：增加召回有效，轻量重排无效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CCA57D2-E7E7-F077-2B7E-B738E6E3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80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2000" b="1">
                <a:solidFill>
                  <a:srgbClr val="4A90E2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 i="0" u="none">
                <a:solidFill>
                  <a:srgbClr val="4A90E2"/>
                </a:solidFill>
                <a:latin typeface="Noto Sans SC"/>
                <a:ea typeface="Noto Sans SC"/>
                <a:cs typeface="Noto Sans SC"/>
              </a:rPr>
              <a:t>01 / Greedy 基线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1C97D31-40C2-077F-80F3-ECD8E742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508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  <a:def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 checkpoint-1400、同一 development：core 35.59%，region 36.34%，macro 35.97%。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389F9D81-0CAA-24BA-6B44-A71492B5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7000"/>
            <a:ext cx="508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4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优点：单候选、速度快、显存小；缺点：一次解码错误没有候选补救空间。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4A84B01-CA67-3B35-F074-9FE400C0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508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  <a:defRPr sz="14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结论：保留为计算基线，不作为最终 development decoder。</a:t>
            </a:r>
          </a:p>
        </p:txBody>
      </p:sp>
      <p:cxnSp>
        <p:nvCxnSpPr>
          <p:cNvPr id="94" name="Connector 7"/>
          <p:cNvCxnSpPr/>
          <p:nvPr/>
        </p:nvCxnSpPr>
        <p:spPr>
          <a:xfrm xmlns:a="http://schemas.openxmlformats.org/drawingml/2006/main" rot="5389582">
            <a:off x="4000500" y="3994160"/>
            <a:ext cx="4191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9D8C016F-3157-5EE0-8D2C-7BD8690E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17780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2000" b="1">
                <a:solidFill>
                  <a:srgbClr val="4A90E2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 i="0" u="none">
                <a:solidFill>
                  <a:srgbClr val="4A90E2"/>
                </a:solidFill>
                <a:latin typeface="Noto Sans SC"/>
                <a:ea typeface="Noto Sans SC"/>
                <a:cs typeface="Noto Sans SC"/>
              </a:rPr>
              <a:t>02 / Beam4 / Return4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5281A3E1-4805-DDE9-9BA3-281D7DAA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667000"/>
            <a:ext cx="508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  <a:def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同一模型只改变生成策略：core 41.70%，region 42.44%，macro 42.07%，相对 greedy +6.10pp。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C8D8A64-544C-593F-22CB-D787DFEA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937000"/>
            <a:ext cx="508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两个面板的 structure_id cluster paired bootstrap 95% CI 均高于 0，采用 beam 召回。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4E61E0D-F180-EBC1-7657-B53E8E09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5334000"/>
            <a:ext cx="508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  <a:def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Chem-light rerank 在同候选池降至 39.55%，回退 2.52pp，因此拒绝；最终保留原始 beam 排序。</a:t>
            </a:r>
          </a:p>
        </p:txBody>
      </p:sp>
    </p:spTree>
    <p:extLst>
      <p:ext uri="{BB962C8B-B14F-4D97-AF65-F5344CB8AC3E}">
        <p14:creationId xmlns:p14="http://schemas.microsoft.com/office/powerpoint/2010/main" val="350082348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9F440E3C-22A5-BA39-BFE8-47518275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55880"/>
            <a:ext cx="1229741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B6999C9A-3EE9-9E81-D83A-EB35362E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998" y="158749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受控实验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99CC36AE-A1C4-5270-3654-979133A1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003" y="158749"/>
            <a:ext cx="147574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Agent系统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7B7EADF4-8C92-C198-C051-EBED7C34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613" y="160079"/>
            <a:ext cx="159131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开源交付</a:t>
            </a: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AF7E42DA-01F7-DC72-C4A3-0962CA10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14" y="14935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训练路线</a:t>
            </a:r>
          </a:p>
        </p:txBody>
      </p:sp>
      <p:sp>
        <p:nvSpPr>
          <p:cNvPr id="66" name="文本框 65">
            <a:extLst xmlns:a="http://schemas.openxmlformats.org/drawingml/2006/main">
              <a:ext uri="{FF2B5EF4-FFF2-40B4-BE49-F238E27FC236}">
                <a16:creationId xmlns:a16="http://schemas.microsoft.com/office/drawing/2014/main" id="{BA9BE2E9-2D71-8284-081F-86DD9DA6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05" y="14300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数据构建</a:t>
            </a:r>
          </a:p>
        </p:txBody>
      </p:sp>
      <p:sp>
        <p:nvSpPr>
          <p:cNvPr id="68" name="文本框 67">
            <a:extLst xmlns:a="http://schemas.openxmlformats.org/drawingml/2006/main">
              <a:ext uri="{FF2B5EF4-FFF2-40B4-BE49-F238E27FC236}">
                <a16:creationId xmlns:a16="http://schemas.microsoft.com/office/drawing/2014/main" id="{A8807D6D-2386-8AA6-9846-8BBE8D54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738" y="149358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冻结评测</a:t>
            </a:r>
          </a:p>
        </p:txBody>
      </p:sp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A94749B-6D38-4B17-82B7-50F48786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32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32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Locked 结果：exact 与 valid 必须分开解释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CEA0E68B-9929-A1A5-8997-5F3582E3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8000"/>
            <a:ext cx="508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800" b="1">
                <a:solidFill>
                  <a:srgbClr val="4A90E2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 i="0" u="none">
                <a:solidFill>
                  <a:srgbClr val="4A90E2"/>
                </a:solidFill>
                <a:latin typeface="Noto Sans SC"/>
                <a:ea typeface="Noto Sans SC"/>
                <a:cs typeface="Noto Sans SC"/>
              </a:rPr>
              <a:t>01 / 一次性 locked final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52B29671-070A-D660-D6EF-0FBF3A3C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508000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Wild strict：301 分子 / 62 papers，canonical exact 22.92%，valid SMILES 84.72%。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325D781C-7A31-FCCC-4D77-283CE435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7000"/>
            <a:ext cx="508000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Scaffold novel：134 分子，exact 13.43%，valid 75.37%，显示新骨架与论文域迁移叠加后仍困难。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8875DA5-FC0A-6790-BEC3-A20D8EBF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508000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Symbolic：460 条，whitespace-normalized exact 0%，nonempty 100%；输出协议不匹配，必须独立建模。</a:t>
            </a:r>
          </a:p>
        </p:txBody>
      </p:sp>
      <p:cxnSp>
        <p:nvCxnSpPr>
          <p:cNvPr id="94" name="Connector 7"/>
          <p:cNvCxnSpPr/>
          <p:nvPr/>
        </p:nvCxnSpPr>
        <p:spPr>
          <a:xfrm xmlns:a="http://schemas.openxmlformats.org/drawingml/2006/main" rot="5390035">
            <a:off x="3905250" y="4025909"/>
            <a:ext cx="43815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DEE2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ADBC327-F4BF-9F93-766E-023A0FA8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78000"/>
            <a:ext cx="508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800" b="1">
                <a:solidFill>
                  <a:srgbClr val="4A90E2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 i="0" u="none">
                <a:solidFill>
                  <a:srgbClr val="4A90E2"/>
                </a:solidFill>
                <a:latin typeface="Noto Sans SC"/>
                <a:ea typeface="Noto Sans SC"/>
                <a:cs typeface="Noto Sans SC"/>
              </a:rPr>
              <a:t>02 / 结论边界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8E7B34AA-26C4-E5E4-364D-58172C4A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22.92% exact 说明主任务远未解决，不能用 84.72% validity 宣称结构识别成功。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1FA3A474-BD24-2D18-B64C-FCF69476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Development 42.07% 与 locked 22.92% 回答不同问题，不能纵向写成回退或提升率。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A2394E74-DEF3-C210-14BA-FC79D20B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26000"/>
            <a:ext cx="241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Locked test 结果不回流 prompt、checkpoint、beam、rerank 或训练。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67DA9175-7B88-1761-2E08-B670A33D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4826000"/>
            <a:ext cx="241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当前没有 private-photo locked test；owner attestation 也不等同于第三方双人盲审。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724EF153-A81D-A3C1-1DCB-FE62415B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905500"/>
            <a:ext cx="4953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30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defRPr>
            </a:pPr>
            <a:r>
              <a:rPr sz="1300" b="0" i="1" u="none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诚实报告限制，比在单一 clean 子域堆高分更能支持真实部署判断。</a:t>
            </a:r>
          </a:p>
        </p:txBody>
      </p:sp>
    </p:spTree>
    <p:extLst>
      <p:ext uri="{BB962C8B-B14F-4D97-AF65-F5344CB8AC3E}">
        <p14:creationId xmlns:p14="http://schemas.microsoft.com/office/powerpoint/2010/main" val="40260135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80FDD664-9087-D8E4-C07B-D510E32A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55880"/>
            <a:ext cx="1229741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AC3542C4-6A52-F032-4D48-00ACB92E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998" y="158749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受控实验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87EDBAE0-DA43-DC42-61D5-BBCB25D1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003" y="158749"/>
            <a:ext cx="147574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Agent系统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3B25578E-9A76-78B3-4A9D-8B362231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613" y="160079"/>
            <a:ext cx="159131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开源交付</a:t>
            </a: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2DD58D45-2258-46BD-9E91-5C6C444C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14" y="14935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训练路线</a:t>
            </a:r>
          </a:p>
        </p:txBody>
      </p:sp>
      <p:sp>
        <p:nvSpPr>
          <p:cNvPr id="66" name="文本框 65">
            <a:extLst xmlns:a="http://schemas.openxmlformats.org/drawingml/2006/main">
              <a:ext uri="{FF2B5EF4-FFF2-40B4-BE49-F238E27FC236}">
                <a16:creationId xmlns:a16="http://schemas.microsoft.com/office/drawing/2014/main" id="{3C4C474E-A789-9E61-B84E-E1CDD6E6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05" y="14300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数据构建</a:t>
            </a:r>
          </a:p>
        </p:txBody>
      </p:sp>
      <p:sp>
        <p:nvSpPr>
          <p:cNvPr id="68" name="文本框 67">
            <a:extLst xmlns:a="http://schemas.openxmlformats.org/drawingml/2006/main">
              <a:ext uri="{FF2B5EF4-FFF2-40B4-BE49-F238E27FC236}">
                <a16:creationId xmlns:a16="http://schemas.microsoft.com/office/drawing/2014/main" id="{76B095BD-5E40-41BE-597B-A3E7DF8C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738" y="149358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冻结评测</a:t>
            </a:r>
          </a:p>
        </p:txBody>
      </p:sp>
      <p:pic>
        <p:nvPicPr>
          <p:cNvPr id="8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e4ad165724269"/>
          <a:stretch xmlns:a="http://schemas.openxmlformats.org/drawingml/2006/main"/>
        </p:blipFill>
        <p:spPr>
          <a:xfrm xmlns:a="http://schemas.openxmlformats.org/drawingml/2006/main" flipV="1">
            <a:off x="1583856" y="1238078"/>
            <a:ext cx="287152" cy="287152"/>
          </a:xfrm>
          <a:prstGeom xmlns:a="http://schemas.openxmlformats.org/drawingml/2006/main" prst="rect">
            <a:avLst/>
          </a:prstGeom>
        </p:spPr>
      </p:pic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E3CDC720-61E6-3680-1055-813643D3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" y="1118235"/>
            <a:ext cx="492125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FFC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C000"/>
                </a:solidFill>
                <a:latin typeface="微软雅黑"/>
                <a:ea typeface="微软雅黑"/>
                <a:cs typeface="微软雅黑"/>
              </a:rPr>
              <a:t>Locked 结果与证据边界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A677D225-02E1-6BF0-80E2-F49C493B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" y="1586230"/>
            <a:ext cx="4940300" cy="1183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l">
              <a:buFont typeface="Arial"/>
              <a:buChar char="•"/>
              <a:defRPr sz="1400" b="0">
                <a:solidFill>
                  <a:srgbClr val="50555F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0555F"/>
                </a:solidFill>
                <a:latin typeface="Arial"/>
                <a:ea typeface="Arial"/>
                <a:cs typeface="Arial"/>
              </a:rPr>
              <a:t>主任务：22.92% exact / 84.72% valid；scaffold：13.43% / 75.37%。图像、指标、锁定协议与真实 Agent 截图并列展示，避免只展示最好看的单一分数。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75A585AA-9FF8-213F-0946-7E49D43F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684" y="6864938"/>
            <a:ext cx="3726180" cy="3390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chemeClr val="bg1">
                    <a:lumMod val="95000"/>
                  </a:schemeClr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65358806-50D4-888A-3A96-A2A72193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215" y="6914515"/>
            <a:ext cx="2940050" cy="3390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chemeClr val="bg1">
                    <a:lumMod val="95000"/>
                  </a:schemeClr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pic>
        <p:nvPicPr>
          <p:cNvPr id="87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d2a4284434a86"/>
          <a:stretch xmlns:a="http://schemas.openxmlformats.org/drawingml/2006/main"/>
        </p:blipFill>
        <p:spPr>
          <a:xfrm xmlns:a="http://schemas.openxmlformats.org/drawingml/2006/main">
            <a:off x="119929" y="3510177"/>
            <a:ext cx="3644258" cy="1488072"/>
          </a:xfrm>
          <a:prstGeom xmlns:a="http://schemas.openxmlformats.org/drawingml/2006/main" prst="rect">
            <a:avLst/>
          </a:prstGeom>
        </p:spPr>
      </p:pic>
      <p:pic>
        <p:nvPicPr>
          <p:cNvPr id="88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d6943124c4e5f">
            <a:alphaModFix amt="90000"/>
          </a:blip>
          <a:stretch xmlns:a="http://schemas.openxmlformats.org/drawingml/2006/main"/>
        </p:blipFill>
        <p:spPr>
          <a:xfrm xmlns:a="http://schemas.openxmlformats.org/drawingml/2006/main">
            <a:off x="1331134" y="4059930"/>
            <a:ext cx="3521829" cy="1440748"/>
          </a:xfrm>
          <a:prstGeom xmlns:a="http://schemas.openxmlformats.org/drawingml/2006/main" prst="rect">
            <a:avLst/>
          </a:prstGeom>
        </p:spPr>
      </p:pic>
      <p:pic>
        <p:nvPicPr>
          <p:cNvPr id="89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9969eb18045ec"/>
          <a:stretch xmlns:a="http://schemas.openxmlformats.org/drawingml/2006/main"/>
        </p:blipFill>
        <p:spPr>
          <a:xfrm xmlns:a="http://schemas.openxmlformats.org/drawingml/2006/main">
            <a:off x="5041265" y="3063462"/>
            <a:ext cx="2214245" cy="986346"/>
          </a:xfrm>
          <a:prstGeom xmlns:a="http://schemas.openxmlformats.org/drawingml/2006/main" prst="rect">
            <a:avLst/>
          </a:prstGeom>
        </p:spPr>
      </p:pic>
      <p:pic>
        <p:nvPicPr>
          <p:cNvPr id="90" name="图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f1c409c634902"/>
          <a:stretch xmlns:a="http://schemas.openxmlformats.org/drawingml/2006/main"/>
        </p:blipFill>
        <p:spPr>
          <a:xfrm xmlns:a="http://schemas.openxmlformats.org/drawingml/2006/main">
            <a:off x="9955530" y="1179971"/>
            <a:ext cx="2195195" cy="4753329"/>
          </a:xfrm>
          <a:prstGeom xmlns:a="http://schemas.openxmlformats.org/drawingml/2006/main" prst="rect">
            <a:avLst/>
          </a:prstGeom>
        </p:spPr>
      </p:pic>
      <p:pic>
        <p:nvPicPr>
          <p:cNvPr id="91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3325b884d4a7d"/>
          <a:stretch xmlns:a="http://schemas.openxmlformats.org/drawingml/2006/main"/>
        </p:blipFill>
        <p:spPr>
          <a:xfrm xmlns:a="http://schemas.openxmlformats.org/drawingml/2006/main">
            <a:off x="7255510" y="2638946"/>
            <a:ext cx="2700020" cy="18360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22873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2216D8E2-8C7A-9D2E-9E2F-25810141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55880"/>
            <a:ext cx="1229741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EC87CA19-E87B-9A46-56A0-BEF7664C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998" y="158749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受控实验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E153B0D3-785C-5650-17EF-A2009771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003" y="158749"/>
            <a:ext cx="147574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Agent系统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11A25B41-3D02-A6E1-C778-7E50EA2B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613" y="160079"/>
            <a:ext cx="159131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开源交付</a:t>
            </a: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A10B971C-E7D4-5B1D-CC5B-ECFB7DD5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14" y="14935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训练路线</a:t>
            </a:r>
          </a:p>
        </p:txBody>
      </p:sp>
      <p:sp>
        <p:nvSpPr>
          <p:cNvPr id="66" name="文本框 65">
            <a:extLst xmlns:a="http://schemas.openxmlformats.org/drawingml/2006/main">
              <a:ext uri="{FF2B5EF4-FFF2-40B4-BE49-F238E27FC236}">
                <a16:creationId xmlns:a16="http://schemas.microsoft.com/office/drawing/2014/main" id="{93C25398-7E2D-6EB7-F68C-6BC5F4F5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05" y="14300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数据构建</a:t>
            </a:r>
          </a:p>
        </p:txBody>
      </p:sp>
      <p:sp>
        <p:nvSpPr>
          <p:cNvPr id="68" name="文本框 67">
            <a:extLst xmlns:a="http://schemas.openxmlformats.org/drawingml/2006/main">
              <a:ext uri="{FF2B5EF4-FFF2-40B4-BE49-F238E27FC236}">
                <a16:creationId xmlns:a16="http://schemas.microsoft.com/office/drawing/2014/main" id="{4773429D-1798-B3FD-405D-7D9F716F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738" y="149358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冻结评测</a:t>
            </a:r>
          </a:p>
        </p:txBody>
      </p:sp>
      <p:pic>
        <p:nvPicPr>
          <p:cNvPr id="110" name="图片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36d5761b24189"/>
          <a:stretch xmlns:a="http://schemas.openxmlformats.org/drawingml/2006/main"/>
        </p:blipFill>
        <p:spPr>
          <a:xfrm xmlns:a="http://schemas.openxmlformats.org/drawingml/2006/main" flipV="1">
            <a:off x="1599096" y="1346855"/>
            <a:ext cx="287152" cy="287152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822DFB3F-14EF-86F5-D8F3-E321E36C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88" y="1139057"/>
            <a:ext cx="458089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FFC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C000"/>
                </a:solidFill>
                <a:latin typeface="微软雅黑"/>
                <a:ea typeface="微软雅黑"/>
                <a:cs typeface="微软雅黑"/>
              </a:rPr>
              <a:t>MolTrace Agent：真实前后端工作台</a:t>
            </a:r>
          </a:p>
        </p:txBody>
      </p:sp>
      <p:sp>
        <p:nvSpPr>
          <p:cNvPr id="90" name="文本框 89">
            <a:extLst xmlns:a="http://schemas.openxmlformats.org/drawingml/2006/main">
              <a:ext uri="{FF2B5EF4-FFF2-40B4-BE49-F238E27FC236}">
                <a16:creationId xmlns:a16="http://schemas.microsoft.com/office/drawing/2014/main" id="{FCEA862C-AFEB-FA52-E686-E917540B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" y="1688328"/>
            <a:ext cx="5170785" cy="2942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0555F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0555F"/>
                </a:solidFill>
                <a:latin typeface="Arial"/>
                <a:ea typeface="Arial"/>
                <a:cs typeface="Arial"/>
              </a:rPr>
              <a:t>Browser UI：上传、预览、质检、参数、候选对比、历史与 JSON 导出。</a:t>
            </a:r>
          </a:p>
          <a:p xmlns:a="http://schemas.openxmlformats.org/drawingml/2006/main">
            <a:pPr algn="l">
              <a:defRPr sz="1400" b="0">
                <a:solidFill>
                  <a:srgbClr val="50555F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0555F"/>
                </a:solidFill>
                <a:latin typeface="Arial"/>
                <a:ea typeface="Arial"/>
                <a:cs typeface="Arial"/>
              </a:rPr>
              <a:t>Node API：输入限制、模型探针、临时文件清理与 V3 CLI 适配。</a:t>
            </a:r>
          </a:p>
          <a:p xmlns:a="http://schemas.openxmlformats.org/drawingml/2006/main">
            <a:pPr algn="l">
              <a:defRPr sz="1400" b="0">
                <a:solidFill>
                  <a:srgbClr val="50555F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0555F"/>
                </a:solidFill>
                <a:latin typeface="Arial"/>
                <a:ea typeface="Arial"/>
                <a:cs typeface="Arial"/>
              </a:rPr>
              <a:t>Agent trace：输入契约 → 视觉质检 → 候选生成 → RDKit 校验 → 一致性排序 → 证据汇总。</a:t>
            </a:r>
          </a:p>
        </p:txBody>
      </p:sp>
      <p:sp>
        <p:nvSpPr>
          <p:cNvPr id="92" name="矩形 91">
            <a:extLst xmlns:a="http://schemas.openxmlformats.org/drawingml/2006/main">
              <a:ext uri="{FF2B5EF4-FFF2-40B4-BE49-F238E27FC236}">
                <a16:creationId xmlns:a16="http://schemas.microsoft.com/office/drawing/2014/main" id="{FFBCBCC4-CF0C-47C6-37F0-7C556009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67" y="1643714"/>
            <a:ext cx="5014312" cy="2155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4" name="图片 9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c900c5b8b482f"/>
          <a:stretch xmlns:a="http://schemas.openxmlformats.org/drawingml/2006/main"/>
        </p:blipFill>
        <p:spPr>
          <a:xfrm xmlns:a="http://schemas.openxmlformats.org/drawingml/2006/main">
            <a:off x="881518" y="4249419"/>
            <a:ext cx="3419969" cy="2325579"/>
          </a:xfrm>
          <a:prstGeom xmlns:a="http://schemas.openxmlformats.org/drawingml/2006/main" prst="rect">
            <a:avLst/>
          </a:prstGeom>
          <a:effectLst xmlns:a="http://schemas.openxmlformats.org/drawingml/2006/main">
            <a:softEdge rad="88900"/>
          </a:effectLst>
        </p:spPr>
      </p:pic>
      <p:pic>
        <p:nvPicPr>
          <p:cNvPr id="115" name="图片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e6a63d7674a91"/>
          <a:stretch xmlns:a="http://schemas.openxmlformats.org/drawingml/2006/main"/>
        </p:blipFill>
        <p:spPr>
          <a:xfrm xmlns:a="http://schemas.openxmlformats.org/drawingml/2006/main">
            <a:off x="5284333" y="1359529"/>
            <a:ext cx="2961640" cy="1319276"/>
          </a:xfrm>
          <a:prstGeom xmlns:a="http://schemas.openxmlformats.org/drawingml/2006/main" prst="rect">
            <a:avLst/>
          </a:prstGeom>
        </p:spPr>
      </p:pic>
      <p:pic>
        <p:nvPicPr>
          <p:cNvPr id="116" name="图片 9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dd7b86cff4d6b"/>
          <a:stretch xmlns:a="http://schemas.openxmlformats.org/drawingml/2006/main"/>
        </p:blipFill>
        <p:spPr>
          <a:xfrm xmlns:a="http://schemas.openxmlformats.org/drawingml/2006/main">
            <a:off x="8729843" y="1404675"/>
            <a:ext cx="3004185" cy="1228985"/>
          </a:xfrm>
          <a:prstGeom xmlns:a="http://schemas.openxmlformats.org/drawingml/2006/main" prst="rect">
            <a:avLst/>
          </a:prstGeom>
        </p:spPr>
      </p:pic>
      <p:pic>
        <p:nvPicPr>
          <p:cNvPr id="117" name="图片 9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fda5a85aa4d53"/>
          <a:stretch xmlns:a="http://schemas.openxmlformats.org/drawingml/2006/main"/>
        </p:blipFill>
        <p:spPr>
          <a:xfrm xmlns:a="http://schemas.openxmlformats.org/drawingml/2006/main">
            <a:off x="9075283" y="2364141"/>
            <a:ext cx="2961640" cy="1209336"/>
          </a:xfrm>
          <a:prstGeom xmlns:a="http://schemas.openxmlformats.org/drawingml/2006/main" prst="rect">
            <a:avLst/>
          </a:prstGeom>
        </p:spPr>
      </p:pic>
      <p:pic>
        <p:nvPicPr>
          <p:cNvPr id="118" name="图片 1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a491de0224811"/>
          <a:stretch xmlns:a="http://schemas.openxmlformats.org/drawingml/2006/main"/>
        </p:blipFill>
        <p:spPr>
          <a:xfrm xmlns:a="http://schemas.openxmlformats.org/drawingml/2006/main">
            <a:off x="5643743" y="2831616"/>
            <a:ext cx="2921635" cy="791276"/>
          </a:xfrm>
          <a:prstGeom xmlns:a="http://schemas.openxmlformats.org/drawingml/2006/main" prst="rect">
            <a:avLst/>
          </a:prstGeom>
        </p:spPr>
      </p:pic>
      <p:pic>
        <p:nvPicPr>
          <p:cNvPr id="119" name="图片 1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5841e88614b65"/>
          <a:stretch xmlns:a="http://schemas.openxmlformats.org/drawingml/2006/main"/>
        </p:blipFill>
        <p:spPr>
          <a:xfrm xmlns:a="http://schemas.openxmlformats.org/drawingml/2006/main">
            <a:off x="6203349" y="3538722"/>
            <a:ext cx="872147" cy="1888490"/>
          </a:xfrm>
          <a:prstGeom xmlns:a="http://schemas.openxmlformats.org/drawingml/2006/main" prst="rect">
            <a:avLst/>
          </a:prstGeom>
        </p:spPr>
      </p:pic>
      <p:pic>
        <p:nvPicPr>
          <p:cNvPr id="120" name="图片 10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204a13cc741aa"/>
          <a:stretch xmlns:a="http://schemas.openxmlformats.org/drawingml/2006/main"/>
        </p:blipFill>
        <p:spPr>
          <a:xfrm xmlns:a="http://schemas.openxmlformats.org/drawingml/2006/main">
            <a:off x="5643743" y="4667003"/>
            <a:ext cx="2922270" cy="1987144"/>
          </a:xfrm>
          <a:prstGeom xmlns:a="http://schemas.openxmlformats.org/drawingml/2006/main" prst="rect">
            <a:avLst/>
          </a:prstGeom>
        </p:spPr>
      </p:pic>
      <p:pic>
        <p:nvPicPr>
          <p:cNvPr id="121" name="图片 1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c1d7a8dc94fc3"/>
          <a:stretch xmlns:a="http://schemas.openxmlformats.org/drawingml/2006/main"/>
        </p:blipFill>
        <p:spPr>
          <a:xfrm xmlns:a="http://schemas.openxmlformats.org/drawingml/2006/main">
            <a:off x="8403453" y="3274779"/>
            <a:ext cx="3392170" cy="1385136"/>
          </a:xfrm>
          <a:prstGeom xmlns:a="http://schemas.openxmlformats.org/drawingml/2006/main" prst="rect">
            <a:avLst/>
          </a:prstGeom>
        </p:spPr>
      </p:pic>
      <p:pic>
        <p:nvPicPr>
          <p:cNvPr id="122" name="图片 1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5ffa38365477a"/>
          <a:stretch xmlns:a="http://schemas.openxmlformats.org/drawingml/2006/main"/>
        </p:blipFill>
        <p:spPr>
          <a:xfrm xmlns:a="http://schemas.openxmlformats.org/drawingml/2006/main">
            <a:off x="9802164" y="3799707"/>
            <a:ext cx="1343412" cy="29089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72017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E5AFF27A-5FB5-2753-0645-4FCBA758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55880"/>
            <a:ext cx="1229741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F7F801F7-358D-F9E1-1B7C-553968FD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998" y="158749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受控实验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B1A807C7-2B9E-54D0-83A7-BA1513C8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003" y="158749"/>
            <a:ext cx="147574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Agent系统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FEBF59C4-CC77-63A0-B4AC-E79D8BAD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613" y="160079"/>
            <a:ext cx="159131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开源交付</a:t>
            </a: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818B4681-FE6D-5DA9-C313-E3553C41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14" y="14935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训练路线</a:t>
            </a:r>
          </a:p>
        </p:txBody>
      </p:sp>
      <p:sp>
        <p:nvSpPr>
          <p:cNvPr id="66" name="文本框 65">
            <a:extLst xmlns:a="http://schemas.openxmlformats.org/drawingml/2006/main">
              <a:ext uri="{FF2B5EF4-FFF2-40B4-BE49-F238E27FC236}">
                <a16:creationId xmlns:a16="http://schemas.microsoft.com/office/drawing/2014/main" id="{6B0AA6EA-2454-E354-1384-1C9C2043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05" y="14300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数据构建</a:t>
            </a:r>
          </a:p>
        </p:txBody>
      </p:sp>
      <p:sp>
        <p:nvSpPr>
          <p:cNvPr id="68" name="文本框 67">
            <a:extLst xmlns:a="http://schemas.openxmlformats.org/drawingml/2006/main">
              <a:ext uri="{FF2B5EF4-FFF2-40B4-BE49-F238E27FC236}">
                <a16:creationId xmlns:a16="http://schemas.microsoft.com/office/drawing/2014/main" id="{1725FF1C-774E-0C1E-B0EB-9D3793CF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738" y="149358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冻结评测</a:t>
            </a:r>
          </a:p>
        </p:txBody>
      </p:sp>
      <p:pic>
        <p:nvPicPr>
          <p:cNvPr id="81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1b7a081e94e2f"/>
          <a:stretch xmlns:a="http://schemas.openxmlformats.org/drawingml/2006/main"/>
        </p:blipFill>
        <p:spPr>
          <a:xfrm xmlns:a="http://schemas.openxmlformats.org/drawingml/2006/main" flipV="1">
            <a:off x="1477934" y="655320"/>
            <a:ext cx="287152" cy="287152"/>
          </a:xfrm>
          <a:prstGeom xmlns:a="http://schemas.openxmlformats.org/drawingml/2006/main" prst="rect">
            <a:avLst/>
          </a:prstGeom>
        </p:spPr>
      </p:pic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895BF6E8-11CA-27A3-9FED-FAC01BE8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3" y="1070782"/>
            <a:ext cx="458089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FFC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C000"/>
                </a:solidFill>
                <a:latin typeface="微软雅黑"/>
                <a:ea typeface="微软雅黑"/>
                <a:cs typeface="微软雅黑"/>
              </a:rPr>
              <a:t>Agent 决策链：可运行，也可审计</a:t>
            </a:r>
          </a:p>
        </p:txBody>
      </p:sp>
      <p:sp>
        <p:nvSpPr>
          <p:cNvPr id="59" name="文本框 58">
            <a:extLst xmlns:a="http://schemas.openxmlformats.org/drawingml/2006/main">
              <a:ext uri="{FF2B5EF4-FFF2-40B4-BE49-F238E27FC236}">
                <a16:creationId xmlns:a16="http://schemas.microsoft.com/office/drawing/2014/main" id="{A22580AD-23D8-614B-6FE9-97249799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8" y="1573066"/>
            <a:ext cx="4205605" cy="25584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400" b="0">
                <a:solidFill>
                  <a:srgbClr val="50555F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0555F"/>
                </a:solidFill>
                <a:latin typeface="Arial"/>
                <a:ea typeface="Arial"/>
                <a:cs typeface="Arial"/>
              </a:rPr>
              <a:t>六步 trace 把候选、解析结果、投票、分数和选择理由全部留下。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400" b="0">
                <a:solidFill>
                  <a:srgbClr val="50555F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0555F"/>
                </a:solidFill>
                <a:latin typeface="Arial"/>
                <a:ea typeface="Arial"/>
                <a:cs typeface="Arial"/>
              </a:rPr>
              <a:t>GPU MODEL：设置 V3_MODEL_DIR 后运行真实模型。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400" b="0">
                <a:solidFill>
                  <a:srgbClr val="50555F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0555F"/>
                </a:solidFill>
                <a:latin typeface="Arial"/>
                <a:ea typeface="Arial"/>
                <a:cs typeface="Arial"/>
              </a:rPr>
              <a:t>GUIDED DEMO：仅内置咖啡因样例使用已知标签。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400" b="0">
                <a:solidFill>
                  <a:srgbClr val="50555F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0555F"/>
                </a:solidFill>
                <a:latin typeface="Arial"/>
                <a:ea typeface="Arial"/>
                <a:cs typeface="Arial"/>
              </a:rPr>
              <a:t>NEEDS MODEL：任意上传图在无模型时拒绝伪造结果。</a:t>
            </a: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B8AB6B52-B4FD-3D9A-68A6-650E041A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297" y="1533342"/>
            <a:ext cx="4363074" cy="2455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5" name="图片 6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21bcf6af1470c"/>
          <a:stretch xmlns:a="http://schemas.openxmlformats.org/drawingml/2006/main"/>
        </p:blipFill>
        <p:spPr>
          <a:xfrm xmlns:a="http://schemas.openxmlformats.org/drawingml/2006/main">
            <a:off x="4556883" y="2962138"/>
            <a:ext cx="3964305" cy="1765918"/>
          </a:xfrm>
          <a:prstGeom xmlns:a="http://schemas.openxmlformats.org/drawingml/2006/main" prst="rect">
            <a:avLst/>
          </a:prstGeom>
        </p:spPr>
      </p:pic>
      <p:pic>
        <p:nvPicPr>
          <p:cNvPr id="86" name="图片 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ddee13d6047ce"/>
          <a:stretch xmlns:a="http://schemas.openxmlformats.org/drawingml/2006/main"/>
        </p:blipFill>
        <p:spPr>
          <a:xfrm xmlns:a="http://schemas.openxmlformats.org/drawingml/2006/main">
            <a:off x="47118" y="4591022"/>
            <a:ext cx="4326267" cy="1769837"/>
          </a:xfrm>
          <a:prstGeom xmlns:a="http://schemas.openxmlformats.org/drawingml/2006/main" prst="rect">
            <a:avLst/>
          </a:prstGeom>
        </p:spPr>
      </p:pic>
      <p:pic>
        <p:nvPicPr>
          <p:cNvPr id="87" name="图片 7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722fb4a2f4c96"/>
          <a:stretch xmlns:a="http://schemas.openxmlformats.org/drawingml/2006/main"/>
        </p:blipFill>
        <p:spPr>
          <a:xfrm xmlns:a="http://schemas.openxmlformats.org/drawingml/2006/main">
            <a:off x="8636123" y="1593821"/>
            <a:ext cx="3279140" cy="1338982"/>
          </a:xfrm>
          <a:prstGeom xmlns:a="http://schemas.openxmlformats.org/drawingml/2006/main" prst="rect">
            <a:avLst/>
          </a:prstGeom>
        </p:spPr>
      </p:pic>
      <p:pic>
        <p:nvPicPr>
          <p:cNvPr id="88" name="图片 7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85b2770a94dd2"/>
          <a:stretch xmlns:a="http://schemas.openxmlformats.org/drawingml/2006/main"/>
        </p:blipFill>
        <p:spPr>
          <a:xfrm xmlns:a="http://schemas.openxmlformats.org/drawingml/2006/main">
            <a:off x="8656443" y="4187159"/>
            <a:ext cx="3237230" cy="22013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48248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E5AFF27A-5FB5-2753-0645-4FCBA758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55880"/>
            <a:ext cx="1229741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F7F801F7-358D-F9E1-1B7C-553968FD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998" y="158749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受控实验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B1A807C7-2B9E-54D0-83A7-BA1513C8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003" y="158749"/>
            <a:ext cx="147574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Agent系统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FEBF59C4-CC77-63A0-B4AC-E79D8BAD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613" y="160079"/>
            <a:ext cx="159131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开源交付</a:t>
            </a: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818B4681-FE6D-5DA9-C313-E3553C41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14" y="14935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训练路线</a:t>
            </a:r>
          </a:p>
        </p:txBody>
      </p:sp>
      <p:sp>
        <p:nvSpPr>
          <p:cNvPr id="66" name="文本框 65">
            <a:extLst xmlns:a="http://schemas.openxmlformats.org/drawingml/2006/main">
              <a:ext uri="{FF2B5EF4-FFF2-40B4-BE49-F238E27FC236}">
                <a16:creationId xmlns:a16="http://schemas.microsoft.com/office/drawing/2014/main" id="{6B0AA6EA-2454-E354-1384-1C9C2043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05" y="14300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数据构建</a:t>
            </a:r>
          </a:p>
        </p:txBody>
      </p:sp>
      <p:sp>
        <p:nvSpPr>
          <p:cNvPr id="68" name="文本框 67">
            <a:extLst xmlns:a="http://schemas.openxmlformats.org/drawingml/2006/main">
              <a:ext uri="{FF2B5EF4-FFF2-40B4-BE49-F238E27FC236}">
                <a16:creationId xmlns:a16="http://schemas.microsoft.com/office/drawing/2014/main" id="{1725FF1C-774E-0C1E-B0EB-9D3793CF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738" y="149358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冻结评测</a:t>
            </a:r>
          </a:p>
        </p:txBody>
      </p:sp>
      <p:pic>
        <p:nvPicPr>
          <p:cNvPr id="81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d2149f025432e"/>
          <a:stretch xmlns:a="http://schemas.openxmlformats.org/drawingml/2006/main"/>
        </p:blipFill>
        <p:spPr>
          <a:xfrm xmlns:a="http://schemas.openxmlformats.org/drawingml/2006/main" flipV="1">
            <a:off x="1477934" y="655320"/>
            <a:ext cx="287152" cy="287152"/>
          </a:xfrm>
          <a:prstGeom xmlns:a="http://schemas.openxmlformats.org/drawingml/2006/main" prst="rect">
            <a:avLst/>
          </a:prstGeom>
        </p:spPr>
      </p:pic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895BF6E8-11CA-27A3-9FED-FAC01BE8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3" y="1070782"/>
            <a:ext cx="458089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FFC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C000"/>
                </a:solidFill>
                <a:latin typeface="微软雅黑"/>
                <a:ea typeface="微软雅黑"/>
                <a:cs typeface="微软雅黑"/>
              </a:rPr>
              <a:t>开源交付：代码、模型与报告</a:t>
            </a:r>
          </a:p>
        </p:txBody>
      </p:sp>
      <p:sp>
        <p:nvSpPr>
          <p:cNvPr id="59" name="文本框 58">
            <a:extLst xmlns:a="http://schemas.openxmlformats.org/drawingml/2006/main">
              <a:ext uri="{FF2B5EF4-FFF2-40B4-BE49-F238E27FC236}">
                <a16:creationId xmlns:a16="http://schemas.microsoft.com/office/drawing/2014/main" id="{A22580AD-23D8-614B-6FE9-97249799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8" y="1573066"/>
            <a:ext cx="4205605" cy="25584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400" b="0">
                <a:solidFill>
                  <a:srgbClr val="50555F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0555F"/>
                </a:solidFill>
                <a:latin typeface="Arial"/>
                <a:ea typeface="Arial"/>
                <a:cs typeface="Arial"/>
              </a:rPr>
              <a:t>GitHub：训练/推理/评测/QC/runbook/MolTrace Agent/18页答辩稿。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400" b="0">
                <a:solidFill>
                  <a:srgbClr val="50555F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0555F"/>
                </a:solidFill>
                <a:latin typeface="Arial"/>
                <a:ea typeface="Arial"/>
                <a:cs typeface="Arial"/>
              </a:rPr>
              <a:t>Hugging Face：V3 模型、processor、tokenizer、模型卡与 SHA256。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400" b="0">
                <a:solidFill>
                  <a:srgbClr val="50555F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0555F"/>
                </a:solidFill>
                <a:latin typeface="Arial"/>
                <a:ea typeface="Arial"/>
                <a:cs typeface="Arial"/>
              </a:rPr>
              <a:t>比赛包：数据构建报告、评测集专项报告、评测 ZIP、权重 ZIP、人工审核声明与许可矩阵。</a:t>
            </a: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B8AB6B52-B4FD-3D9A-68A6-650E041A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297" y="1533342"/>
            <a:ext cx="4363074" cy="2455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5" name="图片 6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7e27eeea949f3"/>
          <a:stretch xmlns:a="http://schemas.openxmlformats.org/drawingml/2006/main"/>
        </p:blipFill>
        <p:spPr>
          <a:xfrm xmlns:a="http://schemas.openxmlformats.org/drawingml/2006/main">
            <a:off x="4556883" y="2962138"/>
            <a:ext cx="3964305" cy="1765918"/>
          </a:xfrm>
          <a:prstGeom xmlns:a="http://schemas.openxmlformats.org/drawingml/2006/main" prst="rect">
            <a:avLst/>
          </a:prstGeom>
        </p:spPr>
      </p:pic>
      <p:pic>
        <p:nvPicPr>
          <p:cNvPr id="86" name="图片 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696009c594535"/>
          <a:stretch xmlns:a="http://schemas.openxmlformats.org/drawingml/2006/main"/>
        </p:blipFill>
        <p:spPr>
          <a:xfrm xmlns:a="http://schemas.openxmlformats.org/drawingml/2006/main">
            <a:off x="47118" y="4591022"/>
            <a:ext cx="4326267" cy="1769837"/>
          </a:xfrm>
          <a:prstGeom xmlns:a="http://schemas.openxmlformats.org/drawingml/2006/main" prst="rect">
            <a:avLst/>
          </a:prstGeom>
        </p:spPr>
      </p:pic>
      <p:pic>
        <p:nvPicPr>
          <p:cNvPr id="87" name="图片 7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e18188f0e420f"/>
          <a:stretch xmlns:a="http://schemas.openxmlformats.org/drawingml/2006/main"/>
        </p:blipFill>
        <p:spPr>
          <a:xfrm xmlns:a="http://schemas.openxmlformats.org/drawingml/2006/main">
            <a:off x="8636123" y="1593821"/>
            <a:ext cx="3279140" cy="1338982"/>
          </a:xfrm>
          <a:prstGeom xmlns:a="http://schemas.openxmlformats.org/drawingml/2006/main" prst="rect">
            <a:avLst/>
          </a:prstGeom>
        </p:spPr>
      </p:pic>
      <p:pic>
        <p:nvPicPr>
          <p:cNvPr id="88" name="图片 7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2ee1eb6e749ef"/>
          <a:stretch xmlns:a="http://schemas.openxmlformats.org/drawingml/2006/main"/>
        </p:blipFill>
        <p:spPr>
          <a:xfrm xmlns:a="http://schemas.openxmlformats.org/drawingml/2006/main">
            <a:off x="8656443" y="4187159"/>
            <a:ext cx="3237230" cy="22013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48248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18A72FBE-1578-3028-1F57-4675EAB9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55880"/>
            <a:ext cx="1229741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C26D29D0-2BB3-F23A-EFA0-A6776760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998" y="158749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受控实验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9A8FF532-2E4B-FABB-2B66-98D146F3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003" y="158749"/>
            <a:ext cx="147574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Agent系统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92E4C180-32C3-2648-5160-13F4B0F9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613" y="160079"/>
            <a:ext cx="159131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开源交付</a:t>
            </a: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A6420C76-237B-625E-D9B6-6A58949D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14" y="14935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训练路线</a:t>
            </a:r>
          </a:p>
        </p:txBody>
      </p:sp>
      <p:sp>
        <p:nvSpPr>
          <p:cNvPr id="66" name="文本框 65">
            <a:extLst xmlns:a="http://schemas.openxmlformats.org/drawingml/2006/main">
              <a:ext uri="{FF2B5EF4-FFF2-40B4-BE49-F238E27FC236}">
                <a16:creationId xmlns:a16="http://schemas.microsoft.com/office/drawing/2014/main" id="{76777E7C-4D74-420E-41AD-11F3D570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05" y="143008"/>
            <a:ext cx="159131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数据构建</a:t>
            </a:r>
          </a:p>
        </p:txBody>
      </p:sp>
      <p:sp>
        <p:nvSpPr>
          <p:cNvPr id="68" name="文本框 67">
            <a:extLst xmlns:a="http://schemas.openxmlformats.org/drawingml/2006/main">
              <a:ext uri="{FF2B5EF4-FFF2-40B4-BE49-F238E27FC236}">
                <a16:creationId xmlns:a16="http://schemas.microsoft.com/office/drawing/2014/main" id="{14A14279-AA7E-E28C-47B7-4292A6B8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738" y="149358"/>
            <a:ext cx="147574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冻结评测</a:t>
            </a:r>
          </a:p>
        </p:txBody>
      </p:sp>
      <p:pic>
        <p:nvPicPr>
          <p:cNvPr id="91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71c5c5e134161"/>
          <a:stretch xmlns:a="http://schemas.openxmlformats.org/drawingml/2006/main"/>
        </p:blipFill>
        <p:spPr>
          <a:xfrm xmlns:a="http://schemas.openxmlformats.org/drawingml/2006/main" flipV="1">
            <a:off x="1477934" y="655320"/>
            <a:ext cx="287152" cy="287152"/>
          </a:xfrm>
          <a:prstGeom xmlns:a="http://schemas.openxmlformats.org/drawingml/2006/main" prst="rect">
            <a:avLst/>
          </a:prstGeom>
        </p:spPr>
      </p:pic>
      <p:sp>
        <p:nvSpPr>
          <p:cNvPr id="4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1566A3C-5BD9-14E9-E2A3-02EB89C0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" y="1450472"/>
            <a:ext cx="508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800" b="1">
                <a:solidFill>
                  <a:srgbClr val="4A90E2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 i="0" u="none">
                <a:solidFill>
                  <a:srgbClr val="4A90E2"/>
                </a:solidFill>
                <a:latin typeface="Noto Sans SC"/>
                <a:ea typeface="Noto Sans SC"/>
                <a:cs typeface="Noto Sans SC"/>
              </a:rPr>
              <a:t>01 / 已完成的可信证据</a:t>
            </a:r>
          </a:p>
        </p:txBody>
      </p:sp>
      <p:sp>
        <p:nvSpPr>
          <p:cNvPr id="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87DC745-1BF9-8A84-323D-269CF169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" y="2339472"/>
            <a:ext cx="508000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数据角色已冻结：22,762 strict training；753 + 754 development；301 / 62 papers locked wild。</a:t>
            </a:r>
          </a:p>
        </p:txBody>
      </p:sp>
      <p:sp>
        <p:nvSpPr>
          <p:cNvPr id="6" name="AutoShape 5">
            <a:extLst xmlns:a="http://schemas.openxmlformats.org/drawingml/2006/main">
              <a:ext uri="{FF2B5EF4-FFF2-40B4-BE49-F238E27FC236}">
                <a16:creationId xmlns:a16="http://schemas.microsoft.com/office/drawing/2014/main" id="{DDF63CAE-EB3B-5835-0DC8-AD2A8200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" y="3609472"/>
            <a:ext cx="508000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训练与后训练均有对照：00 control、checkpoint-1400、拒绝 hard replay、采用 beam、拒绝 rerank。</a:t>
            </a:r>
          </a:p>
        </p:txBody>
      </p:sp>
      <p:sp>
        <p:nvSpPr>
          <p:cNvPr id="7" name="AutoShape 6">
            <a:extLst xmlns:a="http://schemas.openxmlformats.org/drawingml/2006/main">
              <a:ext uri="{FF2B5EF4-FFF2-40B4-BE49-F238E27FC236}">
                <a16:creationId xmlns:a16="http://schemas.microsoft.com/office/drawing/2014/main" id="{B56E8719-43E4-6303-95BF-8D07058A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" y="5006472"/>
            <a:ext cx="508000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工程交付可运行：Agent 5/5 tests；PPT 逐页渲染；GitHub 与 HF revision、权重 hash 可复核。</a:t>
            </a:r>
          </a:p>
        </p:txBody>
      </p:sp>
      <p:cxnSp>
        <p:nvCxnSpPr>
          <p:cNvPr id="96" name="Connector 7"/>
          <p:cNvCxnSpPr/>
          <p:nvPr/>
        </p:nvCxnSpPr>
        <p:spPr>
          <a:xfrm xmlns:a="http://schemas.openxmlformats.org/drawingml/2006/main" rot="5390035">
            <a:off x="3836670" y="3698381"/>
            <a:ext cx="43815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DEE2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8">
            <a:extLst xmlns:a="http://schemas.openxmlformats.org/drawingml/2006/main">
              <a:ext uri="{FF2B5EF4-FFF2-40B4-BE49-F238E27FC236}">
                <a16:creationId xmlns:a16="http://schemas.microsoft.com/office/drawing/2014/main" id="{93F1630C-A24F-05D4-0567-6D39236F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420" y="1450472"/>
            <a:ext cx="508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800" b="1">
                <a:solidFill>
                  <a:srgbClr val="4A90E2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 i="0" u="none">
                <a:solidFill>
                  <a:srgbClr val="4A90E2"/>
                </a:solidFill>
                <a:latin typeface="Noto Sans SC"/>
                <a:ea typeface="Noto Sans SC"/>
                <a:cs typeface="Noto Sans SC"/>
              </a:rPr>
              <a:t>02 / 必须保留的限制</a:t>
            </a:r>
          </a:p>
        </p:txBody>
      </p:sp>
      <p:sp>
        <p:nvSpPr>
          <p:cNvPr id="10" name="AutoShape 9">
            <a:extLst xmlns:a="http://schemas.openxmlformats.org/drawingml/2006/main">
              <a:ext uri="{FF2B5EF4-FFF2-40B4-BE49-F238E27FC236}">
                <a16:creationId xmlns:a16="http://schemas.microsoft.com/office/drawing/2014/main" id="{47B2492C-247B-55A3-F7B2-243D31F7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420" y="2339472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Private-photo locked test 仍为 0，不能把历史整理图或算法增强写成真实自采。</a:t>
            </a:r>
          </a:p>
        </p:txBody>
      </p:sp>
      <p:sp>
        <p:nvSpPr>
          <p:cNvPr id="11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9522B6A-D852-8C1C-95BE-2476DB1E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420" y="3482472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2x2 只有两个 seed，00 control 仅是本轮探索最稳，不支持显著或普适最优声明。</a:t>
            </a:r>
          </a:p>
        </p:txBody>
      </p:sp>
      <p:sp>
        <p:nvSpPr>
          <p:cNvPr id="12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F8751999-8434-DDC3-DB5C-0B3467A4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420" y="4498472"/>
            <a:ext cx="241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4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独立复现</a:t>
            </a:r>
          </a:p>
        </p:txBody>
      </p:sp>
      <p:sp>
        <p:nvSpPr>
          <p:cNvPr id="13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4D610D79-A345-DACC-CF93-1C1FA41A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420" y="4498472"/>
            <a:ext cx="241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需补第二台 GPU clean-download / smoke 与容器 digest。</a:t>
            </a:r>
          </a:p>
        </p:txBody>
      </p:sp>
      <p:sp>
        <p:nvSpPr>
          <p:cNvPr id="14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275BD2C-B325-B3DB-E4EF-6E24F649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420" y="5577972"/>
            <a:ext cx="4953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1300" b="0">
                <a:solidFill>
                  <a:srgbClr val="555555"/>
                </a:solidFill>
                <a:latin typeface="Noto Sans SC"/>
                <a:ea typeface="Noto Sans SC"/>
                <a:cs typeface="Noto Sans SC"/>
              </a:defRPr>
            </a:pPr>
            <a:r>
              <a:rPr sz="1300" b="0" i="1" u="none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结论：V3 给出的是一条可证伪、可复核的完整流程，同时用 locked 分数准确标出下一步泛化瓶颈。</a:t>
            </a:r>
          </a:p>
        </p:txBody>
      </p:sp>
    </p:spTree>
    <p:extLst>
      <p:ext uri="{BB962C8B-B14F-4D97-AF65-F5344CB8AC3E}">
        <p14:creationId xmlns:p14="http://schemas.microsoft.com/office/powerpoint/2010/main" val="203380809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BCF926B-054B-4918-B9C7-67B5B370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540000"/>
            <a:ext cx="10160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  <a:defRPr sz="4800" b="1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4800" b="1" i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Thank You!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F00314B-C4FA-4099-86D1-5A003ECF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937000"/>
            <a:ext cx="10160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90E2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B3FB8E0-C239-4A74-A7B2-876A80F7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2400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 i="0" u="none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Questions &amp; Answers · 每个数字都能回到 JSON / config / log / hash</a:t>
            </a:r>
          </a:p>
        </p:txBody>
      </p:sp>
    </p:spTree>
    <p:extLst>
      <p:ext uri="{BB962C8B-B14F-4D97-AF65-F5344CB8AC3E}">
        <p14:creationId xmlns:p14="http://schemas.microsoft.com/office/powerpoint/2010/main" val="575016690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2026-07-20T01:45:58.9000000Z</dcterms:created>
  <dcterms:modified xsi:type="dcterms:W3CDTF">2026-07-20T01:45:58.9000000Z</dcterms:modified>
</coreProperties>
</file>